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57a18a2a744080" /><Relationship Type="http://schemas.openxmlformats.org/officeDocument/2006/relationships/extended-properties" Target="/docProps/app.xml" Id="R42172e3305454cb5" /><Relationship Type="http://schemas.openxmlformats.org/officeDocument/2006/relationships/officeDocument" Target="/ppt/presentation.xml" Id="R7d68f5b231fc44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aeaf0dedef4841"/>
  </p:sldMasterIdLst>
  <p:notesMasterIdLst>
    <p:notesMasterId xmlns:r="http://schemas.openxmlformats.org/officeDocument/2006/relationships" r:id="R38d5bb89aeba47c2"/>
  </p:notesMasterIdLst>
  <p:sldIdLst>
    <p:sldId xmlns:r="http://schemas.openxmlformats.org/officeDocument/2006/relationships" id="256" r:id="R01cb1e705da942c0"/>
    <p:sldId xmlns:r="http://schemas.openxmlformats.org/officeDocument/2006/relationships" id="257" r:id="Rbc2d5a13417b45d3"/>
    <p:sldId xmlns:r="http://schemas.openxmlformats.org/officeDocument/2006/relationships" id="258" r:id="R39c2a3902c0f49cf"/>
    <p:sldId xmlns:r="http://schemas.openxmlformats.org/officeDocument/2006/relationships" id="259" r:id="R6ecda9db8f3342fc"/>
    <p:sldId xmlns:r="http://schemas.openxmlformats.org/officeDocument/2006/relationships" id="260" r:id="Ra790dc3a2aa949a5"/>
    <p:sldId xmlns:r="http://schemas.openxmlformats.org/officeDocument/2006/relationships" id="261" r:id="R4b29704b354b4ef5"/>
    <p:sldId xmlns:r="http://schemas.openxmlformats.org/officeDocument/2006/relationships" id="262" r:id="R59f1c45c05f7499f"/>
    <p:sldId xmlns:r="http://schemas.openxmlformats.org/officeDocument/2006/relationships" id="263" r:id="R0e78b4c7771f49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411673f7524543" /><Relationship Type="http://schemas.openxmlformats.org/officeDocument/2006/relationships/slideMaster" Target="/ppt/slideMasters/slideMaster1.xml" Id="Rb9aeaf0dedef4841" /><Relationship Type="http://schemas.openxmlformats.org/officeDocument/2006/relationships/notesMaster" Target="/ppt/notesMasters/notesMaster1.xml" Id="R38d5bb89aeba47c2" /><Relationship Type="http://schemas.openxmlformats.org/officeDocument/2006/relationships/presProps" Target="/ppt/presProps.xml" Id="Rf48f955557fa4e81" /><Relationship Type="http://schemas.openxmlformats.org/officeDocument/2006/relationships/tableStyles" Target="/ppt/tableStyles.xml" Id="R3997eee1a69f4e42" /><Relationship Type="http://schemas.openxmlformats.org/officeDocument/2006/relationships/slide" Target="/ppt/slides/slide1.xml" Id="R01cb1e705da942c0" /><Relationship Type="http://schemas.openxmlformats.org/officeDocument/2006/relationships/slide" Target="/ppt/slides/slide2.xml" Id="Rbc2d5a13417b45d3" /><Relationship Type="http://schemas.openxmlformats.org/officeDocument/2006/relationships/slide" Target="/ppt/slides/slide3.xml" Id="R39c2a3902c0f49cf" /><Relationship Type="http://schemas.openxmlformats.org/officeDocument/2006/relationships/slide" Target="/ppt/slides/slide4.xml" Id="R6ecda9db8f3342fc" /><Relationship Type="http://schemas.openxmlformats.org/officeDocument/2006/relationships/slide" Target="/ppt/slides/slide5.xml" Id="Ra790dc3a2aa949a5" /><Relationship Type="http://schemas.openxmlformats.org/officeDocument/2006/relationships/slide" Target="/ppt/slides/slide6.xml" Id="R4b29704b354b4ef5" /><Relationship Type="http://schemas.openxmlformats.org/officeDocument/2006/relationships/slide" Target="/ppt/slides/slide7.xml" Id="R59f1c45c05f7499f" /><Relationship Type="http://schemas.openxmlformats.org/officeDocument/2006/relationships/slide" Target="/ppt/slides/slide8.xml" Id="R0e78b4c7771f49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178bf710a547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1bfa21e09f4404" /><Relationship Type="http://schemas.openxmlformats.org/officeDocument/2006/relationships/notesMaster" Target="/ppt/notesMasters/notesMaster1.xml" Id="R7873396245f346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a612391ab64c06" /><Relationship Type="http://schemas.openxmlformats.org/officeDocument/2006/relationships/notesMaster" Target="/ppt/notesMasters/notesMaster1.xml" Id="Rf5de2fc117b448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0bcd58ae214617" /><Relationship Type="http://schemas.openxmlformats.org/officeDocument/2006/relationships/notesMaster" Target="/ppt/notesMasters/notesMaster1.xml" Id="R8725631b11d44f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b6dae48ca64066" /><Relationship Type="http://schemas.openxmlformats.org/officeDocument/2006/relationships/notesMaster" Target="/ppt/notesMasters/notesMaster1.xml" Id="Reda2ddde872740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8bde45e7414155" /><Relationship Type="http://schemas.openxmlformats.org/officeDocument/2006/relationships/notesMaster" Target="/ppt/notesMasters/notesMaster1.xml" Id="Rebd0e94226494c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7617c77cf4482b" /><Relationship Type="http://schemas.openxmlformats.org/officeDocument/2006/relationships/notesMaster" Target="/ppt/notesMasters/notesMaster1.xml" Id="R1d2679a1afeb42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5aec6265244832" /><Relationship Type="http://schemas.openxmlformats.org/officeDocument/2006/relationships/notesMaster" Target="/ppt/notesMasters/notesMaster1.xml" Id="Rcb72748dcbb54d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b147f3ddbb47c7" /><Relationship Type="http://schemas.openxmlformats.org/officeDocument/2006/relationships/notesMaster" Target="/ppt/notesMasters/notesMaster1.xml" Id="R27190c79767743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on the problem: most AI support experiences are still decision trees with a language layer.</a:t>
            </a:r>
          </a:p>
          <a:p xmlns:a="http://schemas.openxmlformats.org/drawingml/2006/main">
            <a:r>
              <a:t>Bookly demonstrates an end-to-end retail concierge across discovery, purchase, and service.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product framing and the local Bookly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right: multimodal discovery, private account access, and a visible transactional result.</a:t>
            </a:r>
          </a:p>
          <a:p xmlns:a="http://schemas.openxmlformats.org/drawingml/2006/main">
            <a:r>
              <a:t>Voice and text share the same typed tool surface; the page provides visual confirmation for every action.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First-party screenshots captured from the local Bookly application on 2026-08-14.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model selects a tool and produces arguments; the current browser widget relays the request to /api/tools.</a:t>
            </a:r>
          </a:p>
          <a:p xmlns:a="http://schemas.openxmlformats.org/drawingml/2006/main">
            <a:r>
              <a:t>The server resolves the signed browser session, validates the envelope, executes deterministic domain logic, and writes the trace.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Bookly application architecture and repository.</a:t>
            </a:r>
          </a:p>
          <a:p xmlns:a="http://schemas.openxmlformats.org/drawingml/2006/main">
            <a:r>
              <a:t>- https://developers.openai.com/api/docs/guides/realtime-conversations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the responsibility split: GPT-Realtime proposes the tool call; it does not execute Bookly's HTTP endpoint.</a:t>
            </a:r>
          </a:p>
          <a:p xmlns:a="http://schemas.openxmlformats.org/drawingml/2006/main">
            <a:r>
              <a:t>The widget is the current event bridge. The server is the trust and execution boundary.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Bookly ChatWidget and /api/tools implementation.</a:t>
            </a:r>
          </a:p>
          <a:p xmlns:a="http://schemas.openxmlformats.org/drawingml/2006/main">
            <a:r>
              <a:t>- https://developers.openai.com/api/docs/guides/realtime-conversations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point is not the individual tools; it is one agent applying the same conversation, identity, and policy context across the journey.</a:t>
            </a:r>
          </a:p>
          <a:p xmlns:a="http://schemas.openxmlformats.org/drawingml/2006/main">
            <a:r>
              <a:t>The 29 typed tools are grouped into customer outcomes rather than separate task-specific bots.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Bookly tool registry and existing L200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Sensitive input belongs in browser-owned forms, like a password field. The agent sees only the resulting authenticated session.</a:t>
            </a:r>
          </a:p>
          <a:p xmlns:a="http://schemas.openxmlformats.org/drawingml/2006/main">
            <a:r>
              <a:t>Schemas constrain shape; server-side identity, ownership, policy, state, and explicit confirmation constrain authority.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Bookly authentication, tool schema, and guarded-action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preserves the lowest-latency browser media path while moving orchestration to a durable control plane.</a:t>
            </a:r>
          </a:p>
          <a:p xmlns:a="http://schemas.openxmlformats.org/drawingml/2006/main">
            <a:r>
              <a:t>The sideband server connection can receive model tool calls, run business logic, and return tool outputs to the same session.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https://developers.openai.com/api/docs/guides/realtime-server-controls</a:t>
            </a:r>
          </a:p>
          <a:p xmlns:a="http://schemas.openxmlformats.org/drawingml/2006/main">
            <a:r>
              <a:t>- Local Bookly /api/realtime and /api/tools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next step is not another single-purpose tool. It is a governed customer context layer that compounds across discovery, purchase, and care.</a:t>
            </a:r>
          </a:p>
          <a:p xmlns:a="http://schemas.openxmlformats.org/drawingml/2006/main">
            <a:r>
              <a:t>CRM and account integrations supply durable enterprise context; the knowledge graph connects customer taste to the available catalog and inventory.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roadmap direction and local Bookly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e083f33ddc4f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ab50cf38374348" /><Relationship Type="http://schemas.openxmlformats.org/officeDocument/2006/relationships/slideLayout" Target="/ppt/slideLayouts/slideLayout1.xml" Id="R7373b6c90bc945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73b6c90bc945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ef7864641426a" /><Relationship Type="http://schemas.openxmlformats.org/officeDocument/2006/relationships/image" Target="/ppt/media/image.png" Id="R2bb98d0d4de24623" /><Relationship Type="http://schemas.openxmlformats.org/officeDocument/2006/relationships/image" Target="/ppt/media/image.svg" Id="Rc7b830d190874951" /><Relationship Type="http://schemas.openxmlformats.org/officeDocument/2006/relationships/notesSlide" Target="/ppt/notesSlides/notesSlide1.xml" Id="Re7c078eefd6543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b64c40cc541de" /><Relationship Type="http://schemas.openxmlformats.org/officeDocument/2006/relationships/image" Target="/ppt/media/image2.png" Id="Rba94544b8396487d" /><Relationship Type="http://schemas.openxmlformats.org/officeDocument/2006/relationships/image" Target="/ppt/media/image2.svg" Id="R26f7b99586ca413d" /><Relationship Type="http://schemas.openxmlformats.org/officeDocument/2006/relationships/image" Target="/ppt/media/image.jpeg" Id="Rb6c414fb9e5c4c64" /><Relationship Type="http://schemas.openxmlformats.org/officeDocument/2006/relationships/image" Target="/ppt/media/image2.jpeg" Id="R62946261d05e45da" /><Relationship Type="http://schemas.openxmlformats.org/officeDocument/2006/relationships/image" Target="/ppt/media/image3.jpeg" Id="R26a42dd4fdda469a" /><Relationship Type="http://schemas.openxmlformats.org/officeDocument/2006/relationships/notesSlide" Target="/ppt/notesSlides/notesSlide2.xml" Id="R5a2807db29384d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d706b3d9543d7" /><Relationship Type="http://schemas.openxmlformats.org/officeDocument/2006/relationships/image" Target="/ppt/media/image3.png" Id="Rf0cb8e0c8a1f4fb8" /><Relationship Type="http://schemas.openxmlformats.org/officeDocument/2006/relationships/image" Target="/ppt/media/image3.svg" Id="Recabea123294483b" /><Relationship Type="http://schemas.openxmlformats.org/officeDocument/2006/relationships/notesSlide" Target="/ppt/notesSlides/notesSlide3.xml" Id="R3b0e5e4626404c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576f0007e4456" /><Relationship Type="http://schemas.openxmlformats.org/officeDocument/2006/relationships/image" Target="/ppt/media/image4.png" Id="R2d8f2a6645934793" /><Relationship Type="http://schemas.openxmlformats.org/officeDocument/2006/relationships/image" Target="/ppt/media/image4.svg" Id="R2afc6e51d1eb44a9" /><Relationship Type="http://schemas.openxmlformats.org/officeDocument/2006/relationships/notesSlide" Target="/ppt/notesSlides/notesSlide4.xml" Id="Rcb8b05d0294d49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b283f92d54a82" /><Relationship Type="http://schemas.openxmlformats.org/officeDocument/2006/relationships/image" Target="/ppt/media/image2.png" Id="R5ca52a4364d64a95" /><Relationship Type="http://schemas.openxmlformats.org/officeDocument/2006/relationships/image" Target="/ppt/media/image2.svg" Id="R250586c1ead740de" /><Relationship Type="http://schemas.openxmlformats.org/officeDocument/2006/relationships/notesSlide" Target="/ppt/notesSlides/notesSlide5.xml" Id="R9f672d4c515249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f45ec68954fe0" /><Relationship Type="http://schemas.openxmlformats.org/officeDocument/2006/relationships/image" Target="/ppt/media/image4.png" Id="R37ec8f56226742ff" /><Relationship Type="http://schemas.openxmlformats.org/officeDocument/2006/relationships/image" Target="/ppt/media/image4.svg" Id="R8b8802658454428a" /><Relationship Type="http://schemas.openxmlformats.org/officeDocument/2006/relationships/notesSlide" Target="/ppt/notesSlides/notesSlide6.xml" Id="R66b84094611e44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5c83d2b2f4219" /><Relationship Type="http://schemas.openxmlformats.org/officeDocument/2006/relationships/image" Target="/ppt/media/image5.png" Id="Rfd4d0db842d74c83" /><Relationship Type="http://schemas.openxmlformats.org/officeDocument/2006/relationships/image" Target="/ppt/media/image5.svg" Id="R518f15894d0f4bf9" /><Relationship Type="http://schemas.openxmlformats.org/officeDocument/2006/relationships/notesSlide" Target="/ppt/notesSlides/notesSlide7.xml" Id="R9136b621aaf549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c68b286db4bb5" /><Relationship Type="http://schemas.openxmlformats.org/officeDocument/2006/relationships/image" Target="/ppt/media/image5.png" Id="R78311d01f6214456" /><Relationship Type="http://schemas.openxmlformats.org/officeDocument/2006/relationships/image" Target="/ppt/media/image5.svg" Id="R49f0fa7f8e2a4245" /><Relationship Type="http://schemas.openxmlformats.org/officeDocument/2006/relationships/notesSlide" Target="/ppt/notesSlides/notesSlide8.xml" Id="R95fafc301b5c426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98d0d4de2462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98d0d4de24623">
            <a:extLst>
              <a:ext uri="{96DAC541-7B7A-43D3-8B79-37D633B846F1}">
                <asvg:svgBlip xmlns:asvg="http://schemas.microsoft.com/office/drawing/2016/SVG/main" r:embed="Rc7b830d19087495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95300"/>
            <a:ext cx="1790700" cy="389812"/>
          </a:xfrm>
          <a:prstGeom xmlns:a="http://schemas.openxmlformats.org/drawingml/2006/main" prst="rect">
            <a:avLst/>
          </a:prstGeom>
        </p:spPr>
      </p:pic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B78DC74-D0A7-44E3-981A-CBDFD23C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096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0A0A0B"/>
                </a:solidFill>
              </a:defRPr>
            </a:pPr>
            <a:r>
              <a:rPr sz="4800" b="1">
                <a:solidFill>
                  <a:srgbClr val="0A0A0B"/>
                </a:solidFill>
              </a:rPr>
              <a:t>Beyond the decision tree.</a:t>
            </a:r>
          </a:p>
          <a:p xmlns:a="http://schemas.openxmlformats.org/drawingml/2006/main">
            <a:pPr>
              <a:buNone/>
              <a:defRPr sz="4800" b="1">
                <a:solidFill>
                  <a:srgbClr val="0A0A0B"/>
                </a:solidFill>
              </a:defRPr>
            </a:pPr>
            <a:r>
              <a:rPr sz="4800" b="1">
                <a:solidFill>
                  <a:srgbClr val="0A0A0B"/>
                </a:solidFill>
              </a:rPr>
              <a:t>Meet Bookly.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05048F8-4CCA-474A-A297-1B66C6A6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4E4E56"/>
                </a:solidFill>
              </a:defRPr>
            </a:pPr>
            <a:r>
              <a:rPr sz="1800">
                <a:solidFill>
                  <a:srgbClr val="4E4E56"/>
                </a:solidFill>
              </a:rPr>
              <a:t>A voice-native retail concierge that completes the shopping journey while the storefront responds in real time.</a:t>
            </a:r>
          </a:p>
        </p:txBody>
      </p:sp>
      <p:sp>
        <p:nvSpPr>
          <p:cNvPr id="5" name="accent-rule">
            <a:extLst xmlns:a="http://schemas.openxmlformats.org/drawingml/2006/main">
              <a:ext uri="{FF2B5EF4-FFF2-40B4-BE49-F238E27FC236}">
                <a16:creationId xmlns:a16="http://schemas.microsoft.com/office/drawing/2014/main" id="{DB0AF824-00E3-4E5B-B5E9-FC362792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14540C9E-8551-45F8-9465-6B38248C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4E4E56"/>
                </a:solidFill>
              </a:defRPr>
            </a:pPr>
            <a:r>
              <a:rPr sz="975" b="1">
                <a:solidFill>
                  <a:srgbClr val="4E4E56"/>
                </a:solidFill>
              </a:rPr>
              <a:t>VOICE + VISUAL UI + DETERMINISTIC TOOLS | SECURE BY DESIGN</a:t>
            </a:r>
          </a:p>
        </p:txBody>
      </p:sp>
    </p:spTree>
    <p:extLst>
      <p:ext uri="{BB962C8B-B14F-4D97-AF65-F5344CB8AC3E}">
        <p14:creationId xmlns:p14="http://schemas.microsoft.com/office/powerpoint/2010/main" val="15626720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4544b8396487d">
            <a:extLst>
              <a:ext uri="{96DAC541-7B7A-43D3-8B79-37D633B846F1}">
                <asvg:svgBlip xmlns:asvg="http://schemas.microsoft.com/office/drawing/2016/SVG/main" r:embed="R26f7b99586ca413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57200"/>
            <a:ext cx="1752600" cy="381518"/>
          </a:xfrm>
          <a:prstGeom xmlns:a="http://schemas.openxmlformats.org/drawingml/2006/main" prst="rect">
            <a:avLst/>
          </a:prstGeom>
        </p:spPr>
      </p:pic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9BA8F227-8F8A-41CC-8AD4-880516C6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754FF"/>
                </a:solidFill>
              </a:defRPr>
            </a:pPr>
            <a:r>
              <a:rPr sz="975" b="1">
                <a:solidFill>
                  <a:srgbClr val="5754FF"/>
                </a:solidFill>
              </a:rPr>
              <a:t>BOOKLY WIDGET</a:t>
            </a:r>
          </a:p>
        </p:txBody>
      </p:sp>
      <p:sp>
        <p:nvSpPr>
          <p:cNvPr id="3" name="agenda-title">
            <a:extLst xmlns:a="http://schemas.openxmlformats.org/drawingml/2006/main">
              <a:ext uri="{FF2B5EF4-FFF2-40B4-BE49-F238E27FC236}">
                <a16:creationId xmlns:a16="http://schemas.microsoft.com/office/drawing/2014/main" id="{DDEFA9CF-DD48-4787-B130-9E2A1E30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A0A0B"/>
                </a:solidFill>
              </a:defRPr>
            </a:pPr>
            <a:r>
              <a:rPr sz="3150" b="1">
                <a:solidFill>
                  <a:srgbClr val="0A0A0B"/>
                </a:solidFill>
              </a:rPr>
              <a:t>Conversation becomes visible action</a:t>
            </a:r>
          </a:p>
        </p:txBody>
      </p:sp>
      <p:sp>
        <p:nvSpPr>
          <p:cNvPr id="2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D9EC69E-8FE1-4985-B4B7-B117E730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4DA80F1C-3ED1-45F8-A446-ECB91FAC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898994"/>
                </a:solidFill>
              </a:defRPr>
            </a:pPr>
            <a:r>
              <a:rPr sz="825" b="1">
                <a:solidFill>
                  <a:srgbClr val="898994"/>
                </a:solidFill>
              </a:rPr>
              <a:t>DECAGON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8D9B49B-7D31-4C7C-87EF-E1DC1660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770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898994"/>
                </a:solidFill>
              </a:defRPr>
            </a:pPr>
            <a:r>
              <a:rPr sz="825" b="1">
                <a:solidFill>
                  <a:srgbClr val="898994"/>
                </a:solidFill>
              </a:rPr>
              <a:t>02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414fb9e5c4c64"/>
          <a:srcRect xmlns:a="http://schemas.openxmlformats.org/drawingml/2006/main" l="0" t="116" r="0" b="1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324100"/>
            <a:ext cx="4953000" cy="2781300"/>
          </a:xfrm>
          <a:prstGeom xmlns:a="http://schemas.openxmlformats.org/drawingml/2006/main" prst="roundRect">
            <a:avLst>
              <a:gd name="adj" fmla="val 4110"/>
            </a:avLst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46261d05e45da"/>
          <a:srcRect xmlns:a="http://schemas.openxmlformats.org/drawingml/2006/main" l="23014" t="0" r="230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2324100"/>
            <a:ext cx="2667000" cy="278130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42dd4fdda469a"/>
          <a:srcRect xmlns:a="http://schemas.openxmlformats.org/drawingml/2006/main" l="23014" t="0" r="230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9200" y="2324100"/>
            <a:ext cx="2667000" cy="278130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27" name="proof-label-discover">
            <a:extLst xmlns:a="http://schemas.openxmlformats.org/drawingml/2006/main">
              <a:ext uri="{FF2B5EF4-FFF2-40B4-BE49-F238E27FC236}">
                <a16:creationId xmlns:a16="http://schemas.microsoft.com/office/drawing/2014/main" id="{AFD3CFF2-1393-49C2-A690-C1E48377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754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5754FF"/>
                </a:solidFill>
                <a:latin typeface="Calibri"/>
                <a:ea typeface="Calibri"/>
                <a:cs typeface="Calibri"/>
              </a:rPr>
              <a:t>DISCOVER + EXPLAIN</a:t>
            </a:r>
          </a:p>
        </p:txBody>
      </p:sp>
      <p:sp>
        <p:nvSpPr>
          <p:cNvPr id="28" name="proof-body-discover">
            <a:extLst xmlns:a="http://schemas.openxmlformats.org/drawingml/2006/main">
              <a:ext uri="{FF2B5EF4-FFF2-40B4-BE49-F238E27FC236}">
                <a16:creationId xmlns:a16="http://schemas.microsoft.com/office/drawing/2014/main" id="{52D8BEA6-E98E-444D-8F68-F8242CC9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A0A0B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0A0A0B"/>
                </a:solidFill>
                <a:latin typeface="Calibri"/>
                <a:ea typeface="Calibri"/>
                <a:cs typeface="Calibri"/>
              </a:rPr>
              <a:t>Searches semantically, opens the exact book, and keeps the conversation in context.</a:t>
            </a:r>
          </a:p>
        </p:txBody>
      </p:sp>
      <p:sp>
        <p:nvSpPr>
          <p:cNvPr id="29" name="proof-label-protect">
            <a:extLst xmlns:a="http://schemas.openxmlformats.org/drawingml/2006/main">
              <a:ext uri="{FF2B5EF4-FFF2-40B4-BE49-F238E27FC236}">
                <a16:creationId xmlns:a16="http://schemas.microsoft.com/office/drawing/2014/main" id="{C95FB5BE-C648-4A83-99C5-48BFD6D8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76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754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5754FF"/>
                </a:solidFill>
                <a:latin typeface="Calibri"/>
                <a:ea typeface="Calibri"/>
                <a:cs typeface="Calibri"/>
              </a:rPr>
              <a:t>PROTECT IDENTITY</a:t>
            </a:r>
          </a:p>
        </p:txBody>
      </p:sp>
      <p:sp>
        <p:nvSpPr>
          <p:cNvPr id="30" name="proof-body-protect">
            <a:extLst xmlns:a="http://schemas.openxmlformats.org/drawingml/2006/main">
              <a:ext uri="{FF2B5EF4-FFF2-40B4-BE49-F238E27FC236}">
                <a16:creationId xmlns:a16="http://schemas.microsoft.com/office/drawing/2014/main" id="{A088189A-0862-4807-9C40-95862C4E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054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A0A0B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0A0A0B"/>
                </a:solidFill>
                <a:latin typeface="Calibri"/>
                <a:ea typeface="Calibri"/>
                <a:cs typeface="Calibri"/>
              </a:rPr>
              <a:t>Pauses for a browser-owned form; the model never receives the password.</a:t>
            </a:r>
          </a:p>
        </p:txBody>
      </p:sp>
      <p:sp>
        <p:nvSpPr>
          <p:cNvPr id="31" name="proof-label-act">
            <a:extLst xmlns:a="http://schemas.openxmlformats.org/drawingml/2006/main">
              <a:ext uri="{FF2B5EF4-FFF2-40B4-BE49-F238E27FC236}">
                <a16:creationId xmlns:a16="http://schemas.microsoft.com/office/drawing/2014/main" id="{B0C302DD-E08E-4962-A91B-48D2AE59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276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754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5754FF"/>
                </a:solidFill>
                <a:latin typeface="Calibri"/>
                <a:ea typeface="Calibri"/>
                <a:cs typeface="Calibri"/>
              </a:rPr>
              <a:t>ACT + REFLECT</a:t>
            </a:r>
          </a:p>
        </p:txBody>
      </p:sp>
      <p:sp>
        <p:nvSpPr>
          <p:cNvPr id="32" name="proof-body-act">
            <a:extLst xmlns:a="http://schemas.openxmlformats.org/drawingml/2006/main">
              <a:ext uri="{FF2B5EF4-FFF2-40B4-BE49-F238E27FC236}">
                <a16:creationId xmlns:a16="http://schemas.microsoft.com/office/drawing/2014/main" id="{EA3CA5A7-6E29-4CB1-A455-8A66FA8F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5054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A0A0B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0A0A0B"/>
                </a:solidFill>
                <a:latin typeface="Calibri"/>
                <a:ea typeface="Calibri"/>
                <a:cs typeface="Calibri"/>
              </a:rPr>
              <a:t>Executes the cart mutation, then updates the visible bag and total.</a:t>
            </a:r>
          </a:p>
        </p:txBody>
      </p:sp>
    </p:spTree>
    <p:extLst>
      <p:ext uri="{BB962C8B-B14F-4D97-AF65-F5344CB8AC3E}">
        <p14:creationId xmlns:p14="http://schemas.microsoft.com/office/powerpoint/2010/main" val="11876160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cb8e0c8a1f4fb8">
            <a:extLst>
              <a:ext uri="{96DAC541-7B7A-43D3-8B79-37D633B846F1}">
                <asvg:svgBlip xmlns:asvg="http://schemas.microsoft.com/office/drawing/2016/SVG/main" r:embed="Recabea123294483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57200"/>
            <a:ext cx="1752600" cy="381518"/>
          </a:xfrm>
          <a:prstGeom xmlns:a="http://schemas.openxmlformats.org/drawingml/2006/main" prst="rect">
            <a:avLst/>
          </a:prstGeom>
        </p:spPr>
      </p:pic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A646B0E3-3C73-445E-A56F-443A619E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754FF"/>
                </a:solidFill>
              </a:defRPr>
            </a:pPr>
            <a:r>
              <a:rPr sz="975" b="1">
                <a:solidFill>
                  <a:srgbClr val="5754FF"/>
                </a:solidFill>
              </a:rPr>
              <a:t>RUNTIME ARCHITECTURE</a:t>
            </a:r>
          </a:p>
        </p:txBody>
      </p:sp>
      <p:sp>
        <p:nvSpPr>
          <p:cNvPr id="3" name="chart-title">
            <a:extLst xmlns:a="http://schemas.openxmlformats.org/drawingml/2006/main">
              <a:ext uri="{FF2B5EF4-FFF2-40B4-BE49-F238E27FC236}">
                <a16:creationId xmlns:a16="http://schemas.microsoft.com/office/drawing/2014/main" id="{B858E1EC-CAB9-4300-BEE4-D3903E40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A0A0B"/>
                </a:solidFill>
              </a:defRPr>
            </a:pPr>
            <a:r>
              <a:rPr sz="3000" b="1">
                <a:solidFill>
                  <a:srgbClr val="0A0A0B"/>
                </a:solidFill>
              </a:rPr>
              <a:t>Natural conversation. Deterministic execution.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AF61DDE-B446-4C09-9AA2-9344EAF4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8CC2851B-5F18-46F8-BCEA-6A6AFDE8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898994"/>
                </a:solidFill>
              </a:defRPr>
            </a:pPr>
            <a:r>
              <a:rPr sz="825" b="1">
                <a:solidFill>
                  <a:srgbClr val="898994"/>
                </a:solidFill>
              </a:rPr>
              <a:t>DECAGON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1A699E4-46CD-464F-B20A-E446C8B9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770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898994"/>
                </a:solidFill>
              </a:defRPr>
            </a:pPr>
            <a:r>
              <a:rPr sz="825" b="1">
                <a:solidFill>
                  <a:srgbClr val="898994"/>
                </a:solidFill>
              </a:rPr>
              <a:t>03</a:t>
            </a:r>
          </a:p>
        </p:txBody>
      </p:sp>
      <p:sp>
        <p:nvSpPr>
          <p:cNvPr id="13" name="arch-cluster-customer">
            <a:extLst xmlns:a="http://schemas.openxmlformats.org/drawingml/2006/main">
              <a:ext uri="{FF2B5EF4-FFF2-40B4-BE49-F238E27FC236}">
                <a16:creationId xmlns:a16="http://schemas.microsoft.com/office/drawing/2014/main" id="{0438C80D-C3E3-495F-ACFD-258D1EBC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000250" cy="3333750"/>
          </a:xfrm>
          <a:prstGeom xmlns:a="http://schemas.openxmlformats.org/drawingml/2006/main" prst="roundRect">
            <a:avLst>
              <a:gd name="adj" fmla="val 6190"/>
            </a:avLst>
          </a:prstGeom>
          <a:noFill xmlns:a="http://schemas.openxmlformats.org/drawingml/2006/main"/>
          <a:ln xmlns:a="http://schemas.openxmlformats.org/drawingml/2006/main" w="10478">
            <a:solidFill>
              <a:srgbClr val="D9D7FF"/>
            </a:solidFill>
            <a:prstDash val="solid"/>
          </a:ln>
        </p:spPr>
      </p:sp>
      <p:sp>
        <p:nvSpPr>
          <p:cNvPr id="14" name="arch-cluster-realtime">
            <a:extLst xmlns:a="http://schemas.openxmlformats.org/drawingml/2006/main">
              <a:ext uri="{FF2B5EF4-FFF2-40B4-BE49-F238E27FC236}">
                <a16:creationId xmlns:a16="http://schemas.microsoft.com/office/drawing/2014/main" id="{7A390544-E87C-4045-8F8F-0953B71F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66950"/>
            <a:ext cx="2647950" cy="3333750"/>
          </a:xfrm>
          <a:prstGeom xmlns:a="http://schemas.openxmlformats.org/drawingml/2006/main" prst="roundRect">
            <a:avLst>
              <a:gd name="adj" fmla="val 4676"/>
            </a:avLst>
          </a:prstGeom>
          <a:noFill xmlns:a="http://schemas.openxmlformats.org/drawingml/2006/main"/>
          <a:ln xmlns:a="http://schemas.openxmlformats.org/drawingml/2006/main" w="10478">
            <a:solidFill>
              <a:srgbClr val="D9D7FF"/>
            </a:solidFill>
            <a:prstDash val="solid"/>
          </a:ln>
        </p:spPr>
      </p:sp>
      <p:sp>
        <p:nvSpPr>
          <p:cNvPr id="15" name="arch-cluster-control">
            <a:extLst xmlns:a="http://schemas.openxmlformats.org/drawingml/2006/main">
              <a:ext uri="{FF2B5EF4-FFF2-40B4-BE49-F238E27FC236}">
                <a16:creationId xmlns:a16="http://schemas.microsoft.com/office/drawing/2014/main" id="{CCB86545-BAED-4917-8995-B406D116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266950"/>
            <a:ext cx="3048000" cy="3333750"/>
          </a:xfrm>
          <a:prstGeom xmlns:a="http://schemas.openxmlformats.org/drawingml/2006/main" prst="roundRect">
            <a:avLst>
              <a:gd name="adj" fmla="val 4063"/>
            </a:avLst>
          </a:prstGeom>
          <a:noFill xmlns:a="http://schemas.openxmlformats.org/drawingml/2006/main"/>
          <a:ln xmlns:a="http://schemas.openxmlformats.org/drawingml/2006/main" w="10478">
            <a:solidFill>
              <a:srgbClr val="D9D7FF"/>
            </a:solidFill>
            <a:prstDash val="solid"/>
          </a:ln>
        </p:spPr>
      </p:sp>
      <p:sp>
        <p:nvSpPr>
          <p:cNvPr id="16" name="arch-cluster-state">
            <a:extLst xmlns:a="http://schemas.openxmlformats.org/drawingml/2006/main">
              <a:ext uri="{FF2B5EF4-FFF2-40B4-BE49-F238E27FC236}">
                <a16:creationId xmlns:a16="http://schemas.microsoft.com/office/drawing/2014/main" id="{D6A1FDFC-E815-49FE-9403-73C21545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66950"/>
            <a:ext cx="2438400" cy="3333750"/>
          </a:xfrm>
          <a:prstGeom xmlns:a="http://schemas.openxmlformats.org/drawingml/2006/main" prst="roundRect">
            <a:avLst>
              <a:gd name="adj" fmla="val 5078"/>
            </a:avLst>
          </a:prstGeom>
          <a:noFill xmlns:a="http://schemas.openxmlformats.org/drawingml/2006/main"/>
          <a:ln xmlns:a="http://schemas.openxmlformats.org/drawingml/2006/main" w="10478">
            <a:solidFill>
              <a:srgbClr val="D9D7FF"/>
            </a:solidFill>
            <a:prstDash val="solid"/>
          </a:ln>
        </p:spPr>
      </p:sp>
      <p:sp>
        <p:nvSpPr>
          <p:cNvPr id="17" name="arch-node-sign-in">
            <a:extLst xmlns:a="http://schemas.openxmlformats.org/drawingml/2006/main">
              <a:ext uri="{FF2B5EF4-FFF2-40B4-BE49-F238E27FC236}">
                <a16:creationId xmlns:a16="http://schemas.microsoft.com/office/drawing/2014/main" id="{9B74599D-F041-4292-BC66-E862B8BE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695450" cy="571500"/>
          </a:xfrm>
          <a:prstGeom xmlns:a="http://schemas.openxmlformats.org/drawingml/2006/main" prst="roundRect">
            <a:avLst>
              <a:gd name="adj" fmla="val 1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D7FF"/>
            </a:solidFill>
            <a:prstDash val="solid"/>
          </a:ln>
        </p:spPr>
      </p:sp>
      <p:sp>
        <p:nvSpPr>
          <p:cNvPr id="18" name="arch-node-widget">
            <a:extLst xmlns:a="http://schemas.openxmlformats.org/drawingml/2006/main">
              <a:ext uri="{FF2B5EF4-FFF2-40B4-BE49-F238E27FC236}">
                <a16:creationId xmlns:a16="http://schemas.microsoft.com/office/drawing/2014/main" id="{1BFFBBB8-4B4A-4189-AE1D-CD215E41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1695450" cy="571500"/>
          </a:xfrm>
          <a:prstGeom xmlns:a="http://schemas.openxmlformats.org/drawingml/2006/main" prst="roundRect">
            <a:avLst>
              <a:gd name="adj" fmla="val 1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D7FF"/>
            </a:solidFill>
            <a:prstDash val="solid"/>
          </a:ln>
        </p:spPr>
      </p:sp>
      <p:sp>
        <p:nvSpPr>
          <p:cNvPr id="19" name="arch-node-customer">
            <a:extLst xmlns:a="http://schemas.openxmlformats.org/drawingml/2006/main">
              <a:ext uri="{FF2B5EF4-FFF2-40B4-BE49-F238E27FC236}">
                <a16:creationId xmlns:a16="http://schemas.microsoft.com/office/drawing/2014/main" id="{4DF920A4-2D72-4952-8856-EDAEE94B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1695450" cy="571500"/>
          </a:xfrm>
          <a:prstGeom xmlns:a="http://schemas.openxmlformats.org/drawingml/2006/main" prst="roundRect">
            <a:avLst>
              <a:gd name="adj" fmla="val 1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D7FF"/>
            </a:solidFill>
            <a:prstDash val="solid"/>
          </a:ln>
        </p:spPr>
      </p:sp>
      <p:sp>
        <p:nvSpPr>
          <p:cNvPr id="20" name="arch-node-realtime-api">
            <a:extLst xmlns:a="http://schemas.openxmlformats.org/drawingml/2006/main">
              <a:ext uri="{FF2B5EF4-FFF2-40B4-BE49-F238E27FC236}">
                <a16:creationId xmlns:a16="http://schemas.microsoft.com/office/drawing/2014/main" id="{DB2DCF0A-54A7-432E-B98C-07F77EA3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81300"/>
            <a:ext cx="2305050" cy="571500"/>
          </a:xfrm>
          <a:prstGeom xmlns:a="http://schemas.openxmlformats.org/drawingml/2006/main" prst="roundRect">
            <a:avLst>
              <a:gd name="adj" fmla="val 1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D7FF"/>
            </a:solidFill>
            <a:prstDash val="solid"/>
          </a:ln>
        </p:spPr>
      </p:sp>
      <p:sp>
        <p:nvSpPr>
          <p:cNvPr id="21" name="arch-node-session-contract">
            <a:extLst xmlns:a="http://schemas.openxmlformats.org/drawingml/2006/main">
              <a:ext uri="{FF2B5EF4-FFF2-40B4-BE49-F238E27FC236}">
                <a16:creationId xmlns:a16="http://schemas.microsoft.com/office/drawing/2014/main" id="{63E883DE-00F5-491A-AE2A-E9FE33CA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2305050" cy="571500"/>
          </a:xfrm>
          <a:prstGeom xmlns:a="http://schemas.openxmlformats.org/drawingml/2006/main" prst="roundRect">
            <a:avLst>
              <a:gd name="adj" fmla="val 1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D7FF"/>
            </a:solidFill>
            <a:prstDash val="solid"/>
          </a:ln>
        </p:spPr>
      </p:sp>
      <p:sp>
        <p:nvSpPr>
          <p:cNvPr id="22" name="arch-node-gpt-realtime">
            <a:extLst xmlns:a="http://schemas.openxmlformats.org/drawingml/2006/main">
              <a:ext uri="{FF2B5EF4-FFF2-40B4-BE49-F238E27FC236}">
                <a16:creationId xmlns:a16="http://schemas.microsoft.com/office/drawing/2014/main" id="{F59194B3-0754-4AC0-BBDA-C1685D5E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876800"/>
            <a:ext cx="2305050" cy="571500"/>
          </a:xfrm>
          <a:prstGeom xmlns:a="http://schemas.openxmlformats.org/drawingml/2006/main" prst="roundRect">
            <a:avLst>
              <a:gd name="adj" fmla="val 18333"/>
            </a:avLst>
          </a:prstGeom>
          <a:solidFill xmlns:a="http://schemas.openxmlformats.org/drawingml/2006/main">
            <a:srgbClr val="5A54FF"/>
          </a:solidFill>
          <a:ln xmlns:a="http://schemas.openxmlformats.org/drawingml/2006/main" w="12383">
            <a:solidFill>
              <a:srgbClr val="5A54FF"/>
            </a:solidFill>
            <a:prstDash val="solid"/>
          </a:ln>
        </p:spPr>
      </p:sp>
      <p:sp>
        <p:nvSpPr>
          <p:cNvPr id="23" name="arch-node-domain-executors">
            <a:extLst xmlns:a="http://schemas.openxmlformats.org/drawingml/2006/main">
              <a:ext uri="{FF2B5EF4-FFF2-40B4-BE49-F238E27FC236}">
                <a16:creationId xmlns:a16="http://schemas.microsoft.com/office/drawing/2014/main" id="{9A5426E5-47A9-451C-884A-8EDE8E36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90800"/>
            <a:ext cx="2667000" cy="4953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D7FF"/>
            </a:solidFill>
            <a:prstDash val="solid"/>
          </a:ln>
        </p:spPr>
      </p:sp>
      <p:sp>
        <p:nvSpPr>
          <p:cNvPr id="24" name="arch-node-guarded-engine">
            <a:extLst xmlns:a="http://schemas.openxmlformats.org/drawingml/2006/main">
              <a:ext uri="{FF2B5EF4-FFF2-40B4-BE49-F238E27FC236}">
                <a16:creationId xmlns:a16="http://schemas.microsoft.com/office/drawing/2014/main" id="{4DD95BAB-B1F7-44F7-AE29-1EA4B07D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62300"/>
            <a:ext cx="2667000" cy="4953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D7FF"/>
            </a:solidFill>
            <a:prstDash val="solid"/>
          </a:ln>
        </p:spPr>
      </p:sp>
      <p:sp>
        <p:nvSpPr>
          <p:cNvPr id="25" name="arch-node-history-trace">
            <a:extLst xmlns:a="http://schemas.openxmlformats.org/drawingml/2006/main">
              <a:ext uri="{FF2B5EF4-FFF2-40B4-BE49-F238E27FC236}">
                <a16:creationId xmlns:a16="http://schemas.microsoft.com/office/drawing/2014/main" id="{69AE5C46-50C1-4EFD-B343-ACBB7723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33800"/>
            <a:ext cx="2667000" cy="4953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D7FF"/>
            </a:solidFill>
            <a:prstDash val="solid"/>
          </a:ln>
        </p:spPr>
      </p:sp>
      <p:sp>
        <p:nvSpPr>
          <p:cNvPr id="26" name="arch-node-session-resolver">
            <a:extLst xmlns:a="http://schemas.openxmlformats.org/drawingml/2006/main">
              <a:ext uri="{FF2B5EF4-FFF2-40B4-BE49-F238E27FC236}">
                <a16:creationId xmlns:a16="http://schemas.microsoft.com/office/drawing/2014/main" id="{F88AE84D-A109-4FD9-8791-5B15B281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05300"/>
            <a:ext cx="2667000" cy="4953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D7FF"/>
            </a:solidFill>
            <a:prstDash val="solid"/>
          </a:ln>
        </p:spPr>
      </p:sp>
      <p:sp>
        <p:nvSpPr>
          <p:cNvPr id="27" name="arch-node-tools-api">
            <a:extLst xmlns:a="http://schemas.openxmlformats.org/drawingml/2006/main">
              <a:ext uri="{FF2B5EF4-FFF2-40B4-BE49-F238E27FC236}">
                <a16:creationId xmlns:a16="http://schemas.microsoft.com/office/drawing/2014/main" id="{3AE463C1-3D87-4F8C-9052-460057A2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876800"/>
            <a:ext cx="2667000" cy="571500"/>
          </a:xfrm>
          <a:prstGeom xmlns:a="http://schemas.openxmlformats.org/drawingml/2006/main" prst="roundRect">
            <a:avLst>
              <a:gd name="adj" fmla="val 18333"/>
            </a:avLst>
          </a:prstGeom>
          <a:solidFill xmlns:a="http://schemas.openxmlformats.org/drawingml/2006/main">
            <a:srgbClr val="1A191E"/>
          </a:solidFill>
          <a:ln xmlns:a="http://schemas.openxmlformats.org/drawingml/2006/main" w="12383">
            <a:solidFill>
              <a:srgbClr val="1A191E"/>
            </a:solidFill>
            <a:prstDash val="solid"/>
          </a:ln>
        </p:spPr>
      </p:sp>
      <p:sp>
        <p:nvSpPr>
          <p:cNvPr id="28" name="arch-node-lancedb">
            <a:extLst xmlns:a="http://schemas.openxmlformats.org/drawingml/2006/main">
              <a:ext uri="{FF2B5EF4-FFF2-40B4-BE49-F238E27FC236}">
                <a16:creationId xmlns:a16="http://schemas.microsoft.com/office/drawing/2014/main" id="{A219B5AB-0A7A-4611-8F55-4B1930A0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90800"/>
            <a:ext cx="2095500" cy="571500"/>
          </a:xfrm>
          <a:prstGeom xmlns:a="http://schemas.openxmlformats.org/drawingml/2006/main" prst="roundRect">
            <a:avLst>
              <a:gd name="adj" fmla="val 1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D7FF"/>
            </a:solidFill>
            <a:prstDash val="solid"/>
          </a:ln>
        </p:spPr>
      </p:sp>
      <p:sp>
        <p:nvSpPr>
          <p:cNvPr id="29" name="arch-node-sqlite">
            <a:extLst xmlns:a="http://schemas.openxmlformats.org/drawingml/2006/main">
              <a:ext uri="{FF2B5EF4-FFF2-40B4-BE49-F238E27FC236}">
                <a16:creationId xmlns:a16="http://schemas.microsoft.com/office/drawing/2014/main" id="{A0DED6D0-7A8F-494B-B94B-16A84D5A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38550"/>
            <a:ext cx="2095500" cy="66675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D7FF"/>
            </a:solidFill>
            <a:prstDash val="solid"/>
          </a:ln>
        </p:spPr>
      </p:sp>
      <p:sp>
        <p:nvSpPr>
          <p:cNvPr id="30" name="arch-node-production-adapters">
            <a:extLst xmlns:a="http://schemas.openxmlformats.org/drawingml/2006/main">
              <a:ext uri="{FF2B5EF4-FFF2-40B4-BE49-F238E27FC236}">
                <a16:creationId xmlns:a16="http://schemas.microsoft.com/office/drawing/2014/main" id="{EA3BB70C-7DBD-49CF-988F-5259A8A2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876800"/>
            <a:ext cx="2095500" cy="571500"/>
          </a:xfrm>
          <a:prstGeom xmlns:a="http://schemas.openxmlformats.org/drawingml/2006/main" prst="roundRect">
            <a:avLst>
              <a:gd name="adj" fmla="val 1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9A99A6"/>
            </a:solidFill>
            <a:prstDash val="dash"/>
          </a:ln>
        </p:spPr>
      </p:sp>
      <p:sp>
        <p:nvSpPr>
          <p:cNvPr id="31" name="arch-waypoint-auth-1">
            <a:extLst xmlns:a="http://schemas.openxmlformats.org/drawingml/2006/main">
              <a:ext uri="{FF2B5EF4-FFF2-40B4-BE49-F238E27FC236}">
                <a16:creationId xmlns:a16="http://schemas.microsoft.com/office/drawing/2014/main" id="{F27171CF-DFA0-429B-B3A2-25C1FF34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5752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arch-waypoint-auth-2">
            <a:extLst xmlns:a="http://schemas.openxmlformats.org/drawingml/2006/main">
              <a:ext uri="{FF2B5EF4-FFF2-40B4-BE49-F238E27FC236}">
                <a16:creationId xmlns:a16="http://schemas.microsoft.com/office/drawing/2014/main" id="{FE752DB8-CA8D-476E-B9ED-6FFD15F0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431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arch-waypoint-auth-3">
            <a:extLst xmlns:a="http://schemas.openxmlformats.org/drawingml/2006/main">
              <a:ext uri="{FF2B5EF4-FFF2-40B4-BE49-F238E27FC236}">
                <a16:creationId xmlns:a16="http://schemas.microsoft.com/office/drawing/2014/main" id="{CD6CE2D2-1DBB-4014-ABF7-73710A79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5431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arch-waypoint-auth-4">
            <a:extLst xmlns:a="http://schemas.openxmlformats.org/drawingml/2006/main">
              <a:ext uri="{FF2B5EF4-FFF2-40B4-BE49-F238E27FC236}">
                <a16:creationId xmlns:a16="http://schemas.microsoft.com/office/drawing/2014/main" id="{DF79DBF3-4AB6-4965-B957-309E69F0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54342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8" name="arch-connector-customer-to-widget"/>
          <p:cNvCxnSpPr>
            <a:stCxn xmlns:a="http://schemas.openxmlformats.org/drawingml/2006/main" id="19" idx="0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V="1">
            <a:off x="1685925" y="440055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5A54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9" name="arch-connector-widget-to-sign-in"/>
          <p:cNvCxnSpPr>
            <a:stCxn xmlns:a="http://schemas.openxmlformats.org/drawingml/2006/main" id="18" idx="0"/>
            <a:endCxn xmlns:a="http://schemas.openxmlformats.org/drawingml/2006/main" id="17" idx="2"/>
          </p:cNvCxnSpPr>
          <p:nvPr/>
        </p:nvCxnSpPr>
        <p:spPr>
          <a:xfrm xmlns:a="http://schemas.openxmlformats.org/drawingml/2006/main" flipV="1">
            <a:off x="1685925" y="335280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5A54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0" name="arch-connector-widget-to-realtime-api"/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2533650" y="3067050"/>
            <a:ext cx="495300" cy="1047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811">
            <a:solidFill>
              <a:srgbClr val="5A54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1" name="arch-connector-widget-to-gpt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2533650" y="4114800"/>
            <a:ext cx="495300" cy="1047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811">
            <a:solidFill>
              <a:srgbClr val="5A54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2" name="arch-connector-session-contract-to-gpt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4181475" y="440055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5A54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3" name="arch-connector-auth-sign-in"/>
          <p:cNvCxnSpPr>
            <a:stCxn xmlns:a="http://schemas.openxmlformats.org/drawingml/2006/main" id="17" idx="3"/>
            <a:endCxn xmlns:a="http://schemas.openxmlformats.org/drawingml/2006/main" id="31" idx="2"/>
          </p:cNvCxnSpPr>
          <p:nvPr/>
        </p:nvCxnSpPr>
        <p:spPr>
          <a:xfrm xmlns:a="http://schemas.openxmlformats.org/drawingml/2006/main">
            <a:off x="2533650" y="30670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5A54FF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224" name="arch-connector-auth-rise"/>
          <p:cNvCxnSpPr>
            <a:stCxn xmlns:a="http://schemas.openxmlformats.org/drawingml/2006/main" id="31" idx="0"/>
            <a:endCxn xmlns:a="http://schemas.openxmlformats.org/drawingml/2006/main" id="32" idx="4"/>
          </p:cNvCxnSpPr>
          <p:nvPr/>
        </p:nvCxnSpPr>
        <p:spPr>
          <a:xfrm xmlns:a="http://schemas.openxmlformats.org/drawingml/2006/main" flipV="1">
            <a:off x="2695575" y="2562225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5A54FF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225" name="arch-connector-auth-across"/>
          <p:cNvCxnSpPr>
            <a:stCxn xmlns:a="http://schemas.openxmlformats.org/drawingml/2006/main" id="32" idx="6"/>
            <a:endCxn xmlns:a="http://schemas.openxmlformats.org/drawingml/2006/main" id="33" idx="2"/>
          </p:cNvCxnSpPr>
          <p:nvPr/>
        </p:nvCxnSpPr>
        <p:spPr>
          <a:xfrm xmlns:a="http://schemas.openxmlformats.org/drawingml/2006/main">
            <a:off x="2705100" y="2552700"/>
            <a:ext cx="3038475" cy="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5A54FF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226" name="arch-connector-auth-drop"/>
          <p:cNvCxnSpPr>
            <a:stCxn xmlns:a="http://schemas.openxmlformats.org/drawingml/2006/main" id="33" idx="4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5753100" y="2562225"/>
            <a:ext cx="0" cy="198120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5A54FF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227" name="arch-connector-auth-resolve"/>
          <p:cNvCxnSpPr>
            <a:stCxn xmlns:a="http://schemas.openxmlformats.org/drawingml/2006/main" id="34" idx="6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5762625" y="4552950"/>
            <a:ext cx="104775" cy="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5A54FF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228" name="arch-connector-gpt-to-tools"/>
          <p:cNvCxnSpPr>
            <a:stCxn xmlns:a="http://schemas.openxmlformats.org/drawingml/2006/main" id="22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5334000" y="51625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5A54FF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229" name="arch-connector-tools-to-resolver"/>
          <p:cNvCxnSpPr>
            <a:stCxn xmlns:a="http://schemas.openxmlformats.org/drawingml/2006/main" id="27" idx="0"/>
            <a:endCxn xmlns:a="http://schemas.openxmlformats.org/drawingml/2006/main" id="26" idx="2"/>
          </p:cNvCxnSpPr>
          <p:nvPr/>
        </p:nvCxnSpPr>
        <p:spPr>
          <a:xfrm xmlns:a="http://schemas.openxmlformats.org/drawingml/2006/main" flipV="1">
            <a:off x="7200900" y="48006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5A54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30" name="arch-connector-resolver-to-history"/>
          <p:cNvCxnSpPr>
            <a:stCxn xmlns:a="http://schemas.openxmlformats.org/drawingml/2006/main" id="26" idx="0"/>
            <a:endCxn xmlns:a="http://schemas.openxmlformats.org/drawingml/2006/main" id="25" idx="2"/>
          </p:cNvCxnSpPr>
          <p:nvPr/>
        </p:nvCxnSpPr>
        <p:spPr>
          <a:xfrm xmlns:a="http://schemas.openxmlformats.org/drawingml/2006/main" flipV="1">
            <a:off x="7200900" y="42291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5A54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31" name="arch-connector-history-to-guarded"/>
          <p:cNvCxnSpPr>
            <a:stCxn xmlns:a="http://schemas.openxmlformats.org/drawingml/2006/main" id="25" idx="0"/>
            <a:endCxn xmlns:a="http://schemas.openxmlformats.org/drawingml/2006/main" id="24" idx="2"/>
          </p:cNvCxnSpPr>
          <p:nvPr/>
        </p:nvCxnSpPr>
        <p:spPr>
          <a:xfrm xmlns:a="http://schemas.openxmlformats.org/drawingml/2006/main" flipV="1">
            <a:off x="7200900" y="36576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5A54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32" name="arch-connector-guarded-to-domain"/>
          <p:cNvCxnSpPr>
            <a:stCxn xmlns:a="http://schemas.openxmlformats.org/drawingml/2006/main" id="24" idx="0"/>
            <a:endCxn xmlns:a="http://schemas.openxmlformats.org/drawingml/2006/main" id="23" idx="2"/>
          </p:cNvCxnSpPr>
          <p:nvPr/>
        </p:nvCxnSpPr>
        <p:spPr>
          <a:xfrm xmlns:a="http://schemas.openxmlformats.org/drawingml/2006/main" flipV="1">
            <a:off x="7200900" y="30861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5A54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33" name="arch-connector-domain-to-lancedb"/>
          <p:cNvCxnSpPr>
            <a:stCxn xmlns:a="http://schemas.openxmlformats.org/drawingml/2006/main" id="23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534400" y="2838450"/>
            <a:ext cx="533400" cy="3810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5A54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34" name="arch-connector-guarded-to-sqlite"/>
          <p:cNvCxnSpPr>
            <a:stCxn xmlns:a="http://schemas.openxmlformats.org/drawingml/2006/main" id="24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8534400" y="3409950"/>
            <a:ext cx="533400" cy="561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811">
            <a:solidFill>
              <a:srgbClr val="5A54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35" name="arch-connector-history-to-sqlite"/>
          <p:cNvCxnSpPr>
            <a:stCxn xmlns:a="http://schemas.openxmlformats.org/drawingml/2006/main" id="25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V="1">
            <a:off x="8534400" y="3971925"/>
            <a:ext cx="533400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811">
            <a:solidFill>
              <a:srgbClr val="9A99A6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236" name="arch-connector-tools-to-adapters"/>
          <p:cNvCxnSpPr>
            <a:stCxn xmlns:a="http://schemas.openxmlformats.org/drawingml/2006/main" id="27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8534400" y="51625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9A99A6"/>
            </a:solidFill>
            <a:prstDash val="dash"/>
            <a:headEnd type="triangle" w="sm" len="sm"/>
            <a:tailEnd type="triangle" w="sm" len="sm"/>
          </a:ln>
        </p:spPr>
      </p:cxnSp>
      <p:sp>
        <p:nvSpPr>
          <p:cNvPr id="54" name="arch-cluster-title-customer">
            <a:extLst xmlns:a="http://schemas.openxmlformats.org/drawingml/2006/main">
              <a:ext uri="{FF2B5EF4-FFF2-40B4-BE49-F238E27FC236}">
                <a16:creationId xmlns:a16="http://schemas.microsoft.com/office/drawing/2014/main" id="{8190BC03-D5F0-47FF-8F80-54478F1B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5A54FF"/>
                </a:solidFill>
                <a:latin typeface="Calibri"/>
                <a:ea typeface="Calibri"/>
                <a:cs typeface="Calibri"/>
              </a:defRPr>
            </a:pPr>
            <a:r>
              <a:rPr sz="788" b="1">
                <a:solidFill>
                  <a:srgbClr val="5A54FF"/>
                </a:solidFill>
                <a:latin typeface="Calibri"/>
                <a:ea typeface="Calibri"/>
                <a:cs typeface="Calibri"/>
              </a:rPr>
              <a:t>CUSTOMER EXPERIENCE</a:t>
            </a:r>
          </a:p>
        </p:txBody>
      </p:sp>
      <p:sp>
        <p:nvSpPr>
          <p:cNvPr id="55" name="arch-cluster-title-realtime">
            <a:extLst xmlns:a="http://schemas.openxmlformats.org/drawingml/2006/main">
              <a:ext uri="{FF2B5EF4-FFF2-40B4-BE49-F238E27FC236}">
                <a16:creationId xmlns:a16="http://schemas.microsoft.com/office/drawing/2014/main" id="{FC574B3A-8474-4CA2-B253-4154E8BF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24100"/>
            <a:ext cx="2457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5A54FF"/>
                </a:solidFill>
                <a:latin typeface="Calibri"/>
                <a:ea typeface="Calibri"/>
                <a:cs typeface="Calibri"/>
              </a:defRPr>
            </a:pPr>
            <a:r>
              <a:rPr sz="788" b="1">
                <a:solidFill>
                  <a:srgbClr val="5A54FF"/>
                </a:solidFill>
                <a:latin typeface="Calibri"/>
                <a:ea typeface="Calibri"/>
                <a:cs typeface="Calibri"/>
              </a:rPr>
              <a:t>REALTIME ORCHESTRATION</a:t>
            </a:r>
          </a:p>
        </p:txBody>
      </p:sp>
      <p:sp>
        <p:nvSpPr>
          <p:cNvPr id="56" name="arch-cluster-title-control">
            <a:extLst xmlns:a="http://schemas.openxmlformats.org/drawingml/2006/main">
              <a:ext uri="{FF2B5EF4-FFF2-40B4-BE49-F238E27FC236}">
                <a16:creationId xmlns:a16="http://schemas.microsoft.com/office/drawing/2014/main" id="{C8C26719-DA71-4770-8920-B1B6EE06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24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5A54FF"/>
                </a:solidFill>
                <a:latin typeface="Calibri"/>
                <a:ea typeface="Calibri"/>
                <a:cs typeface="Calibri"/>
              </a:defRPr>
            </a:pPr>
            <a:r>
              <a:rPr sz="788" b="1">
                <a:solidFill>
                  <a:srgbClr val="5A54FF"/>
                </a:solidFill>
                <a:latin typeface="Calibri"/>
                <a:ea typeface="Calibri"/>
                <a:cs typeface="Calibri"/>
              </a:rPr>
              <a:t>SERVER CONTROL PLANE</a:t>
            </a:r>
          </a:p>
        </p:txBody>
      </p:sp>
      <p:sp>
        <p:nvSpPr>
          <p:cNvPr id="57" name="arch-cluster-title-state">
            <a:extLst xmlns:a="http://schemas.openxmlformats.org/drawingml/2006/main">
              <a:ext uri="{FF2B5EF4-FFF2-40B4-BE49-F238E27FC236}">
                <a16:creationId xmlns:a16="http://schemas.microsoft.com/office/drawing/2014/main" id="{C7CBB2E4-58D9-46D6-BA51-E286EFC2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24100"/>
            <a:ext cx="2247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5A54FF"/>
                </a:solidFill>
                <a:latin typeface="Calibri"/>
                <a:ea typeface="Calibri"/>
                <a:cs typeface="Calibri"/>
              </a:defRPr>
            </a:pPr>
            <a:r>
              <a:rPr sz="788" b="1">
                <a:solidFill>
                  <a:srgbClr val="5A54FF"/>
                </a:solidFill>
                <a:latin typeface="Calibri"/>
                <a:ea typeface="Calibri"/>
                <a:cs typeface="Calibri"/>
              </a:rPr>
              <a:t>STATE + RETRIEVAL</a:t>
            </a:r>
          </a:p>
        </p:txBody>
      </p:sp>
      <p:sp>
        <p:nvSpPr>
          <p:cNvPr id="58" name="arch-title-sign-in">
            <a:extLst xmlns:a="http://schemas.openxmlformats.org/drawingml/2006/main">
              <a:ext uri="{FF2B5EF4-FFF2-40B4-BE49-F238E27FC236}">
                <a16:creationId xmlns:a16="http://schemas.microsoft.com/office/drawing/2014/main" id="{2A5FC2B0-1523-49B0-9670-64B16307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28925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161C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17161C"/>
                </a:solidFill>
                <a:latin typeface="Calibri"/>
                <a:ea typeface="Calibri"/>
                <a:cs typeface="Calibri"/>
              </a:rPr>
              <a:t>Private inline sign-in</a:t>
            </a:r>
          </a:p>
        </p:txBody>
      </p:sp>
      <p:sp>
        <p:nvSpPr>
          <p:cNvPr id="59" name="arch-detail-sign-in">
            <a:extLst xmlns:a="http://schemas.openxmlformats.org/drawingml/2006/main">
              <a:ext uri="{FF2B5EF4-FFF2-40B4-BE49-F238E27FC236}">
                <a16:creationId xmlns:a16="http://schemas.microsoft.com/office/drawing/2014/main" id="{0352C226-B90C-48E0-A037-C6189091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19425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555461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555461"/>
                </a:solidFill>
                <a:latin typeface="Calibri"/>
                <a:ea typeface="Calibri"/>
                <a:cs typeface="Calibri"/>
              </a:rPr>
              <a:t>credentials never enter chat</a:t>
            </a:r>
          </a:p>
        </p:txBody>
      </p:sp>
      <p:sp>
        <p:nvSpPr>
          <p:cNvPr id="60" name="arch-title-widget">
            <a:extLst xmlns:a="http://schemas.openxmlformats.org/drawingml/2006/main">
              <a:ext uri="{FF2B5EF4-FFF2-40B4-BE49-F238E27FC236}">
                <a16:creationId xmlns:a16="http://schemas.microsoft.com/office/drawing/2014/main" id="{0F7D7F90-B50F-4D4D-B605-27C14714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76675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161C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17161C"/>
                </a:solidFill>
                <a:latin typeface="Calibri"/>
                <a:ea typeface="Calibri"/>
                <a:cs typeface="Calibri"/>
              </a:rPr>
              <a:t>Bookly widget</a:t>
            </a:r>
          </a:p>
        </p:txBody>
      </p:sp>
      <p:sp>
        <p:nvSpPr>
          <p:cNvPr id="61" name="arch-detail-widget">
            <a:extLst xmlns:a="http://schemas.openxmlformats.org/drawingml/2006/main">
              <a:ext uri="{FF2B5EF4-FFF2-40B4-BE49-F238E27FC236}">
                <a16:creationId xmlns:a16="http://schemas.microsoft.com/office/drawing/2014/main" id="{360678AB-72FD-4127-9109-E73FE178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67175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555461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555461"/>
                </a:solidFill>
                <a:latin typeface="Calibri"/>
                <a:ea typeface="Calibri"/>
                <a:cs typeface="Calibri"/>
              </a:rPr>
              <a:t>UI · event relay · tool cards</a:t>
            </a:r>
          </a:p>
        </p:txBody>
      </p:sp>
      <p:sp>
        <p:nvSpPr>
          <p:cNvPr id="62" name="arch-title-customer">
            <a:extLst xmlns:a="http://schemas.openxmlformats.org/drawingml/2006/main">
              <a:ext uri="{FF2B5EF4-FFF2-40B4-BE49-F238E27FC236}">
                <a16:creationId xmlns:a16="http://schemas.microsoft.com/office/drawing/2014/main" id="{4FC88246-756E-40C1-9FAF-7620F3D1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24425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161C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17161C"/>
                </a:solidFill>
                <a:latin typeface="Calibri"/>
                <a:ea typeface="Calibri"/>
                <a:cs typeface="Calibri"/>
              </a:rPr>
              <a:t>Customer</a:t>
            </a:r>
          </a:p>
        </p:txBody>
      </p:sp>
      <p:sp>
        <p:nvSpPr>
          <p:cNvPr id="63" name="arch-detail-customer">
            <a:extLst xmlns:a="http://schemas.openxmlformats.org/drawingml/2006/main">
              <a:ext uri="{FF2B5EF4-FFF2-40B4-BE49-F238E27FC236}">
                <a16:creationId xmlns:a16="http://schemas.microsoft.com/office/drawing/2014/main" id="{13483E2F-EB24-46B1-AD71-007FDB1C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14925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555461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555461"/>
                </a:solidFill>
                <a:latin typeface="Calibri"/>
                <a:ea typeface="Calibri"/>
                <a:cs typeface="Calibri"/>
              </a:rPr>
              <a:t>text · voice · interruption</a:t>
            </a:r>
          </a:p>
        </p:txBody>
      </p:sp>
      <p:sp>
        <p:nvSpPr>
          <p:cNvPr id="64" name="arch-title-realtime-api">
            <a:extLst xmlns:a="http://schemas.openxmlformats.org/drawingml/2006/main">
              <a:ext uri="{FF2B5EF4-FFF2-40B4-BE49-F238E27FC236}">
                <a16:creationId xmlns:a16="http://schemas.microsoft.com/office/drawing/2014/main" id="{2C799B2D-6F11-424B-AC6D-559DD53B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28925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161C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17161C"/>
                </a:solidFill>
                <a:latin typeface="Calibri"/>
                <a:ea typeface="Calibri"/>
                <a:cs typeface="Calibri"/>
              </a:rPr>
              <a:t>/api/realtime</a:t>
            </a:r>
          </a:p>
        </p:txBody>
      </p:sp>
      <p:sp>
        <p:nvSpPr>
          <p:cNvPr id="65" name="arch-detail-realtime-api">
            <a:extLst xmlns:a="http://schemas.openxmlformats.org/drawingml/2006/main">
              <a:ext uri="{FF2B5EF4-FFF2-40B4-BE49-F238E27FC236}">
                <a16:creationId xmlns:a16="http://schemas.microsoft.com/office/drawing/2014/main" id="{3B9D3DB3-627F-45D4-8C7B-DD4761F7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1942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555461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555461"/>
                </a:solidFill>
                <a:latin typeface="Calibri"/>
                <a:ea typeface="Calibri"/>
                <a:cs typeface="Calibri"/>
              </a:rPr>
              <a:t>server key · SDP answer</a:t>
            </a:r>
          </a:p>
        </p:txBody>
      </p:sp>
      <p:sp>
        <p:nvSpPr>
          <p:cNvPr id="66" name="arch-title-session-contract">
            <a:extLst xmlns:a="http://schemas.openxmlformats.org/drawingml/2006/main">
              <a:ext uri="{FF2B5EF4-FFF2-40B4-BE49-F238E27FC236}">
                <a16:creationId xmlns:a16="http://schemas.microsoft.com/office/drawing/2014/main" id="{90472BB9-0F4E-4F0C-9F45-789A1CFC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76675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161C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17161C"/>
                </a:solidFill>
                <a:latin typeface="Calibri"/>
                <a:ea typeface="Calibri"/>
                <a:cs typeface="Calibri"/>
              </a:rPr>
              <a:t>Session contract</a:t>
            </a:r>
          </a:p>
        </p:txBody>
      </p:sp>
      <p:sp>
        <p:nvSpPr>
          <p:cNvPr id="67" name="arch-detail-session-contract">
            <a:extLst xmlns:a="http://schemas.openxmlformats.org/drawingml/2006/main">
              <a:ext uri="{FF2B5EF4-FFF2-40B4-BE49-F238E27FC236}">
                <a16:creationId xmlns:a16="http://schemas.microsoft.com/office/drawing/2014/main" id="{0D77FB5F-FD95-4FA6-8D50-088B87B5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6717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555461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555461"/>
                </a:solidFill>
                <a:latin typeface="Calibri"/>
                <a:ea typeface="Calibri"/>
                <a:cs typeface="Calibri"/>
              </a:rPr>
              <a:t>prompt · 29 schemas · semantic VAD</a:t>
            </a:r>
          </a:p>
        </p:txBody>
      </p:sp>
      <p:sp>
        <p:nvSpPr>
          <p:cNvPr id="68" name="arch-title-gpt-realtime">
            <a:extLst xmlns:a="http://schemas.openxmlformats.org/drawingml/2006/main">
              <a:ext uri="{FF2B5EF4-FFF2-40B4-BE49-F238E27FC236}">
                <a16:creationId xmlns:a16="http://schemas.microsoft.com/office/drawing/2014/main" id="{B3F10088-77B6-4392-AA3B-5249006D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24425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GPT-Realtime-2.1</a:t>
            </a:r>
          </a:p>
        </p:txBody>
      </p:sp>
      <p:sp>
        <p:nvSpPr>
          <p:cNvPr id="69" name="arch-detail-gpt-realtime">
            <a:extLst xmlns:a="http://schemas.openxmlformats.org/drawingml/2006/main">
              <a:ext uri="{FF2B5EF4-FFF2-40B4-BE49-F238E27FC236}">
                <a16:creationId xmlns:a16="http://schemas.microsoft.com/office/drawing/2014/main" id="{94DCD68A-89A6-40A2-AC25-DE1312D6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11492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EAE9FF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EAE9FF"/>
                </a:solidFill>
                <a:latin typeface="Calibri"/>
                <a:ea typeface="Calibri"/>
                <a:cs typeface="Calibri"/>
              </a:rPr>
              <a:t>dialogue · tool choice · arguments</a:t>
            </a:r>
          </a:p>
        </p:txBody>
      </p:sp>
      <p:sp>
        <p:nvSpPr>
          <p:cNvPr id="70" name="arch-title-domain-executors">
            <a:extLst xmlns:a="http://schemas.openxmlformats.org/drawingml/2006/main">
              <a:ext uri="{FF2B5EF4-FFF2-40B4-BE49-F238E27FC236}">
                <a16:creationId xmlns:a16="http://schemas.microsoft.com/office/drawing/2014/main" id="{7F8B0145-66CE-400C-BD05-FD025611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38425"/>
            <a:ext cx="251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161C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17161C"/>
                </a:solidFill>
                <a:latin typeface="Calibri"/>
                <a:ea typeface="Calibri"/>
                <a:cs typeface="Calibri"/>
              </a:rPr>
              <a:t>Domain executors</a:t>
            </a:r>
          </a:p>
        </p:txBody>
      </p:sp>
      <p:sp>
        <p:nvSpPr>
          <p:cNvPr id="71" name="arch-detail-domain-executors">
            <a:extLst xmlns:a="http://schemas.openxmlformats.org/drawingml/2006/main">
              <a:ext uri="{FF2B5EF4-FFF2-40B4-BE49-F238E27FC236}">
                <a16:creationId xmlns:a16="http://schemas.microsoft.com/office/drawing/2014/main" id="{64A00584-48D2-40B0-9E33-5DF517C4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1940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555461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555461"/>
                </a:solidFill>
                <a:latin typeface="Calibri"/>
                <a:ea typeface="Calibri"/>
                <a:cs typeface="Calibri"/>
              </a:rPr>
              <a:t>commerce · resolution · support</a:t>
            </a:r>
          </a:p>
        </p:txBody>
      </p:sp>
      <p:sp>
        <p:nvSpPr>
          <p:cNvPr id="72" name="arch-title-guarded-engine">
            <a:extLst xmlns:a="http://schemas.openxmlformats.org/drawingml/2006/main">
              <a:ext uri="{FF2B5EF4-FFF2-40B4-BE49-F238E27FC236}">
                <a16:creationId xmlns:a16="http://schemas.microsoft.com/office/drawing/2014/main" id="{F8451ABD-2340-4BA0-91B1-6C24F98B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09925"/>
            <a:ext cx="251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161C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17161C"/>
                </a:solidFill>
                <a:latin typeface="Calibri"/>
                <a:ea typeface="Calibri"/>
                <a:cs typeface="Calibri"/>
              </a:rPr>
              <a:t>Guarded action engine</a:t>
            </a:r>
          </a:p>
        </p:txBody>
      </p:sp>
      <p:sp>
        <p:nvSpPr>
          <p:cNvPr id="73" name="arch-detail-guarded-engine">
            <a:extLst xmlns:a="http://schemas.openxmlformats.org/drawingml/2006/main">
              <a:ext uri="{FF2B5EF4-FFF2-40B4-BE49-F238E27FC236}">
                <a16:creationId xmlns:a16="http://schemas.microsoft.com/office/drawing/2014/main" id="{982E05ED-CC38-489B-BD0D-31C0B8C0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9090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555461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555461"/>
                </a:solidFill>
                <a:latin typeface="Calibri"/>
                <a:ea typeface="Calibri"/>
                <a:cs typeface="Calibri"/>
              </a:rPr>
              <a:t>ownership · policy · quote · revalidation</a:t>
            </a:r>
          </a:p>
        </p:txBody>
      </p:sp>
      <p:sp>
        <p:nvSpPr>
          <p:cNvPr id="74" name="arch-title-history-trace">
            <a:extLst xmlns:a="http://schemas.openxmlformats.org/drawingml/2006/main">
              <a:ext uri="{FF2B5EF4-FFF2-40B4-BE49-F238E27FC236}">
                <a16:creationId xmlns:a16="http://schemas.microsoft.com/office/drawing/2014/main" id="{B996190A-5D2E-48FA-B594-BB4BF353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81425"/>
            <a:ext cx="251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161C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17161C"/>
                </a:solidFill>
                <a:latin typeface="Calibri"/>
                <a:ea typeface="Calibri"/>
                <a:cs typeface="Calibri"/>
              </a:rPr>
              <a:t>History + trace writer</a:t>
            </a:r>
          </a:p>
        </p:txBody>
      </p:sp>
      <p:sp>
        <p:nvSpPr>
          <p:cNvPr id="75" name="arch-detail-history-trace">
            <a:extLst xmlns:a="http://schemas.openxmlformats.org/drawingml/2006/main">
              <a:ext uri="{FF2B5EF4-FFF2-40B4-BE49-F238E27FC236}">
                <a16:creationId xmlns:a16="http://schemas.microsoft.com/office/drawing/2014/main" id="{77C241A6-55C3-4AD8-93C8-39FA96D1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6240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555461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555461"/>
                </a:solidFill>
                <a:latin typeface="Calibri"/>
                <a:ea typeface="Calibri"/>
                <a:cs typeface="Calibri"/>
              </a:rPr>
              <a:t>input/output · status · latency</a:t>
            </a:r>
          </a:p>
        </p:txBody>
      </p:sp>
      <p:sp>
        <p:nvSpPr>
          <p:cNvPr id="76" name="arch-title-session-resolver">
            <a:extLst xmlns:a="http://schemas.openxmlformats.org/drawingml/2006/main">
              <a:ext uri="{FF2B5EF4-FFF2-40B4-BE49-F238E27FC236}">
                <a16:creationId xmlns:a16="http://schemas.microsoft.com/office/drawing/2014/main" id="{C78386CC-FD3E-41B9-ACBB-ADEBFCBE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52925"/>
            <a:ext cx="251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161C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17161C"/>
                </a:solidFill>
                <a:latin typeface="Calibri"/>
                <a:ea typeface="Calibri"/>
                <a:cs typeface="Calibri"/>
              </a:rPr>
              <a:t>Session resolver</a:t>
            </a:r>
          </a:p>
        </p:txBody>
      </p:sp>
      <p:sp>
        <p:nvSpPr>
          <p:cNvPr id="77" name="arch-detail-session-resolver">
            <a:extLst xmlns:a="http://schemas.openxmlformats.org/drawingml/2006/main">
              <a:ext uri="{FF2B5EF4-FFF2-40B4-BE49-F238E27FC236}">
                <a16:creationId xmlns:a16="http://schemas.microsoft.com/office/drawing/2014/main" id="{3E5AE1D8-4C63-4C52-BDB1-26F65297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3390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555461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555461"/>
                </a:solidFill>
                <a:latin typeface="Calibri"/>
                <a:ea typeface="Calibri"/>
                <a:cs typeface="Calibri"/>
              </a:rPr>
              <a:t>signed HttpOnly cookie + sessionId</a:t>
            </a:r>
          </a:p>
        </p:txBody>
      </p:sp>
      <p:sp>
        <p:nvSpPr>
          <p:cNvPr id="78" name="arch-title-tools-api">
            <a:extLst xmlns:a="http://schemas.openxmlformats.org/drawingml/2006/main">
              <a:ext uri="{FF2B5EF4-FFF2-40B4-BE49-F238E27FC236}">
                <a16:creationId xmlns:a16="http://schemas.microsoft.com/office/drawing/2014/main" id="{F43116A7-F2B9-47D0-ABD0-745371DE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924425"/>
            <a:ext cx="251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/api/tools</a:t>
            </a:r>
          </a:p>
        </p:txBody>
      </p:sp>
      <p:sp>
        <p:nvSpPr>
          <p:cNvPr id="79" name="arch-detail-tools-api">
            <a:extLst xmlns:a="http://schemas.openxmlformats.org/drawingml/2006/main">
              <a:ext uri="{FF2B5EF4-FFF2-40B4-BE49-F238E27FC236}">
                <a16:creationId xmlns:a16="http://schemas.microsoft.com/office/drawing/2014/main" id="{5BFC3AEB-D98A-4EED-9AE8-B0AFA058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11492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E7E6EB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E7E6EB"/>
                </a:solidFill>
                <a:latin typeface="Calibri"/>
                <a:ea typeface="Calibri"/>
                <a:cs typeface="Calibri"/>
              </a:rPr>
              <a:t>Zod envelope · callId · safe errors</a:t>
            </a:r>
          </a:p>
        </p:txBody>
      </p:sp>
      <p:sp>
        <p:nvSpPr>
          <p:cNvPr id="80" name="arch-title-lancedb">
            <a:extLst xmlns:a="http://schemas.openxmlformats.org/drawingml/2006/main">
              <a:ext uri="{FF2B5EF4-FFF2-40B4-BE49-F238E27FC236}">
                <a16:creationId xmlns:a16="http://schemas.microsoft.com/office/drawing/2014/main" id="{E27CC88A-B35E-4EBB-8D3C-741567DA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38425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161C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17161C"/>
                </a:solidFill>
                <a:latin typeface="Calibri"/>
                <a:ea typeface="Calibri"/>
                <a:cs typeface="Calibri"/>
              </a:rPr>
              <a:t>LanceDB</a:t>
            </a:r>
          </a:p>
        </p:txBody>
      </p:sp>
      <p:sp>
        <p:nvSpPr>
          <p:cNvPr id="81" name="arch-detail-lancedb">
            <a:extLst xmlns:a="http://schemas.openxmlformats.org/drawingml/2006/main">
              <a:ext uri="{FF2B5EF4-FFF2-40B4-BE49-F238E27FC236}">
                <a16:creationId xmlns:a16="http://schemas.microsoft.com/office/drawing/2014/main" id="{DB2EB94E-E773-4FAB-99B9-118E184D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2892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555461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555461"/>
                </a:solidFill>
                <a:latin typeface="Calibri"/>
                <a:ea typeface="Calibri"/>
                <a:cs typeface="Calibri"/>
              </a:rPr>
              <a:t>prefiltered policy + catalog RAG</a:t>
            </a:r>
          </a:p>
        </p:txBody>
      </p:sp>
      <p:sp>
        <p:nvSpPr>
          <p:cNvPr id="82" name="arch-title-sqlite">
            <a:extLst xmlns:a="http://schemas.openxmlformats.org/drawingml/2006/main">
              <a:ext uri="{FF2B5EF4-FFF2-40B4-BE49-F238E27FC236}">
                <a16:creationId xmlns:a16="http://schemas.microsoft.com/office/drawing/2014/main" id="{F4E99CB3-D6BF-4F21-90C2-12DCC1CB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86175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161C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17161C"/>
                </a:solidFill>
                <a:latin typeface="Calibri"/>
                <a:ea typeface="Calibri"/>
                <a:cs typeface="Calibri"/>
              </a:rPr>
              <a:t>SQLite</a:t>
            </a:r>
          </a:p>
        </p:txBody>
      </p:sp>
      <p:sp>
        <p:nvSpPr>
          <p:cNvPr id="83" name="arch-detail-sqlite">
            <a:extLst xmlns:a="http://schemas.openxmlformats.org/drawingml/2006/main">
              <a:ext uri="{FF2B5EF4-FFF2-40B4-BE49-F238E27FC236}">
                <a16:creationId xmlns:a16="http://schemas.microsoft.com/office/drawing/2014/main" id="{E6A772C8-EDF8-4407-BC61-36212147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76675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82" b="0">
                <a:solidFill>
                  <a:srgbClr val="555461"/>
                </a:solidFill>
                <a:latin typeface="Calibri"/>
                <a:ea typeface="Calibri"/>
                <a:cs typeface="Calibri"/>
              </a:defRPr>
            </a:pPr>
            <a:r>
              <a:rPr sz="682" b="0">
                <a:solidFill>
                  <a:srgbClr val="555461"/>
                </a:solidFill>
                <a:latin typeface="Calibri"/>
                <a:ea typeface="Calibri"/>
                <a:cs typeface="Calibri"/>
              </a:rPr>
              <a:t>customers · orders · carts · quotes</a:t>
            </a:r>
          </a:p>
          <a:p xmlns:a="http://schemas.openxmlformats.org/drawingml/2006/main">
            <a:pPr algn="ctr">
              <a:buNone/>
              <a:defRPr sz="682" b="0">
                <a:solidFill>
                  <a:srgbClr val="555461"/>
                </a:solidFill>
                <a:latin typeface="Calibri"/>
                <a:ea typeface="Calibri"/>
                <a:cs typeface="Calibri"/>
              </a:defRPr>
            </a:pPr>
            <a:r>
              <a:rPr sz="682" b="0">
                <a:solidFill>
                  <a:srgbClr val="555461"/>
                </a:solidFill>
                <a:latin typeface="Calibri"/>
                <a:ea typeface="Calibri"/>
                <a:cs typeface="Calibri"/>
              </a:rPr>
              <a:t>history · audit · refunds · cases</a:t>
            </a:r>
          </a:p>
        </p:txBody>
      </p:sp>
      <p:sp>
        <p:nvSpPr>
          <p:cNvPr id="84" name="arch-title-production-adapters">
            <a:extLst xmlns:a="http://schemas.openxmlformats.org/drawingml/2006/main">
              <a:ext uri="{FF2B5EF4-FFF2-40B4-BE49-F238E27FC236}">
                <a16:creationId xmlns:a16="http://schemas.microsoft.com/office/drawing/2014/main" id="{4A015B38-C6DA-44C3-A64A-766A3491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24425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161C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17161C"/>
                </a:solidFill>
                <a:latin typeface="Calibri"/>
                <a:ea typeface="Calibri"/>
                <a:cs typeface="Calibri"/>
              </a:rPr>
              <a:t>Production adapters</a:t>
            </a:r>
          </a:p>
        </p:txBody>
      </p:sp>
      <p:sp>
        <p:nvSpPr>
          <p:cNvPr id="85" name="arch-detail-production-adapters">
            <a:extLst xmlns:a="http://schemas.openxmlformats.org/drawingml/2006/main">
              <a:ext uri="{FF2B5EF4-FFF2-40B4-BE49-F238E27FC236}">
                <a16:creationId xmlns:a16="http://schemas.microsoft.com/office/drawing/2014/main" id="{6348481A-C399-4176-AA01-CB896C70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11492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555461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555461"/>
                </a:solidFill>
                <a:latin typeface="Calibri"/>
                <a:ea typeface="Calibri"/>
                <a:cs typeface="Calibri"/>
              </a:rPr>
              <a:t>identity · OMS · payments · fulfillment</a:t>
            </a:r>
          </a:p>
        </p:txBody>
      </p:sp>
      <p:sp>
        <p:nvSpPr>
          <p:cNvPr id="86" name="arch-label-sdp">
            <a:extLst xmlns:a="http://schemas.openxmlformats.org/drawingml/2006/main">
              <a:ext uri="{FF2B5EF4-FFF2-40B4-BE49-F238E27FC236}">
                <a16:creationId xmlns:a16="http://schemas.microsoft.com/office/drawing/2014/main" id="{E5D2718E-D10C-484D-B4F4-B82EAA20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5280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53" b="0">
                <a:solidFill>
                  <a:srgbClr val="777684"/>
                </a:solidFill>
                <a:latin typeface="Calibri"/>
                <a:ea typeface="Calibri"/>
                <a:cs typeface="Calibri"/>
              </a:defRPr>
            </a:pPr>
            <a:r>
              <a:rPr sz="653" b="0">
                <a:solidFill>
                  <a:srgbClr val="777684"/>
                </a:solidFill>
                <a:latin typeface="Calibri"/>
                <a:ea typeface="Calibri"/>
                <a:cs typeface="Calibri"/>
              </a:rPr>
              <a:t>SDP</a:t>
            </a:r>
          </a:p>
        </p:txBody>
      </p:sp>
      <p:sp>
        <p:nvSpPr>
          <p:cNvPr id="87" name="arch-label-webrtc">
            <a:extLst xmlns:a="http://schemas.openxmlformats.org/drawingml/2006/main">
              <a:ext uri="{FF2B5EF4-FFF2-40B4-BE49-F238E27FC236}">
                <a16:creationId xmlns:a16="http://schemas.microsoft.com/office/drawing/2014/main" id="{AA268884-3DE4-4412-BBA6-B84D2F5E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67250"/>
            <a:ext cx="495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53" b="0">
                <a:solidFill>
                  <a:srgbClr val="777684"/>
                </a:solidFill>
                <a:latin typeface="Calibri"/>
                <a:ea typeface="Calibri"/>
                <a:cs typeface="Calibri"/>
              </a:defRPr>
            </a:pPr>
            <a:r>
              <a:rPr sz="653" b="0">
                <a:solidFill>
                  <a:srgbClr val="777684"/>
                </a:solidFill>
                <a:latin typeface="Calibri"/>
                <a:ea typeface="Calibri"/>
                <a:cs typeface="Calibri"/>
              </a:rPr>
              <a:t>WebRTC</a:t>
            </a:r>
          </a:p>
        </p:txBody>
      </p:sp>
      <p:sp>
        <p:nvSpPr>
          <p:cNvPr id="88" name="arch-label-signed-session">
            <a:extLst xmlns:a="http://schemas.openxmlformats.org/drawingml/2006/main">
              <a:ext uri="{FF2B5EF4-FFF2-40B4-BE49-F238E27FC236}">
                <a16:creationId xmlns:a16="http://schemas.microsoft.com/office/drawing/2014/main" id="{09A89CB1-C3B6-4A8F-9077-169E4F39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71750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53" b="0">
                <a:solidFill>
                  <a:srgbClr val="777684"/>
                </a:solidFill>
                <a:latin typeface="Calibri"/>
                <a:ea typeface="Calibri"/>
                <a:cs typeface="Calibri"/>
              </a:defRPr>
            </a:pPr>
            <a:r>
              <a:rPr sz="653" b="0">
                <a:solidFill>
                  <a:srgbClr val="777684"/>
                </a:solidFill>
                <a:latin typeface="Calibri"/>
                <a:ea typeface="Calibri"/>
                <a:cs typeface="Calibri"/>
              </a:rPr>
              <a:t>signed session</a:t>
            </a:r>
          </a:p>
        </p:txBody>
      </p:sp>
      <p:sp>
        <p:nvSpPr>
          <p:cNvPr id="89" name="arch-label-call-result">
            <a:extLst xmlns:a="http://schemas.openxmlformats.org/drawingml/2006/main">
              <a:ext uri="{FF2B5EF4-FFF2-40B4-BE49-F238E27FC236}">
                <a16:creationId xmlns:a16="http://schemas.microsoft.com/office/drawing/2014/main" id="{6F3FEF4B-5F42-4ED9-8BB2-B3E06912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863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53" b="0">
                <a:solidFill>
                  <a:srgbClr val="777684"/>
                </a:solidFill>
                <a:latin typeface="Calibri"/>
                <a:ea typeface="Calibri"/>
                <a:cs typeface="Calibri"/>
              </a:defRPr>
            </a:pPr>
            <a:r>
              <a:rPr sz="653" b="0">
                <a:solidFill>
                  <a:srgbClr val="777684"/>
                </a:solidFill>
                <a:latin typeface="Calibri"/>
                <a:ea typeface="Calibri"/>
                <a:cs typeface="Calibri"/>
              </a:rPr>
              <a:t>widget relay</a:t>
            </a:r>
          </a:p>
        </p:txBody>
      </p:sp>
      <p:sp>
        <p:nvSpPr>
          <p:cNvPr id="90" name="arch-label-rag">
            <a:extLst xmlns:a="http://schemas.openxmlformats.org/drawingml/2006/main">
              <a:ext uri="{FF2B5EF4-FFF2-40B4-BE49-F238E27FC236}">
                <a16:creationId xmlns:a16="http://schemas.microsoft.com/office/drawing/2014/main" id="{20C8D17B-6814-4FDB-8BBA-FED5D959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438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53" b="0">
                <a:solidFill>
                  <a:srgbClr val="777684"/>
                </a:solidFill>
                <a:latin typeface="Calibri"/>
                <a:ea typeface="Calibri"/>
                <a:cs typeface="Calibri"/>
              </a:defRPr>
            </a:pPr>
            <a:r>
              <a:rPr sz="653" b="0">
                <a:solidFill>
                  <a:srgbClr val="777684"/>
                </a:solidFill>
                <a:latin typeface="Calibri"/>
                <a:ea typeface="Calibri"/>
                <a:cs typeface="Calibri"/>
              </a:rPr>
              <a:t>RAG</a:t>
            </a:r>
          </a:p>
        </p:txBody>
      </p:sp>
      <p:sp>
        <p:nvSpPr>
          <p:cNvPr id="91" name="arch-label-transaction">
            <a:extLst xmlns:a="http://schemas.openxmlformats.org/drawingml/2006/main">
              <a:ext uri="{FF2B5EF4-FFF2-40B4-BE49-F238E27FC236}">
                <a16:creationId xmlns:a16="http://schemas.microsoft.com/office/drawing/2014/main" id="{87104838-D0FA-40BE-8E3D-227E6155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337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53" b="0">
                <a:solidFill>
                  <a:srgbClr val="777684"/>
                </a:solidFill>
                <a:latin typeface="Calibri"/>
                <a:ea typeface="Calibri"/>
                <a:cs typeface="Calibri"/>
              </a:defRPr>
            </a:pPr>
            <a:r>
              <a:rPr sz="653" b="0">
                <a:solidFill>
                  <a:srgbClr val="777684"/>
                </a:solidFill>
                <a:latin typeface="Calibri"/>
                <a:ea typeface="Calibri"/>
                <a:cs typeface="Calibri"/>
              </a:rPr>
              <a:t>transaction</a:t>
            </a:r>
          </a:p>
        </p:txBody>
      </p:sp>
      <p:sp>
        <p:nvSpPr>
          <p:cNvPr id="92" name="arch-label-trace">
            <a:extLst xmlns:a="http://schemas.openxmlformats.org/drawingml/2006/main">
              <a:ext uri="{FF2B5EF4-FFF2-40B4-BE49-F238E27FC236}">
                <a16:creationId xmlns:a16="http://schemas.microsoft.com/office/drawing/2014/main" id="{BA8C77C4-65D1-4B21-8A55-0E7A501C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43350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53" b="0">
                <a:solidFill>
                  <a:srgbClr val="777684"/>
                </a:solidFill>
                <a:latin typeface="Calibri"/>
                <a:ea typeface="Calibri"/>
                <a:cs typeface="Calibri"/>
              </a:defRPr>
            </a:pPr>
            <a:r>
              <a:rPr sz="653" b="0">
                <a:solidFill>
                  <a:srgbClr val="777684"/>
                </a:solidFill>
                <a:latin typeface="Calibri"/>
                <a:ea typeface="Calibri"/>
                <a:cs typeface="Calibri"/>
              </a:rPr>
              <a:t>trace</a:t>
            </a:r>
          </a:p>
        </p:txBody>
      </p:sp>
      <p:sp>
        <p:nvSpPr>
          <p:cNvPr id="93" name="arch-label-same-contracts">
            <a:extLst xmlns:a="http://schemas.openxmlformats.org/drawingml/2006/main">
              <a:ext uri="{FF2B5EF4-FFF2-40B4-BE49-F238E27FC236}">
                <a16:creationId xmlns:a16="http://schemas.microsoft.com/office/drawing/2014/main" id="{D461E23A-05F5-4D12-8057-6924F3D5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2920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53" b="0">
                <a:solidFill>
                  <a:srgbClr val="777684"/>
                </a:solidFill>
                <a:latin typeface="Calibri"/>
                <a:ea typeface="Calibri"/>
                <a:cs typeface="Calibri"/>
              </a:defRPr>
            </a:pPr>
            <a:r>
              <a:rPr sz="653" b="0">
                <a:solidFill>
                  <a:srgbClr val="777684"/>
                </a:solidFill>
                <a:latin typeface="Calibri"/>
                <a:ea typeface="Calibri"/>
                <a:cs typeface="Calibri"/>
              </a:rPr>
              <a:t>same contracts</a:t>
            </a:r>
          </a:p>
        </p:txBody>
      </p:sp>
    </p:spTree>
    <p:extLst>
      <p:ext uri="{BB962C8B-B14F-4D97-AF65-F5344CB8AC3E}">
        <p14:creationId xmlns:p14="http://schemas.microsoft.com/office/powerpoint/2010/main" val="2602399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4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8f2a6645934793">
            <a:extLst>
              <a:ext uri="{96DAC541-7B7A-43D3-8B79-37D633B846F1}">
                <asvg:svgBlip xmlns:asvg="http://schemas.microsoft.com/office/drawing/2016/SVG/main" r:embed="R2afc6e51d1eb44a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57200"/>
            <a:ext cx="1752600" cy="381518"/>
          </a:xfrm>
          <a:prstGeom xmlns:a="http://schemas.openxmlformats.org/drawingml/2006/main" prst="rect">
            <a:avLst/>
          </a:prstGeom>
        </p:spPr>
      </p:pic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DD50233B-9DA0-48E2-ABB4-53B010C9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754FF"/>
                </a:solidFill>
              </a:defRPr>
            </a:pPr>
            <a:r>
              <a:rPr sz="975" b="1">
                <a:solidFill>
                  <a:srgbClr val="5754FF"/>
                </a:solidFill>
              </a:rPr>
              <a:t>TOOL CALL LIFECYCLE</a:t>
            </a:r>
          </a:p>
        </p:txBody>
      </p:sp>
      <p:sp>
        <p:nvSpPr>
          <p:cNvPr id="3" name="timeline-title">
            <a:extLst xmlns:a="http://schemas.openxmlformats.org/drawingml/2006/main">
              <a:ext uri="{FF2B5EF4-FFF2-40B4-BE49-F238E27FC236}">
                <a16:creationId xmlns:a16="http://schemas.microsoft.com/office/drawing/2014/main" id="{FAF42F0D-8866-4C23-9D03-871B8F7E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A0A0B"/>
                </a:solidFill>
              </a:defRPr>
            </a:pPr>
            <a:r>
              <a:rPr sz="3150" b="1">
                <a:solidFill>
                  <a:srgbClr val="0A0A0B"/>
                </a:solidFill>
              </a:rPr>
              <a:t>GPT requests; Bookly executes.</a:t>
            </a:r>
          </a:p>
        </p:txBody>
      </p:sp>
      <p:sp>
        <p:nvSpPr>
          <p:cNvPr id="4" name="timeline-subtitle">
            <a:extLst xmlns:a="http://schemas.openxmlformats.org/drawingml/2006/main">
              <a:ext uri="{FF2B5EF4-FFF2-40B4-BE49-F238E27FC236}">
                <a16:creationId xmlns:a16="http://schemas.microsoft.com/office/drawing/2014/main" id="{C2B64123-4713-416C-A06E-C62E13EC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002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4E4E56"/>
                </a:solidFill>
              </a:defRPr>
            </a:pPr>
            <a:r>
              <a:rPr sz="1350">
                <a:solidFill>
                  <a:srgbClr val="4E4E56"/>
                </a:solidFill>
              </a:rPr>
              <a:t>WebRTC keeps the conversation live while deterministic server code owns trust and consequences.</a:t>
            </a:r>
          </a:p>
        </p:txBody>
      </p:sp>
      <p:sp>
        <p:nvSpPr>
          <p:cNvPr id="5" name="timeline-connector">
            <a:extLst xmlns:a="http://schemas.openxmlformats.org/drawingml/2006/main">
              <a:ext uri="{FF2B5EF4-FFF2-40B4-BE49-F238E27FC236}">
                <a16:creationId xmlns:a16="http://schemas.microsoft.com/office/drawing/2014/main" id="{7DB401AC-EF7A-4FF3-A451-903EE534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76625"/>
            <a:ext cx="851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meline-node-0">
            <a:extLst xmlns:a="http://schemas.openxmlformats.org/drawingml/2006/main">
              <a:ext uri="{FF2B5EF4-FFF2-40B4-BE49-F238E27FC236}">
                <a16:creationId xmlns:a16="http://schemas.microsoft.com/office/drawing/2014/main" id="{34601CB7-2054-49B1-929E-3CE127C1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051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meline-node-center-0">
            <a:extLst xmlns:a="http://schemas.openxmlformats.org/drawingml/2006/main">
              <a:ext uri="{FF2B5EF4-FFF2-40B4-BE49-F238E27FC236}">
                <a16:creationId xmlns:a16="http://schemas.microsoft.com/office/drawing/2014/main" id="{941F1DFA-331F-4260-B92E-7B671C55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194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eline-number-0">
            <a:extLst xmlns:a="http://schemas.openxmlformats.org/drawingml/2006/main">
              <a:ext uri="{FF2B5EF4-FFF2-40B4-BE49-F238E27FC236}">
                <a16:creationId xmlns:a16="http://schemas.microsoft.com/office/drawing/2014/main" id="{0AE312FA-409E-48F0-A774-50773212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24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754FF"/>
                </a:solidFill>
              </a:defRPr>
            </a:pPr>
            <a:r>
              <a:rPr sz="1050" b="1">
                <a:solidFill>
                  <a:srgbClr val="5754FF"/>
                </a:solidFill>
              </a:rPr>
              <a:t>01</a:t>
            </a:r>
          </a:p>
        </p:txBody>
      </p:sp>
      <p:sp>
        <p:nvSpPr>
          <p:cNvPr id="9" name="timeline-step-0">
            <a:extLst xmlns:a="http://schemas.openxmlformats.org/drawingml/2006/main">
              <a:ext uri="{FF2B5EF4-FFF2-40B4-BE49-F238E27FC236}">
                <a16:creationId xmlns:a16="http://schemas.microsoft.com/office/drawing/2014/main" id="{BD342035-0293-4CD3-9260-02FC1139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528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A0A0B"/>
                </a:solidFill>
              </a:defRPr>
            </a:pPr>
            <a:r>
              <a:rPr sz="2100" b="1">
                <a:solidFill>
                  <a:srgbClr val="0A0A0B"/>
                </a:solidFill>
              </a:rPr>
              <a:t>Connect</a:t>
            </a:r>
          </a:p>
        </p:txBody>
      </p:sp>
      <p:sp>
        <p:nvSpPr>
          <p:cNvPr id="10" name="timeline-desc-0">
            <a:extLst xmlns:a="http://schemas.openxmlformats.org/drawingml/2006/main">
              <a:ext uri="{FF2B5EF4-FFF2-40B4-BE49-F238E27FC236}">
                <a16:creationId xmlns:a16="http://schemas.microsoft.com/office/drawing/2014/main" id="{6BBDCCB6-4E11-4FC5-9CB8-85B0D5EC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005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E4E56"/>
                </a:solidFill>
              </a:defRPr>
            </a:pPr>
            <a:r>
              <a:rPr sz="1275">
                <a:solidFill>
                  <a:srgbClr val="4E4E56"/>
                </a:solidFill>
              </a:rPr>
              <a:t>Browser posts SDP</a:t>
            </a:r>
          </a:p>
          <a:p xmlns:a="http://schemas.openxmlformats.org/drawingml/2006/main">
            <a:pPr>
              <a:buNone/>
              <a:defRPr sz="1275">
                <a:solidFill>
                  <a:srgbClr val="4E4E56"/>
                </a:solidFill>
              </a:defRPr>
            </a:pPr>
            <a:r>
              <a:rPr sz="1275">
                <a:solidFill>
                  <a:srgbClr val="4E4E56"/>
                </a:solidFill>
              </a:rPr>
              <a:t>WebRTC carries audio + events</a:t>
            </a:r>
          </a:p>
        </p:txBody>
      </p:sp>
      <p:sp>
        <p:nvSpPr>
          <p:cNvPr id="11" name="timeline-node-1">
            <a:extLst xmlns:a="http://schemas.openxmlformats.org/drawingml/2006/main">
              <a:ext uri="{FF2B5EF4-FFF2-40B4-BE49-F238E27FC236}">
                <a16:creationId xmlns:a16="http://schemas.microsoft.com/office/drawing/2014/main" id="{A3ED5BEF-8AEA-40B3-9717-5FAA28B4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3051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meline-node-center-1">
            <a:extLst xmlns:a="http://schemas.openxmlformats.org/drawingml/2006/main">
              <a:ext uri="{FF2B5EF4-FFF2-40B4-BE49-F238E27FC236}">
                <a16:creationId xmlns:a16="http://schemas.microsoft.com/office/drawing/2014/main" id="{EF26FF90-F11B-4FCA-BFF2-702ED777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194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imeline-number-1">
            <a:extLst xmlns:a="http://schemas.openxmlformats.org/drawingml/2006/main">
              <a:ext uri="{FF2B5EF4-FFF2-40B4-BE49-F238E27FC236}">
                <a16:creationId xmlns:a16="http://schemas.microsoft.com/office/drawing/2014/main" id="{FA9495D4-821A-444C-B9EA-7872DB19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24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754FF"/>
                </a:solidFill>
              </a:defRPr>
            </a:pPr>
            <a:r>
              <a:rPr sz="1050" b="1">
                <a:solidFill>
                  <a:srgbClr val="5754FF"/>
                </a:solidFill>
              </a:rPr>
              <a:t>02</a:t>
            </a:r>
          </a:p>
        </p:txBody>
      </p:sp>
      <p:sp>
        <p:nvSpPr>
          <p:cNvPr id="14" name="timeline-step-1">
            <a:extLst xmlns:a="http://schemas.openxmlformats.org/drawingml/2006/main">
              <a:ext uri="{FF2B5EF4-FFF2-40B4-BE49-F238E27FC236}">
                <a16:creationId xmlns:a16="http://schemas.microsoft.com/office/drawing/2014/main" id="{FAB810B1-161A-440D-9DC3-AD4FDAA3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9528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A0A0B"/>
                </a:solidFill>
              </a:defRPr>
            </a:pPr>
            <a:r>
              <a:rPr sz="2100" b="1">
                <a:solidFill>
                  <a:srgbClr val="0A0A0B"/>
                </a:solidFill>
              </a:rPr>
              <a:t>Request</a:t>
            </a:r>
          </a:p>
        </p:txBody>
      </p:sp>
      <p:sp>
        <p:nvSpPr>
          <p:cNvPr id="15" name="timeline-desc-1">
            <a:extLst xmlns:a="http://schemas.openxmlformats.org/drawingml/2006/main">
              <a:ext uri="{FF2B5EF4-FFF2-40B4-BE49-F238E27FC236}">
                <a16:creationId xmlns:a16="http://schemas.microsoft.com/office/drawing/2014/main" id="{334D9160-3F8D-4DB9-8A9B-98B9ED92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4005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E4E56"/>
                </a:solidFill>
              </a:defRPr>
            </a:pPr>
            <a:r>
              <a:rPr sz="1275">
                <a:solidFill>
                  <a:srgbClr val="4E4E56"/>
                </a:solidFill>
              </a:rPr>
              <a:t>GPT-Realtime emits</a:t>
            </a:r>
          </a:p>
          <a:p xmlns:a="http://schemas.openxmlformats.org/drawingml/2006/main">
            <a:pPr>
              <a:buNone/>
              <a:defRPr sz="1275">
                <a:solidFill>
                  <a:srgbClr val="4E4E56"/>
                </a:solidFill>
              </a:defRPr>
            </a:pPr>
            <a:r>
              <a:rPr sz="1275">
                <a:solidFill>
                  <a:srgbClr val="4E4E56"/>
                </a:solidFill>
              </a:rPr>
              <a:t>name · args · call_id</a:t>
            </a:r>
          </a:p>
        </p:txBody>
      </p:sp>
      <p:sp>
        <p:nvSpPr>
          <p:cNvPr id="16" name="timeline-node-2">
            <a:extLst xmlns:a="http://schemas.openxmlformats.org/drawingml/2006/main">
              <a:ext uri="{FF2B5EF4-FFF2-40B4-BE49-F238E27FC236}">
                <a16:creationId xmlns:a16="http://schemas.microsoft.com/office/drawing/2014/main" id="{783FE0A0-9AD8-490E-9391-D64D8015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051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imeline-node-center-2">
            <a:extLst xmlns:a="http://schemas.openxmlformats.org/drawingml/2006/main">
              <a:ext uri="{FF2B5EF4-FFF2-40B4-BE49-F238E27FC236}">
                <a16:creationId xmlns:a16="http://schemas.microsoft.com/office/drawing/2014/main" id="{1F7500BC-7840-4654-B5E9-47B851D0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194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imeline-number-2">
            <a:extLst xmlns:a="http://schemas.openxmlformats.org/drawingml/2006/main">
              <a:ext uri="{FF2B5EF4-FFF2-40B4-BE49-F238E27FC236}">
                <a16:creationId xmlns:a16="http://schemas.microsoft.com/office/drawing/2014/main" id="{E7B5848C-3A3E-4EE1-B71F-1A4ED4D0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24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754FF"/>
                </a:solidFill>
              </a:defRPr>
            </a:pPr>
            <a:r>
              <a:rPr sz="1050" b="1">
                <a:solidFill>
                  <a:srgbClr val="5754FF"/>
                </a:solidFill>
              </a:rPr>
              <a:t>03</a:t>
            </a:r>
          </a:p>
        </p:txBody>
      </p:sp>
      <p:sp>
        <p:nvSpPr>
          <p:cNvPr id="19" name="timeline-step-2">
            <a:extLst xmlns:a="http://schemas.openxmlformats.org/drawingml/2006/main">
              <a:ext uri="{FF2B5EF4-FFF2-40B4-BE49-F238E27FC236}">
                <a16:creationId xmlns:a16="http://schemas.microsoft.com/office/drawing/2014/main" id="{F14D4876-844C-48DD-A50D-4BDB928F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528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A0A0B"/>
                </a:solidFill>
              </a:defRPr>
            </a:pPr>
            <a:r>
              <a:rPr sz="2100" b="1">
                <a:solidFill>
                  <a:srgbClr val="0A0A0B"/>
                </a:solidFill>
              </a:rPr>
              <a:t>Execute</a:t>
            </a:r>
          </a:p>
        </p:txBody>
      </p:sp>
      <p:sp>
        <p:nvSpPr>
          <p:cNvPr id="20" name="timeline-desc-2">
            <a:extLst xmlns:a="http://schemas.openxmlformats.org/drawingml/2006/main">
              <a:ext uri="{FF2B5EF4-FFF2-40B4-BE49-F238E27FC236}">
                <a16:creationId xmlns:a16="http://schemas.microsoft.com/office/drawing/2014/main" id="{2184F7F6-A699-40FF-90CE-4B14B4F7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4005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E4E56"/>
                </a:solidFill>
              </a:defRPr>
            </a:pPr>
            <a:r>
              <a:rPr sz="1275">
                <a:solidFill>
                  <a:srgbClr val="4E4E56"/>
                </a:solidFill>
              </a:rPr>
              <a:t>Widget relays to /api/tools</a:t>
            </a:r>
          </a:p>
          <a:p xmlns:a="http://schemas.openxmlformats.org/drawingml/2006/main">
            <a:pPr>
              <a:buNone/>
              <a:defRPr sz="1275">
                <a:solidFill>
                  <a:srgbClr val="4E4E56"/>
                </a:solidFill>
              </a:defRPr>
            </a:pPr>
            <a:r>
              <a:rPr sz="1275">
                <a:solidFill>
                  <a:srgbClr val="4E4E56"/>
                </a:solidFill>
              </a:rPr>
              <a:t>server validates + runs</a:t>
            </a:r>
          </a:p>
        </p:txBody>
      </p:sp>
      <p:sp>
        <p:nvSpPr>
          <p:cNvPr id="21" name="timeline-node-3">
            <a:extLst xmlns:a="http://schemas.openxmlformats.org/drawingml/2006/main">
              <a:ext uri="{FF2B5EF4-FFF2-40B4-BE49-F238E27FC236}">
                <a16:creationId xmlns:a16="http://schemas.microsoft.com/office/drawing/2014/main" id="{EB687C5D-8D2A-4376-8A44-D1C0F453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051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imeline-node-center-3">
            <a:extLst xmlns:a="http://schemas.openxmlformats.org/drawingml/2006/main">
              <a:ext uri="{FF2B5EF4-FFF2-40B4-BE49-F238E27FC236}">
                <a16:creationId xmlns:a16="http://schemas.microsoft.com/office/drawing/2014/main" id="{5A070DB4-0D84-4B7A-BDAD-74FC335A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4194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imeline-number-3">
            <a:extLst xmlns:a="http://schemas.openxmlformats.org/drawingml/2006/main">
              <a:ext uri="{FF2B5EF4-FFF2-40B4-BE49-F238E27FC236}">
                <a16:creationId xmlns:a16="http://schemas.microsoft.com/office/drawing/2014/main" id="{BBD7082A-9002-4B10-AA0F-AD90E41A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24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754FF"/>
                </a:solidFill>
              </a:defRPr>
            </a:pPr>
            <a:r>
              <a:rPr sz="1050" b="1">
                <a:solidFill>
                  <a:srgbClr val="5754FF"/>
                </a:solidFill>
              </a:rPr>
              <a:t>04</a:t>
            </a:r>
          </a:p>
        </p:txBody>
      </p:sp>
      <p:sp>
        <p:nvSpPr>
          <p:cNvPr id="24" name="timeline-step-3">
            <a:extLst xmlns:a="http://schemas.openxmlformats.org/drawingml/2006/main">
              <a:ext uri="{FF2B5EF4-FFF2-40B4-BE49-F238E27FC236}">
                <a16:creationId xmlns:a16="http://schemas.microsoft.com/office/drawing/2014/main" id="{5C892B50-6142-4340-98CB-200B4CDC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9528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A0A0B"/>
                </a:solidFill>
              </a:defRPr>
            </a:pPr>
            <a:r>
              <a:rPr sz="2100" b="1">
                <a:solidFill>
                  <a:srgbClr val="0A0A0B"/>
                </a:solidFill>
              </a:rPr>
              <a:t>Respond</a:t>
            </a:r>
          </a:p>
        </p:txBody>
      </p:sp>
      <p:sp>
        <p:nvSpPr>
          <p:cNvPr id="25" name="timeline-desc-3">
            <a:extLst xmlns:a="http://schemas.openxmlformats.org/drawingml/2006/main">
              <a:ext uri="{FF2B5EF4-FFF2-40B4-BE49-F238E27FC236}">
                <a16:creationId xmlns:a16="http://schemas.microsoft.com/office/drawing/2014/main" id="{9AD9B8E5-E053-42F5-A7CB-7F87DB4B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4005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E4E56"/>
                </a:solidFill>
              </a:defRPr>
            </a:pPr>
            <a:r>
              <a:rPr sz="1275">
                <a:solidFill>
                  <a:srgbClr val="4E4E56"/>
                </a:solidFill>
              </a:rPr>
              <a:t>function_call_output returns</a:t>
            </a:r>
          </a:p>
          <a:p xmlns:a="http://schemas.openxmlformats.org/drawingml/2006/main">
            <a:pPr>
              <a:buNone/>
              <a:defRPr sz="1275">
                <a:solidFill>
                  <a:srgbClr val="4E4E56"/>
                </a:solidFill>
              </a:defRPr>
            </a:pPr>
            <a:r>
              <a:rPr sz="1275">
                <a:solidFill>
                  <a:srgbClr val="4E4E56"/>
                </a:solidFill>
              </a:rPr>
              <a:t>voice + UI update</a:t>
            </a:r>
          </a:p>
        </p:txBody>
      </p:sp>
      <p:sp>
        <p:nvSpPr>
          <p:cNvPr id="2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CB25B61-8E8D-4F0B-BE79-4EEBD174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1C7B224-7A4E-4B07-BC74-6D31114C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898994"/>
                </a:solidFill>
              </a:defRPr>
            </a:pPr>
            <a:r>
              <a:rPr sz="825" b="1">
                <a:solidFill>
                  <a:srgbClr val="898994"/>
                </a:solidFill>
              </a:rPr>
              <a:t>DECAGON</a:t>
            </a:r>
          </a:p>
        </p:txBody>
      </p:sp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313E9A7-57BD-4FBF-88CC-A9023259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770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898994"/>
                </a:solidFill>
              </a:defRPr>
            </a:pPr>
            <a:r>
              <a:rPr sz="825" b="1">
                <a:solidFill>
                  <a:srgbClr val="898994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602994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52a4364d64a95">
            <a:extLst>
              <a:ext uri="{96DAC541-7B7A-43D3-8B79-37D633B846F1}">
                <asvg:svgBlip xmlns:asvg="http://schemas.microsoft.com/office/drawing/2016/SVG/main" r:embed="R250586c1ead740d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57200"/>
            <a:ext cx="1752600" cy="381518"/>
          </a:xfrm>
          <a:prstGeom xmlns:a="http://schemas.openxmlformats.org/drawingml/2006/main" prst="rect">
            <a:avLst/>
          </a:prstGeom>
        </p:spPr>
      </p:pic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9BA8F227-8F8A-41CC-8AD4-880516C6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754FF"/>
                </a:solidFill>
              </a:defRPr>
            </a:pPr>
            <a:r>
              <a:rPr sz="975" b="1">
                <a:solidFill>
                  <a:srgbClr val="5754FF"/>
                </a:solidFill>
              </a:rPr>
              <a:t>ENTERPRISE TOOL SURFACE</a:t>
            </a:r>
          </a:p>
        </p:txBody>
      </p:sp>
      <p:sp>
        <p:nvSpPr>
          <p:cNvPr id="3" name="agenda-title">
            <a:extLst xmlns:a="http://schemas.openxmlformats.org/drawingml/2006/main">
              <a:ext uri="{FF2B5EF4-FFF2-40B4-BE49-F238E27FC236}">
                <a16:creationId xmlns:a16="http://schemas.microsoft.com/office/drawing/2014/main" id="{DDEFA9CF-DD48-4787-B130-9E2A1E30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A0A0B"/>
                </a:solidFill>
              </a:defRPr>
            </a:pPr>
            <a:r>
              <a:rPr sz="3150" b="1">
                <a:solidFill>
                  <a:srgbClr val="0A0A0B"/>
                </a:solidFill>
              </a:rPr>
              <a:t>One agent spans the customer journey</a:t>
            </a:r>
          </a:p>
        </p:txBody>
      </p:sp>
      <p:sp>
        <p:nvSpPr>
          <p:cNvPr id="4" name="agenda-rule-0">
            <a:extLst xmlns:a="http://schemas.openxmlformats.org/drawingml/2006/main">
              <a:ext uri="{FF2B5EF4-FFF2-40B4-BE49-F238E27FC236}">
                <a16:creationId xmlns:a16="http://schemas.microsoft.com/office/drawing/2014/main" id="{F508731C-CFA7-4030-85DC-44D761EA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genda-number-0">
            <a:extLst xmlns:a="http://schemas.openxmlformats.org/drawingml/2006/main">
              <a:ext uri="{FF2B5EF4-FFF2-40B4-BE49-F238E27FC236}">
                <a16:creationId xmlns:a16="http://schemas.microsoft.com/office/drawing/2014/main" id="{BB12C630-247F-4F34-B867-3AD5CFD2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754FF"/>
                </a:solidFill>
              </a:defRPr>
            </a:pPr>
            <a:r>
              <a:rPr sz="1350" b="1">
                <a:solidFill>
                  <a:srgbClr val="5754FF"/>
                </a:solidFill>
              </a:rPr>
              <a:t>08</a:t>
            </a:r>
          </a:p>
        </p:txBody>
      </p:sp>
      <p:sp>
        <p:nvSpPr>
          <p:cNvPr id="6" name="agenda-item-0">
            <a:extLst xmlns:a="http://schemas.openxmlformats.org/drawingml/2006/main">
              <a:ext uri="{FF2B5EF4-FFF2-40B4-BE49-F238E27FC236}">
                <a16:creationId xmlns:a16="http://schemas.microsoft.com/office/drawing/2014/main" id="{91C1DD96-2505-4A7A-80EB-D768DEAF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574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A0A0B"/>
                </a:solidFill>
              </a:defRPr>
            </a:pPr>
            <a:r>
              <a:rPr sz="1950" b="1">
                <a:solidFill>
                  <a:srgbClr val="0A0A0B"/>
                </a:solidFill>
              </a:rPr>
              <a:t>Discover + navigate</a:t>
            </a:r>
          </a:p>
        </p:txBody>
      </p:sp>
      <p:sp>
        <p:nvSpPr>
          <p:cNvPr id="7" name="agenda-desc-0">
            <a:extLst xmlns:a="http://schemas.openxmlformats.org/drawingml/2006/main">
              <a:ext uri="{FF2B5EF4-FFF2-40B4-BE49-F238E27FC236}">
                <a16:creationId xmlns:a16="http://schemas.microsoft.com/office/drawing/2014/main" id="{8110B5B2-6922-45B6-84DF-310587E4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4E4E56"/>
                </a:solidFill>
              </a:defRPr>
            </a:pPr>
            <a:r>
              <a:rPr sz="1350">
                <a:solidFill>
                  <a:srgbClr val="4E4E56"/>
                </a:solidFill>
              </a:rPr>
              <a:t>search_catalog / get_book / open_book / navigate</a:t>
            </a:r>
          </a:p>
        </p:txBody>
      </p:sp>
      <p:sp>
        <p:nvSpPr>
          <p:cNvPr id="8" name="agenda-rule-1">
            <a:extLst xmlns:a="http://schemas.openxmlformats.org/drawingml/2006/main">
              <a:ext uri="{FF2B5EF4-FFF2-40B4-BE49-F238E27FC236}">
                <a16:creationId xmlns:a16="http://schemas.microsoft.com/office/drawing/2014/main" id="{F2D3B068-FC50-4E8B-9D4C-A7E342BF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genda-number-1">
            <a:extLst xmlns:a="http://schemas.openxmlformats.org/drawingml/2006/main">
              <a:ext uri="{FF2B5EF4-FFF2-40B4-BE49-F238E27FC236}">
                <a16:creationId xmlns:a16="http://schemas.microsoft.com/office/drawing/2014/main" id="{71BC7B35-549E-44C2-A104-758B9FCF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754FF"/>
                </a:solidFill>
              </a:defRPr>
            </a:pPr>
            <a:r>
              <a:rPr sz="1350" b="1">
                <a:solidFill>
                  <a:srgbClr val="5754FF"/>
                </a:solidFill>
              </a:rPr>
              <a:t>05</a:t>
            </a:r>
          </a:p>
        </p:txBody>
      </p:sp>
      <p:sp>
        <p:nvSpPr>
          <p:cNvPr id="10" name="agenda-item-1">
            <a:extLst xmlns:a="http://schemas.openxmlformats.org/drawingml/2006/main">
              <a:ext uri="{FF2B5EF4-FFF2-40B4-BE49-F238E27FC236}">
                <a16:creationId xmlns:a16="http://schemas.microsoft.com/office/drawing/2014/main" id="{522A2D19-10C5-4FE5-AA3B-9FEE1AAC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766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A0A0B"/>
                </a:solidFill>
              </a:defRPr>
            </a:pPr>
            <a:r>
              <a:rPr sz="1950" b="1">
                <a:solidFill>
                  <a:srgbClr val="0A0A0B"/>
                </a:solidFill>
              </a:rPr>
              <a:t>Identify + personalize</a:t>
            </a:r>
          </a:p>
        </p:txBody>
      </p:sp>
      <p:sp>
        <p:nvSpPr>
          <p:cNvPr id="11" name="agenda-desc-1">
            <a:extLst xmlns:a="http://schemas.openxmlformats.org/drawingml/2006/main">
              <a:ext uri="{FF2B5EF4-FFF2-40B4-BE49-F238E27FC236}">
                <a16:creationId xmlns:a16="http://schemas.microsoft.com/office/drawing/2014/main" id="{9F2AB133-68FA-4BDE-84D0-BBD38EB8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4E4E56"/>
                </a:solidFill>
              </a:defRPr>
            </a:pPr>
            <a:r>
              <a:rPr sz="1350">
                <a:solidFill>
                  <a:srgbClr val="4E4E56"/>
                </a:solidFill>
              </a:rPr>
              <a:t>authenticate_customer / wishlist CRUD / stock alerts</a:t>
            </a:r>
          </a:p>
        </p:txBody>
      </p:sp>
      <p:sp>
        <p:nvSpPr>
          <p:cNvPr id="12" name="agenda-rule-2">
            <a:extLst xmlns:a="http://schemas.openxmlformats.org/drawingml/2006/main">
              <a:ext uri="{FF2B5EF4-FFF2-40B4-BE49-F238E27FC236}">
                <a16:creationId xmlns:a16="http://schemas.microsoft.com/office/drawing/2014/main" id="{81F90D52-663F-4B50-B630-231BF851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genda-number-2">
            <a:extLst xmlns:a="http://schemas.openxmlformats.org/drawingml/2006/main">
              <a:ext uri="{FF2B5EF4-FFF2-40B4-BE49-F238E27FC236}">
                <a16:creationId xmlns:a16="http://schemas.microsoft.com/office/drawing/2014/main" id="{97B907A4-5A1A-40EC-BD56-697F3E85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754FF"/>
                </a:solidFill>
              </a:defRPr>
            </a:pPr>
            <a:r>
              <a:rPr sz="1350" b="1">
                <a:solidFill>
                  <a:srgbClr val="5754FF"/>
                </a:solidFill>
              </a:rPr>
              <a:t>10</a:t>
            </a:r>
          </a:p>
        </p:txBody>
      </p:sp>
      <p:sp>
        <p:nvSpPr>
          <p:cNvPr id="14" name="agenda-item-2">
            <a:extLst xmlns:a="http://schemas.openxmlformats.org/drawingml/2006/main">
              <a:ext uri="{FF2B5EF4-FFF2-40B4-BE49-F238E27FC236}">
                <a16:creationId xmlns:a16="http://schemas.microsoft.com/office/drawing/2014/main" id="{4A86C3D8-8772-447F-9BAD-C036BBBE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A0A0B"/>
                </a:solidFill>
              </a:defRPr>
            </a:pPr>
            <a:r>
              <a:rPr sz="1950" b="1">
                <a:solidFill>
                  <a:srgbClr val="0A0A0B"/>
                </a:solidFill>
              </a:rPr>
              <a:t>Transact + resolve</a:t>
            </a:r>
          </a:p>
        </p:txBody>
      </p:sp>
      <p:sp>
        <p:nvSpPr>
          <p:cNvPr id="15" name="agenda-desc-2">
            <a:extLst xmlns:a="http://schemas.openxmlformats.org/drawingml/2006/main">
              <a:ext uri="{FF2B5EF4-FFF2-40B4-BE49-F238E27FC236}">
                <a16:creationId xmlns:a16="http://schemas.microsoft.com/office/drawing/2014/main" id="{C657159B-0771-48A3-9FE5-CBFC50B3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338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4E4E56"/>
                </a:solidFill>
              </a:defRPr>
            </a:pPr>
            <a:r>
              <a:rPr sz="1350">
                <a:solidFill>
                  <a:srgbClr val="4E4E56"/>
                </a:solidFill>
              </a:rPr>
              <a:t>cart CRUD / checkout / orders / returns / refunds</a:t>
            </a:r>
          </a:p>
        </p:txBody>
      </p:sp>
      <p:sp>
        <p:nvSpPr>
          <p:cNvPr id="16" name="agenda-rule-3">
            <a:extLst xmlns:a="http://schemas.openxmlformats.org/drawingml/2006/main">
              <a:ext uri="{FF2B5EF4-FFF2-40B4-BE49-F238E27FC236}">
                <a16:creationId xmlns:a16="http://schemas.microsoft.com/office/drawing/2014/main" id="{D1C73356-20A4-4625-8307-92C3E955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genda-number-3">
            <a:extLst xmlns:a="http://schemas.openxmlformats.org/drawingml/2006/main">
              <a:ext uri="{FF2B5EF4-FFF2-40B4-BE49-F238E27FC236}">
                <a16:creationId xmlns:a16="http://schemas.microsoft.com/office/drawing/2014/main" id="{777ADDBB-A6D1-4117-83C9-22B6B67E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754FF"/>
                </a:solidFill>
              </a:defRPr>
            </a:pPr>
            <a:r>
              <a:rPr sz="1350" b="1">
                <a:solidFill>
                  <a:srgbClr val="5754FF"/>
                </a:solidFill>
              </a:rPr>
              <a:t>06</a:t>
            </a:r>
          </a:p>
        </p:txBody>
      </p:sp>
      <p:sp>
        <p:nvSpPr>
          <p:cNvPr id="18" name="agenda-item-3">
            <a:extLst xmlns:a="http://schemas.openxmlformats.org/drawingml/2006/main">
              <a:ext uri="{FF2B5EF4-FFF2-40B4-BE49-F238E27FC236}">
                <a16:creationId xmlns:a16="http://schemas.microsoft.com/office/drawing/2014/main" id="{25B1B1BF-A79A-42D8-A3FF-F296C058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149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A0A0B"/>
                </a:solidFill>
              </a:defRPr>
            </a:pPr>
            <a:r>
              <a:rPr sz="1950" b="1">
                <a:solidFill>
                  <a:srgbClr val="0A0A0B"/>
                </a:solidFill>
              </a:rPr>
              <a:t>Learn + escalate</a:t>
            </a:r>
          </a:p>
        </p:txBody>
      </p:sp>
      <p:sp>
        <p:nvSpPr>
          <p:cNvPr id="19" name="agenda-desc-3">
            <a:extLst xmlns:a="http://schemas.openxmlformats.org/drawingml/2006/main">
              <a:ext uri="{FF2B5EF4-FFF2-40B4-BE49-F238E27FC236}">
                <a16:creationId xmlns:a16="http://schemas.microsoft.com/office/drawing/2014/main" id="{4DC490CD-EEF4-4130-B7EE-2106C31F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4E4E56"/>
                </a:solidFill>
              </a:defRPr>
            </a:pPr>
            <a:r>
              <a:rPr sz="1350">
                <a:solidFill>
                  <a:srgbClr val="4E4E56"/>
                </a:solidFill>
              </a:rPr>
              <a:t>policy RAG / cases / handoff / service recovery</a:t>
            </a:r>
          </a:p>
        </p:txBody>
      </p:sp>
      <p:sp>
        <p:nvSpPr>
          <p:cNvPr id="2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D9EC69E-8FE1-4985-B4B7-B117E730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4DA80F1C-3ED1-45F8-A446-ECB91FAC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898994"/>
                </a:solidFill>
              </a:defRPr>
            </a:pPr>
            <a:r>
              <a:rPr sz="825" b="1">
                <a:solidFill>
                  <a:srgbClr val="898994"/>
                </a:solidFill>
              </a:rPr>
              <a:t>DECAGON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8D9B49B-7D31-4C7C-87EF-E1DC1660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770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898994"/>
                </a:solidFill>
              </a:defRPr>
            </a:pPr>
            <a:r>
              <a:rPr sz="825" b="1">
                <a:solidFill>
                  <a:srgbClr val="898994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876160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4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ec8f56226742ff">
            <a:extLst>
              <a:ext uri="{96DAC541-7B7A-43D3-8B79-37D633B846F1}">
                <asvg:svgBlip xmlns:asvg="http://schemas.microsoft.com/office/drawing/2016/SVG/main" r:embed="R8b8802658454428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57200"/>
            <a:ext cx="1752600" cy="381518"/>
          </a:xfrm>
          <a:prstGeom xmlns:a="http://schemas.openxmlformats.org/drawingml/2006/main" prst="rect">
            <a:avLst/>
          </a:prstGeom>
        </p:spPr>
      </p:pic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DD50233B-9DA0-48E2-ABB4-53B010C9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754FF"/>
                </a:solidFill>
              </a:defRPr>
            </a:pPr>
            <a:r>
              <a:rPr sz="975" b="1">
                <a:solidFill>
                  <a:srgbClr val="5754FF"/>
                </a:solidFill>
              </a:rPr>
              <a:t>GUARDED ACTION + PII PATTERN</a:t>
            </a:r>
          </a:p>
        </p:txBody>
      </p:sp>
      <p:sp>
        <p:nvSpPr>
          <p:cNvPr id="3" name="timeline-title">
            <a:extLst xmlns:a="http://schemas.openxmlformats.org/drawingml/2006/main">
              <a:ext uri="{FF2B5EF4-FFF2-40B4-BE49-F238E27FC236}">
                <a16:creationId xmlns:a16="http://schemas.microsoft.com/office/drawing/2014/main" id="{FAF42F0D-8866-4C23-9D03-871B8F7E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A0A0B"/>
                </a:solidFill>
              </a:defRPr>
            </a:pPr>
            <a:r>
              <a:rPr sz="3150" b="1">
                <a:solidFill>
                  <a:srgbClr val="0A0A0B"/>
                </a:solidFill>
              </a:rPr>
              <a:t>Deterministic code owns every action</a:t>
            </a:r>
          </a:p>
        </p:txBody>
      </p:sp>
      <p:sp>
        <p:nvSpPr>
          <p:cNvPr id="4" name="timeline-subtitle">
            <a:extLst xmlns:a="http://schemas.openxmlformats.org/drawingml/2006/main">
              <a:ext uri="{FF2B5EF4-FFF2-40B4-BE49-F238E27FC236}">
                <a16:creationId xmlns:a16="http://schemas.microsoft.com/office/drawing/2014/main" id="{C2B64123-4713-416C-A06E-C62E13EC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002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4E4E56"/>
                </a:solidFill>
              </a:defRPr>
            </a:pPr>
            <a:r>
              <a:rPr sz="1350">
                <a:solidFill>
                  <a:srgbClr val="4E4E56"/>
                </a:solidFill>
              </a:rPr>
              <a:t>Private UI, typed schemas, and server checks constrain every consequential action.</a:t>
            </a:r>
          </a:p>
        </p:txBody>
      </p:sp>
      <p:sp>
        <p:nvSpPr>
          <p:cNvPr id="5" name="timeline-connector">
            <a:extLst xmlns:a="http://schemas.openxmlformats.org/drawingml/2006/main">
              <a:ext uri="{FF2B5EF4-FFF2-40B4-BE49-F238E27FC236}">
                <a16:creationId xmlns:a16="http://schemas.microsoft.com/office/drawing/2014/main" id="{7DB401AC-EF7A-4FF3-A451-903EE534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76625"/>
            <a:ext cx="851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meline-node-0">
            <a:extLst xmlns:a="http://schemas.openxmlformats.org/drawingml/2006/main">
              <a:ext uri="{FF2B5EF4-FFF2-40B4-BE49-F238E27FC236}">
                <a16:creationId xmlns:a16="http://schemas.microsoft.com/office/drawing/2014/main" id="{34601CB7-2054-49B1-929E-3CE127C1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051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meline-node-center-0">
            <a:extLst xmlns:a="http://schemas.openxmlformats.org/drawingml/2006/main">
              <a:ext uri="{FF2B5EF4-FFF2-40B4-BE49-F238E27FC236}">
                <a16:creationId xmlns:a16="http://schemas.microsoft.com/office/drawing/2014/main" id="{941F1DFA-331F-4260-B92E-7B671C55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194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eline-number-0">
            <a:extLst xmlns:a="http://schemas.openxmlformats.org/drawingml/2006/main">
              <a:ext uri="{FF2B5EF4-FFF2-40B4-BE49-F238E27FC236}">
                <a16:creationId xmlns:a16="http://schemas.microsoft.com/office/drawing/2014/main" id="{0AE312FA-409E-48F0-A774-50773212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24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754FF"/>
                </a:solidFill>
              </a:defRPr>
            </a:pPr>
            <a:r>
              <a:rPr sz="1050" b="1">
                <a:solidFill>
                  <a:srgbClr val="5754FF"/>
                </a:solidFill>
              </a:rPr>
              <a:t>01</a:t>
            </a:r>
          </a:p>
        </p:txBody>
      </p:sp>
      <p:sp>
        <p:nvSpPr>
          <p:cNvPr id="9" name="timeline-step-0">
            <a:extLst xmlns:a="http://schemas.openxmlformats.org/drawingml/2006/main">
              <a:ext uri="{FF2B5EF4-FFF2-40B4-BE49-F238E27FC236}">
                <a16:creationId xmlns:a16="http://schemas.microsoft.com/office/drawing/2014/main" id="{BD342035-0293-4CD3-9260-02FC1139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528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A0A0B"/>
                </a:solidFill>
              </a:defRPr>
            </a:pPr>
            <a:r>
              <a:rPr sz="2100" b="1">
                <a:solidFill>
                  <a:srgbClr val="0A0A0B"/>
                </a:solidFill>
              </a:rPr>
              <a:t>Authenticate</a:t>
            </a:r>
          </a:p>
        </p:txBody>
      </p:sp>
      <p:sp>
        <p:nvSpPr>
          <p:cNvPr id="10" name="timeline-desc-0">
            <a:extLst xmlns:a="http://schemas.openxmlformats.org/drawingml/2006/main">
              <a:ext uri="{FF2B5EF4-FFF2-40B4-BE49-F238E27FC236}">
                <a16:creationId xmlns:a16="http://schemas.microsoft.com/office/drawing/2014/main" id="{6BBDCCB6-4E11-4FC5-9CB8-85B0D5EC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005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E4E56"/>
                </a:solidFill>
              </a:defRPr>
            </a:pPr>
            <a:r>
              <a:rPr sz="1275">
                <a:solidFill>
                  <a:srgbClr val="4E4E56"/>
                </a:solidFill>
              </a:rPr>
              <a:t>Private form → signed session</a:t>
            </a:r>
          </a:p>
          <a:p xmlns:a="http://schemas.openxmlformats.org/drawingml/2006/main">
            <a:pPr>
              <a:buNone/>
              <a:defRPr sz="1275">
                <a:solidFill>
                  <a:srgbClr val="4E4E56"/>
                </a:solidFill>
              </a:defRPr>
            </a:pPr>
            <a:r>
              <a:rPr sz="1275">
                <a:solidFill>
                  <a:srgbClr val="4E4E56"/>
                </a:solidFill>
              </a:rPr>
              <a:t>No credentials in chat</a:t>
            </a:r>
          </a:p>
        </p:txBody>
      </p:sp>
      <p:sp>
        <p:nvSpPr>
          <p:cNvPr id="11" name="timeline-node-1">
            <a:extLst xmlns:a="http://schemas.openxmlformats.org/drawingml/2006/main">
              <a:ext uri="{FF2B5EF4-FFF2-40B4-BE49-F238E27FC236}">
                <a16:creationId xmlns:a16="http://schemas.microsoft.com/office/drawing/2014/main" id="{A3ED5BEF-8AEA-40B3-9717-5FAA28B4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3051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meline-node-center-1">
            <a:extLst xmlns:a="http://schemas.openxmlformats.org/drawingml/2006/main">
              <a:ext uri="{FF2B5EF4-FFF2-40B4-BE49-F238E27FC236}">
                <a16:creationId xmlns:a16="http://schemas.microsoft.com/office/drawing/2014/main" id="{EF26FF90-F11B-4FCA-BFF2-702ED777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194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imeline-number-1">
            <a:extLst xmlns:a="http://schemas.openxmlformats.org/drawingml/2006/main">
              <a:ext uri="{FF2B5EF4-FFF2-40B4-BE49-F238E27FC236}">
                <a16:creationId xmlns:a16="http://schemas.microsoft.com/office/drawing/2014/main" id="{FA9495D4-821A-444C-B9EA-7872DB19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24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754FF"/>
                </a:solidFill>
              </a:defRPr>
            </a:pPr>
            <a:r>
              <a:rPr sz="1050" b="1">
                <a:solidFill>
                  <a:srgbClr val="5754FF"/>
                </a:solidFill>
              </a:rPr>
              <a:t>02</a:t>
            </a:r>
          </a:p>
        </p:txBody>
      </p:sp>
      <p:sp>
        <p:nvSpPr>
          <p:cNvPr id="14" name="timeline-step-1">
            <a:extLst xmlns:a="http://schemas.openxmlformats.org/drawingml/2006/main">
              <a:ext uri="{FF2B5EF4-FFF2-40B4-BE49-F238E27FC236}">
                <a16:creationId xmlns:a16="http://schemas.microsoft.com/office/drawing/2014/main" id="{FAB810B1-161A-440D-9DC3-AD4FDAA3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9528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A0A0B"/>
                </a:solidFill>
              </a:defRPr>
            </a:pPr>
            <a:r>
              <a:rPr sz="2100" b="1">
                <a:solidFill>
                  <a:srgbClr val="0A0A0B"/>
                </a:solidFill>
              </a:rPr>
              <a:t>Prepare</a:t>
            </a:r>
          </a:p>
        </p:txBody>
      </p:sp>
      <p:sp>
        <p:nvSpPr>
          <p:cNvPr id="15" name="timeline-desc-1">
            <a:extLst xmlns:a="http://schemas.openxmlformats.org/drawingml/2006/main">
              <a:ext uri="{FF2B5EF4-FFF2-40B4-BE49-F238E27FC236}">
                <a16:creationId xmlns:a16="http://schemas.microsoft.com/office/drawing/2014/main" id="{334D9160-3F8D-4DB9-8A9B-98B9ED92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4005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E4E56"/>
                </a:solidFill>
              </a:defRPr>
            </a:pPr>
            <a:r>
              <a:rPr sz="1275">
                <a:solidFill>
                  <a:srgbClr val="4E4E56"/>
                </a:solidFill>
              </a:rPr>
              <a:t>Schema + server identity</a:t>
            </a:r>
          </a:p>
          <a:p xmlns:a="http://schemas.openxmlformats.org/drawingml/2006/main">
            <a:pPr>
              <a:buNone/>
              <a:defRPr sz="1275">
                <a:solidFill>
                  <a:srgbClr val="4E4E56"/>
                </a:solidFill>
              </a:defRPr>
            </a:pPr>
            <a:r>
              <a:rPr sz="1275">
                <a:solidFill>
                  <a:srgbClr val="4E4E56"/>
                </a:solidFill>
              </a:rPr>
              <a:t>Ownership · policy · quote</a:t>
            </a:r>
          </a:p>
        </p:txBody>
      </p:sp>
      <p:sp>
        <p:nvSpPr>
          <p:cNvPr id="16" name="timeline-node-2">
            <a:extLst xmlns:a="http://schemas.openxmlformats.org/drawingml/2006/main">
              <a:ext uri="{FF2B5EF4-FFF2-40B4-BE49-F238E27FC236}">
                <a16:creationId xmlns:a16="http://schemas.microsoft.com/office/drawing/2014/main" id="{783FE0A0-9AD8-490E-9391-D64D8015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051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imeline-node-center-2">
            <a:extLst xmlns:a="http://schemas.openxmlformats.org/drawingml/2006/main">
              <a:ext uri="{FF2B5EF4-FFF2-40B4-BE49-F238E27FC236}">
                <a16:creationId xmlns:a16="http://schemas.microsoft.com/office/drawing/2014/main" id="{1F7500BC-7840-4654-B5E9-47B851D0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194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imeline-number-2">
            <a:extLst xmlns:a="http://schemas.openxmlformats.org/drawingml/2006/main">
              <a:ext uri="{FF2B5EF4-FFF2-40B4-BE49-F238E27FC236}">
                <a16:creationId xmlns:a16="http://schemas.microsoft.com/office/drawing/2014/main" id="{E7B5848C-3A3E-4EE1-B71F-1A4ED4D0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24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754FF"/>
                </a:solidFill>
              </a:defRPr>
            </a:pPr>
            <a:r>
              <a:rPr sz="1050" b="1">
                <a:solidFill>
                  <a:srgbClr val="5754FF"/>
                </a:solidFill>
              </a:rPr>
              <a:t>03</a:t>
            </a:r>
          </a:p>
        </p:txBody>
      </p:sp>
      <p:sp>
        <p:nvSpPr>
          <p:cNvPr id="19" name="timeline-step-2">
            <a:extLst xmlns:a="http://schemas.openxmlformats.org/drawingml/2006/main">
              <a:ext uri="{FF2B5EF4-FFF2-40B4-BE49-F238E27FC236}">
                <a16:creationId xmlns:a16="http://schemas.microsoft.com/office/drawing/2014/main" id="{F14D4876-844C-48DD-A50D-4BDB928F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528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A0A0B"/>
                </a:solidFill>
              </a:defRPr>
            </a:pPr>
            <a:r>
              <a:rPr sz="2100" b="1">
                <a:solidFill>
                  <a:srgbClr val="0A0A0B"/>
                </a:solidFill>
              </a:rPr>
              <a:t>Confirm</a:t>
            </a:r>
          </a:p>
        </p:txBody>
      </p:sp>
      <p:sp>
        <p:nvSpPr>
          <p:cNvPr id="20" name="timeline-desc-2">
            <a:extLst xmlns:a="http://schemas.openxmlformats.org/drawingml/2006/main">
              <a:ext uri="{FF2B5EF4-FFF2-40B4-BE49-F238E27FC236}">
                <a16:creationId xmlns:a16="http://schemas.microsoft.com/office/drawing/2014/main" id="{2184F7F6-A699-40FF-90CE-4B14B4F7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4005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E4E56"/>
                </a:solidFill>
              </a:defRPr>
            </a:pPr>
            <a:r>
              <a:rPr sz="1275">
                <a:solidFill>
                  <a:srgbClr val="4E4E56"/>
                </a:solidFill>
              </a:rPr>
              <a:t>Exact action is rendered</a:t>
            </a:r>
          </a:p>
          <a:p xmlns:a="http://schemas.openxmlformats.org/drawingml/2006/main">
            <a:pPr>
              <a:buNone/>
              <a:defRPr sz="1275">
                <a:solidFill>
                  <a:srgbClr val="4E4E56"/>
                </a:solidFill>
              </a:defRPr>
            </a:pPr>
            <a:r>
              <a:rPr sz="1275">
                <a:solidFill>
                  <a:srgbClr val="4E4E56"/>
                </a:solidFill>
              </a:rPr>
              <a:t>Customer approves next turn</a:t>
            </a:r>
          </a:p>
        </p:txBody>
      </p:sp>
      <p:sp>
        <p:nvSpPr>
          <p:cNvPr id="21" name="timeline-node-3">
            <a:extLst xmlns:a="http://schemas.openxmlformats.org/drawingml/2006/main">
              <a:ext uri="{FF2B5EF4-FFF2-40B4-BE49-F238E27FC236}">
                <a16:creationId xmlns:a16="http://schemas.microsoft.com/office/drawing/2014/main" id="{EB687C5D-8D2A-4376-8A44-D1C0F453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051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imeline-node-center-3">
            <a:extLst xmlns:a="http://schemas.openxmlformats.org/drawingml/2006/main">
              <a:ext uri="{FF2B5EF4-FFF2-40B4-BE49-F238E27FC236}">
                <a16:creationId xmlns:a16="http://schemas.microsoft.com/office/drawing/2014/main" id="{5A070DB4-0D84-4B7A-BDAD-74FC335A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4194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imeline-number-3">
            <a:extLst xmlns:a="http://schemas.openxmlformats.org/drawingml/2006/main">
              <a:ext uri="{FF2B5EF4-FFF2-40B4-BE49-F238E27FC236}">
                <a16:creationId xmlns:a16="http://schemas.microsoft.com/office/drawing/2014/main" id="{BBD7082A-9002-4B10-AA0F-AD90E41A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24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754FF"/>
                </a:solidFill>
              </a:defRPr>
            </a:pPr>
            <a:r>
              <a:rPr sz="1050" b="1">
                <a:solidFill>
                  <a:srgbClr val="5754FF"/>
                </a:solidFill>
              </a:rPr>
              <a:t>04</a:t>
            </a:r>
          </a:p>
        </p:txBody>
      </p:sp>
      <p:sp>
        <p:nvSpPr>
          <p:cNvPr id="24" name="timeline-step-3">
            <a:extLst xmlns:a="http://schemas.openxmlformats.org/drawingml/2006/main">
              <a:ext uri="{FF2B5EF4-FFF2-40B4-BE49-F238E27FC236}">
                <a16:creationId xmlns:a16="http://schemas.microsoft.com/office/drawing/2014/main" id="{5C892B50-6142-4340-98CB-200B4CDC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9528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A0A0B"/>
                </a:solidFill>
              </a:defRPr>
            </a:pPr>
            <a:r>
              <a:rPr sz="2100" b="1">
                <a:solidFill>
                  <a:srgbClr val="0A0A0B"/>
                </a:solidFill>
              </a:rPr>
              <a:t>Commit</a:t>
            </a:r>
          </a:p>
        </p:txBody>
      </p:sp>
      <p:sp>
        <p:nvSpPr>
          <p:cNvPr id="25" name="timeline-desc-3">
            <a:extLst xmlns:a="http://schemas.openxmlformats.org/drawingml/2006/main">
              <a:ext uri="{FF2B5EF4-FFF2-40B4-BE49-F238E27FC236}">
                <a16:creationId xmlns:a16="http://schemas.microsoft.com/office/drawing/2014/main" id="{9AD9B8E5-E053-42F5-A7CB-7F87DB4B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4005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E4E56"/>
                </a:solidFill>
              </a:defRPr>
            </a:pPr>
            <a:r>
              <a:rPr sz="1275">
                <a:solidFill>
                  <a:srgbClr val="4E4E56"/>
                </a:solidFill>
              </a:rPr>
              <a:t>Revalidate token + state</a:t>
            </a:r>
          </a:p>
          <a:p xmlns:a="http://schemas.openxmlformats.org/drawingml/2006/main">
            <a:pPr>
              <a:buNone/>
              <a:defRPr sz="1275">
                <a:solidFill>
                  <a:srgbClr val="4E4E56"/>
                </a:solidFill>
              </a:defRPr>
            </a:pPr>
            <a:r>
              <a:rPr sz="1275">
                <a:solidFill>
                  <a:srgbClr val="4E4E56"/>
                </a:solidFill>
              </a:rPr>
              <a:t>Execute · trace · audit</a:t>
            </a:r>
          </a:p>
        </p:txBody>
      </p:sp>
      <p:sp>
        <p:nvSpPr>
          <p:cNvPr id="2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CB25B61-8E8D-4F0B-BE79-4EEBD174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1C7B224-7A4E-4B07-BC74-6D31114C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898994"/>
                </a:solidFill>
              </a:defRPr>
            </a:pPr>
            <a:r>
              <a:rPr sz="825" b="1">
                <a:solidFill>
                  <a:srgbClr val="898994"/>
                </a:solidFill>
              </a:rPr>
              <a:t>DECAGON</a:t>
            </a:r>
          </a:p>
        </p:txBody>
      </p:sp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313E9A7-57BD-4FBF-88CC-A9023259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770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898994"/>
                </a:solidFill>
              </a:defRPr>
            </a:pPr>
            <a:r>
              <a:rPr sz="825" b="1">
                <a:solidFill>
                  <a:srgbClr val="898994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602994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d0db842d74c83">
            <a:extLst>
              <a:ext uri="{96DAC541-7B7A-43D3-8B79-37D633B846F1}">
                <asvg:svgBlip xmlns:asvg="http://schemas.microsoft.com/office/drawing/2016/SVG/main" r:embed="R518f15894d0f4bf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57200"/>
            <a:ext cx="1752600" cy="381518"/>
          </a:xfrm>
          <a:prstGeom xmlns:a="http://schemas.openxmlformats.org/drawingml/2006/main" prst="rect">
            <a:avLst/>
          </a:prstGeom>
        </p:spPr>
      </p:pic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49F05DA1-2E9E-4D54-AC61-B3FB235D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754FF"/>
                </a:solidFill>
              </a:defRPr>
            </a:pPr>
            <a:r>
              <a:rPr sz="975" b="1">
                <a:solidFill>
                  <a:srgbClr val="5754FF"/>
                </a:solidFill>
              </a:rPr>
              <a:t>PRODUCTION PATH</a:t>
            </a:r>
          </a:p>
        </p:txBody>
      </p:sp>
      <p:sp>
        <p:nvSpPr>
          <p:cNvPr id="3" name="story-title">
            <a:extLst xmlns:a="http://schemas.openxmlformats.org/drawingml/2006/main">
              <a:ext uri="{FF2B5EF4-FFF2-40B4-BE49-F238E27FC236}">
                <a16:creationId xmlns:a16="http://schemas.microsoft.com/office/drawing/2014/main" id="{9C5B1F68-4E7C-4593-841B-92D73F50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A0A0B"/>
                </a:solidFill>
              </a:defRPr>
            </a:pPr>
            <a:r>
              <a:rPr sz="3150" b="1">
                <a:solidFill>
                  <a:srgbClr val="0A0A0B"/>
                </a:solidFill>
              </a:rPr>
              <a:t>Server-side control comes first</a:t>
            </a:r>
          </a:p>
        </p:txBody>
      </p:sp>
      <p:sp>
        <p:nvSpPr>
          <p:cNvPr id="4" name="story-challenge-label">
            <a:extLst xmlns:a="http://schemas.openxmlformats.org/drawingml/2006/main">
              <a:ext uri="{FF2B5EF4-FFF2-40B4-BE49-F238E27FC236}">
                <a16:creationId xmlns:a16="http://schemas.microsoft.com/office/drawing/2014/main" id="{E79D0EF5-AC90-440E-BF8B-BAD410ED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5754FF"/>
                </a:solidFill>
              </a:defRPr>
            </a:pPr>
            <a:r>
              <a:rPr sz="1500" b="1">
                <a:solidFill>
                  <a:srgbClr val="5754FF"/>
                </a:solidFill>
              </a:rPr>
              <a:t>Today</a:t>
            </a:r>
          </a:p>
        </p:txBody>
      </p:sp>
      <p:sp>
        <p:nvSpPr>
          <p:cNvPr id="5" name="story-challenge">
            <a:extLst xmlns:a="http://schemas.openxmlformats.org/drawingml/2006/main">
              <a:ext uri="{FF2B5EF4-FFF2-40B4-BE49-F238E27FC236}">
                <a16:creationId xmlns:a16="http://schemas.microsoft.com/office/drawing/2014/main" id="{36B9D8E5-951D-4B22-8E93-6CB5AAC6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4E4E56"/>
                </a:solidFill>
              </a:defRPr>
            </a:pPr>
            <a:r>
              <a:rPr sz="1650">
                <a:solidFill>
                  <a:srgbClr val="4E4E56"/>
                </a:solidFill>
              </a:rPr>
              <a:t>Browser owns the WebRTC media path and currently relays function calls. The server already owns bootstrap, authorization, tools, and state.</a:t>
            </a:r>
          </a:p>
        </p:txBody>
      </p:sp>
      <p:sp>
        <p:nvSpPr>
          <p:cNvPr id="6" name="story-response-label">
            <a:extLst xmlns:a="http://schemas.openxmlformats.org/drawingml/2006/main">
              <a:ext uri="{FF2B5EF4-FFF2-40B4-BE49-F238E27FC236}">
                <a16:creationId xmlns:a16="http://schemas.microsoft.com/office/drawing/2014/main" id="{FC3124B9-619A-486C-B657-10F88940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5754FF"/>
                </a:solidFill>
              </a:defRPr>
            </a:pPr>
            <a:r>
              <a:rPr sz="1500" b="1">
                <a:solidFill>
                  <a:srgbClr val="5754FF"/>
                </a:solidFill>
              </a:rPr>
              <a:t>Production target</a:t>
            </a:r>
          </a:p>
        </p:txBody>
      </p:sp>
      <p:sp>
        <p:nvSpPr>
          <p:cNvPr id="7" name="story-response">
            <a:extLst xmlns:a="http://schemas.openxmlformats.org/drawingml/2006/main">
              <a:ext uri="{FF2B5EF4-FFF2-40B4-BE49-F238E27FC236}">
                <a16:creationId xmlns:a16="http://schemas.microsoft.com/office/drawing/2014/main" id="{7B9C318A-997D-494C-A985-BAFA5B51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4E4E56"/>
                </a:solidFill>
              </a:defRPr>
            </a:pPr>
            <a:r>
              <a:rPr sz="1650">
                <a:solidFill>
                  <a:srgbClr val="4E4E56"/>
                </a:solidFill>
              </a:rPr>
              <a:t>Keep WebRTC direct for media. Add a sideband connection to the same Realtime session so the server handles tool calls end to end.</a:t>
            </a:r>
          </a:p>
        </p:txBody>
      </p:sp>
      <p:sp>
        <p:nvSpPr>
          <p:cNvPr id="8" name="story-outcome-panel">
            <a:extLst xmlns:a="http://schemas.openxmlformats.org/drawingml/2006/main">
              <a:ext uri="{FF2B5EF4-FFF2-40B4-BE49-F238E27FC236}">
                <a16:creationId xmlns:a16="http://schemas.microsoft.com/office/drawing/2014/main" id="{844AA67C-611F-45C5-BEF2-CF6036EF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257300"/>
            <a:ext cx="4648200" cy="4457700"/>
          </a:xfrm>
          <a:prstGeom xmlns:a="http://schemas.openxmlformats.org/drawingml/2006/main" prst="roundRect">
            <a:avLst>
              <a:gd name="adj" fmla="val 5983"/>
            </a:avLst>
          </a:prstGeom>
          <a:solidFill xmlns:a="http://schemas.openxmlformats.org/drawingml/2006/main">
            <a:srgbClr val="57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ory-outcome-label">
            <a:extLst xmlns:a="http://schemas.openxmlformats.org/drawingml/2006/main">
              <a:ext uri="{FF2B5EF4-FFF2-40B4-BE49-F238E27FC236}">
                <a16:creationId xmlns:a16="http://schemas.microsoft.com/office/drawing/2014/main" id="{445CEA97-9597-4678-9965-3B58EDB3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09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9B99FF"/>
                </a:solidFill>
              </a:defRPr>
            </a:pPr>
            <a:r>
              <a:rPr sz="1200" b="1">
                <a:solidFill>
                  <a:srgbClr val="9B99FF"/>
                </a:solidFill>
              </a:rPr>
              <a:t>Why it matters</a:t>
            </a:r>
          </a:p>
        </p:txBody>
      </p:sp>
      <p:sp>
        <p:nvSpPr>
          <p:cNvPr id="10" name="story-outcome-value">
            <a:extLst xmlns:a="http://schemas.openxmlformats.org/drawingml/2006/main">
              <a:ext uri="{FF2B5EF4-FFF2-40B4-BE49-F238E27FC236}">
                <a16:creationId xmlns:a16="http://schemas.microsoft.com/office/drawing/2014/main" id="{5F0349C5-3B19-405E-A85E-E4B1FDE0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6220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450" b="1">
                <a:solidFill>
                  <a:srgbClr val="FFFFFF"/>
                </a:solidFill>
              </a:defRPr>
            </a:pPr>
            <a:r>
              <a:rPr sz="64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story-outcome-text">
            <a:extLst xmlns:a="http://schemas.openxmlformats.org/drawingml/2006/main">
              <a:ext uri="{FF2B5EF4-FFF2-40B4-BE49-F238E27FC236}">
                <a16:creationId xmlns:a16="http://schemas.microsoft.com/office/drawing/2014/main" id="{86F70352-0AE2-499F-BB87-8600CF1D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43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enforcement plane</a:t>
            </a:r>
          </a:p>
        </p:txBody>
      </p:sp>
      <p:sp>
        <p:nvSpPr>
          <p:cNvPr id="12" name="story-outcome-rule">
            <a:extLst xmlns:a="http://schemas.openxmlformats.org/drawingml/2006/main">
              <a:ext uri="{FF2B5EF4-FFF2-40B4-BE49-F238E27FC236}">
                <a16:creationId xmlns:a16="http://schemas.microsoft.com/office/drawing/2014/main" id="{D74E7790-3B3A-4C12-9FFF-ABD5DB0B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3434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ory-outcome-context">
            <a:extLst xmlns:a="http://schemas.openxmlformats.org/drawingml/2006/main">
              <a:ext uri="{FF2B5EF4-FFF2-40B4-BE49-F238E27FC236}">
                <a16:creationId xmlns:a16="http://schemas.microsoft.com/office/drawing/2014/main" id="{1E06A18D-8846-4566-B337-4652B558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291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EAEAEC"/>
                </a:solidFill>
              </a:defRPr>
            </a:pPr>
            <a:r>
              <a:rPr sz="1275">
                <a:solidFill>
                  <a:srgbClr val="EAEAEC"/>
                </a:solidFill>
              </a:rPr>
              <a:t>Auth · schemas · approvals · traces · rate limits · PII · idempotency</a:t>
            </a:r>
          </a:p>
        </p:txBody>
      </p:sp>
      <p:sp>
        <p:nvSpPr>
          <p:cNvPr id="1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9AD6E43-59E8-4095-B1E4-389F8E76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2E929310-FECD-46E2-8597-1F4CFDB3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898994"/>
                </a:solidFill>
              </a:defRPr>
            </a:pPr>
            <a:r>
              <a:rPr sz="825" b="1">
                <a:solidFill>
                  <a:srgbClr val="898994"/>
                </a:solidFill>
              </a:rPr>
              <a:t>DECAGON</a:t>
            </a:r>
          </a:p>
        </p:txBody>
      </p:sp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3611404-56FA-4A8A-BB38-63D75990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770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898994"/>
                </a:solidFill>
              </a:defRPr>
            </a:pPr>
            <a:r>
              <a:rPr sz="825" b="1">
                <a:solidFill>
                  <a:srgbClr val="898994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661956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11d01f6214456">
            <a:extLst>
              <a:ext uri="{96DAC541-7B7A-43D3-8B79-37D633B846F1}">
                <asvg:svgBlip xmlns:asvg="http://schemas.microsoft.com/office/drawing/2016/SVG/main" r:embed="R49f0fa7f8e2a424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57200"/>
            <a:ext cx="1752600" cy="381518"/>
          </a:xfrm>
          <a:prstGeom xmlns:a="http://schemas.openxmlformats.org/drawingml/2006/main" prst="rect">
            <a:avLst/>
          </a:prstGeom>
        </p:spPr>
      </p:pic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49F05DA1-2E9E-4D54-AC61-B3FB235D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754FF"/>
                </a:solidFill>
              </a:defRPr>
            </a:pPr>
            <a:r>
              <a:rPr sz="975" b="1">
                <a:solidFill>
                  <a:srgbClr val="5754FF"/>
                </a:solidFill>
              </a:rPr>
              <a:t>NEXT EVOLUTION</a:t>
            </a:r>
          </a:p>
        </p:txBody>
      </p:sp>
      <p:sp>
        <p:nvSpPr>
          <p:cNvPr id="3" name="story-title">
            <a:extLst xmlns:a="http://schemas.openxmlformats.org/drawingml/2006/main">
              <a:ext uri="{FF2B5EF4-FFF2-40B4-BE49-F238E27FC236}">
                <a16:creationId xmlns:a16="http://schemas.microsoft.com/office/drawing/2014/main" id="{9C5B1F68-4E7C-4593-841B-92D73F50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A0A0B"/>
                </a:solidFill>
              </a:defRPr>
            </a:pPr>
            <a:r>
              <a:rPr sz="3150" b="1">
                <a:solidFill>
                  <a:srgbClr val="0A0A0B"/>
                </a:solidFill>
              </a:rPr>
              <a:t>Every interaction improves the next</a:t>
            </a:r>
          </a:p>
        </p:txBody>
      </p:sp>
      <p:sp>
        <p:nvSpPr>
          <p:cNvPr id="4" name="story-challenge-label">
            <a:extLst xmlns:a="http://schemas.openxmlformats.org/drawingml/2006/main">
              <a:ext uri="{FF2B5EF4-FFF2-40B4-BE49-F238E27FC236}">
                <a16:creationId xmlns:a16="http://schemas.microsoft.com/office/drawing/2014/main" id="{E79D0EF5-AC90-440E-BF8B-BAD410ED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5754FF"/>
                </a:solidFill>
              </a:defRPr>
            </a:pPr>
            <a:r>
              <a:rPr sz="1500" b="1">
                <a:solidFill>
                  <a:srgbClr val="5754FF"/>
                </a:solidFill>
              </a:rPr>
              <a:t>CRM + account layer</a:t>
            </a:r>
          </a:p>
        </p:txBody>
      </p:sp>
      <p:sp>
        <p:nvSpPr>
          <p:cNvPr id="5" name="story-challenge">
            <a:extLst xmlns:a="http://schemas.openxmlformats.org/drawingml/2006/main">
              <a:ext uri="{FF2B5EF4-FFF2-40B4-BE49-F238E27FC236}">
                <a16:creationId xmlns:a16="http://schemas.microsoft.com/office/drawing/2014/main" id="{36B9D8E5-951D-4B22-8E93-6CB5AAC6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4E4E56"/>
                </a:solidFill>
              </a:defRPr>
            </a:pPr>
            <a:r>
              <a:rPr sz="1650">
                <a:solidFill>
                  <a:srgbClr val="4E4E56"/>
                </a:solidFill>
              </a:rPr>
              <a:t>Connect identity, orders, service history, loyalty, and preferences through production CRM and richer account pages.</a:t>
            </a:r>
          </a:p>
        </p:txBody>
      </p:sp>
      <p:sp>
        <p:nvSpPr>
          <p:cNvPr id="6" name="story-response-label">
            <a:extLst xmlns:a="http://schemas.openxmlformats.org/drawingml/2006/main">
              <a:ext uri="{FF2B5EF4-FFF2-40B4-BE49-F238E27FC236}">
                <a16:creationId xmlns:a16="http://schemas.microsoft.com/office/drawing/2014/main" id="{FC3124B9-619A-486C-B657-10F88940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5754FF"/>
                </a:solidFill>
              </a:defRPr>
            </a:pPr>
            <a:r>
              <a:rPr sz="1500" b="1">
                <a:solidFill>
                  <a:srgbClr val="5754FF"/>
                </a:solidFill>
              </a:rPr>
              <a:t>Knowledge graph</a:t>
            </a:r>
          </a:p>
        </p:txBody>
      </p:sp>
      <p:sp>
        <p:nvSpPr>
          <p:cNvPr id="7" name="story-response">
            <a:extLst xmlns:a="http://schemas.openxmlformats.org/drawingml/2006/main">
              <a:ext uri="{FF2B5EF4-FFF2-40B4-BE49-F238E27FC236}">
                <a16:creationId xmlns:a16="http://schemas.microsoft.com/office/drawing/2014/main" id="{7B9C318A-997D-494C-A985-BAFA5B51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4E4E56"/>
                </a:solidFill>
              </a:defRPr>
            </a:pPr>
            <a:r>
              <a:rPr sz="1650">
                <a:solidFill>
                  <a:srgbClr val="4E4E56"/>
                </a:solidFill>
              </a:rPr>
              <a:t>Link customer ↔ genre ↔ theme ↔ author ↔ format ↔ inventory to turn search into guided discovery.</a:t>
            </a:r>
          </a:p>
        </p:txBody>
      </p:sp>
      <p:sp>
        <p:nvSpPr>
          <p:cNvPr id="8" name="story-outcome-panel">
            <a:extLst xmlns:a="http://schemas.openxmlformats.org/drawingml/2006/main">
              <a:ext uri="{FF2B5EF4-FFF2-40B4-BE49-F238E27FC236}">
                <a16:creationId xmlns:a16="http://schemas.microsoft.com/office/drawing/2014/main" id="{844AA67C-611F-45C5-BEF2-CF6036EF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257300"/>
            <a:ext cx="4648200" cy="4457700"/>
          </a:xfrm>
          <a:prstGeom xmlns:a="http://schemas.openxmlformats.org/drawingml/2006/main" prst="roundRect">
            <a:avLst>
              <a:gd name="adj" fmla="val 5983"/>
            </a:avLst>
          </a:prstGeom>
          <a:solidFill xmlns:a="http://schemas.openxmlformats.org/drawingml/2006/main">
            <a:srgbClr val="57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ory-outcome-label">
            <a:extLst xmlns:a="http://schemas.openxmlformats.org/drawingml/2006/main">
              <a:ext uri="{FF2B5EF4-FFF2-40B4-BE49-F238E27FC236}">
                <a16:creationId xmlns:a16="http://schemas.microsoft.com/office/drawing/2014/main" id="{445CEA97-9597-4678-9965-3B58EDB3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09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9B99FF"/>
                </a:solidFill>
              </a:defRPr>
            </a:pPr>
            <a:r>
              <a:rPr sz="1200" b="1">
                <a:solidFill>
                  <a:srgbClr val="9B99FF"/>
                </a:solidFill>
              </a:rPr>
              <a:t>What compounds</a:t>
            </a:r>
          </a:p>
        </p:txBody>
      </p:sp>
      <p:sp>
        <p:nvSpPr>
          <p:cNvPr id="10" name="story-outcome-value">
            <a:extLst xmlns:a="http://schemas.openxmlformats.org/drawingml/2006/main">
              <a:ext uri="{FF2B5EF4-FFF2-40B4-BE49-F238E27FC236}">
                <a16:creationId xmlns:a16="http://schemas.microsoft.com/office/drawing/2014/main" id="{5F0349C5-3B19-405E-A85E-E4B1FDE0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6220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450" b="1">
                <a:solidFill>
                  <a:srgbClr val="FFFFFF"/>
                </a:solidFill>
              </a:defRPr>
            </a:pPr>
            <a:r>
              <a:rPr sz="64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story-outcome-text">
            <a:extLst xmlns:a="http://schemas.openxmlformats.org/drawingml/2006/main">
              <a:ext uri="{FF2B5EF4-FFF2-40B4-BE49-F238E27FC236}">
                <a16:creationId xmlns:a16="http://schemas.microsoft.com/office/drawing/2014/main" id="{86F70352-0AE2-499F-BB87-8600CF1D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43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evolving customer model</a:t>
            </a:r>
          </a:p>
        </p:txBody>
      </p:sp>
      <p:sp>
        <p:nvSpPr>
          <p:cNvPr id="12" name="story-outcome-rule">
            <a:extLst xmlns:a="http://schemas.openxmlformats.org/drawingml/2006/main">
              <a:ext uri="{FF2B5EF4-FFF2-40B4-BE49-F238E27FC236}">
                <a16:creationId xmlns:a16="http://schemas.microsoft.com/office/drawing/2014/main" id="{D74E7790-3B3A-4C12-9FFF-ABD5DB0B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3434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ory-outcome-context">
            <a:extLst xmlns:a="http://schemas.openxmlformats.org/drawingml/2006/main">
              <a:ext uri="{FF2B5EF4-FFF2-40B4-BE49-F238E27FC236}">
                <a16:creationId xmlns:a16="http://schemas.microsoft.com/office/drawing/2014/main" id="{1E06A18D-8846-4566-B337-4652B558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291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EAEAEC"/>
                </a:solidFill>
              </a:defRPr>
            </a:pPr>
            <a:r>
              <a:rPr sz="1275">
                <a:solidFill>
                  <a:srgbClr val="EAEAEC"/>
                </a:solidFill>
              </a:rPr>
              <a:t>Consent-aware memory · cross-channel continuity · recommendations that improve over time</a:t>
            </a:r>
          </a:p>
        </p:txBody>
      </p:sp>
      <p:sp>
        <p:nvSpPr>
          <p:cNvPr id="1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9AD6E43-59E8-4095-B1E4-389F8E76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2E929310-FECD-46E2-8597-1F4CFDB3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898994"/>
                </a:solidFill>
              </a:defRPr>
            </a:pPr>
            <a:r>
              <a:rPr sz="825" b="1">
                <a:solidFill>
                  <a:srgbClr val="898994"/>
                </a:solidFill>
              </a:rPr>
              <a:t>DECAGON</a:t>
            </a:r>
          </a:p>
        </p:txBody>
      </p:sp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3611404-56FA-4A8A-BB38-63D75990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770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898994"/>
                </a:solidFill>
              </a:defRPr>
            </a:pPr>
            <a:r>
              <a:rPr sz="825" b="1">
                <a:solidFill>
                  <a:srgbClr val="898994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661956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2026-08-15T02:30:30.4790000Z</dcterms:created>
  <dcterms:modified xsi:type="dcterms:W3CDTF">2026-08-15T02:30:30.4790000Z</dcterms:modified>
</coreProperties>
</file>