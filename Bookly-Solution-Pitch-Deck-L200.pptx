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57ee0ece194d82" /><Relationship Type="http://schemas.openxmlformats.org/officeDocument/2006/relationships/extended-properties" Target="/docProps/app.xml" Id="R3d829f92e3b64c26" /><Relationship Type="http://schemas.openxmlformats.org/officeDocument/2006/relationships/officeDocument" Target="/ppt/presentation.xml" Id="Rbfb71095139a4073" /></Relationships>
</file>

<file path=ppt/presentation.xml><?xml version="1.0" encoding="utf-8"?>
<p:presentation xmlns:p="http://schemas.openxmlformats.org/presentationml/2006/main">
  <p:sldMasterIdLst>
    <p:sldMasterId xmlns:r="http://schemas.openxmlformats.org/officeDocument/2006/relationships" id="2147483648" r:id="R40828be9e87644a6"/>
  </p:sldMasterIdLst>
  <p:notesMasterIdLst>
    <p:notesMasterId xmlns:r="http://schemas.openxmlformats.org/officeDocument/2006/relationships" r:id="R83dd80d6f78a40ab"/>
  </p:notesMasterIdLst>
  <p:sldIdLst>
    <p:sldId xmlns:r="http://schemas.openxmlformats.org/officeDocument/2006/relationships" id="256" r:id="R9dd9e3f46ef84c26"/>
    <p:sldId xmlns:r="http://schemas.openxmlformats.org/officeDocument/2006/relationships" id="257" r:id="Rebe4df9fa2564031"/>
    <p:sldId xmlns:r="http://schemas.openxmlformats.org/officeDocument/2006/relationships" id="258" r:id="Rbf403bdc94ad4a90"/>
    <p:sldId xmlns:r="http://schemas.openxmlformats.org/officeDocument/2006/relationships" id="259" r:id="R562edd98079a4977"/>
    <p:sldId xmlns:r="http://schemas.openxmlformats.org/officeDocument/2006/relationships" id="260" r:id="Rd9970e7800de40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0112158ff14803" /><Relationship Type="http://schemas.openxmlformats.org/officeDocument/2006/relationships/slideMaster" Target="/ppt/slideMasters/slideMaster1.xml" Id="R40828be9e87644a6" /><Relationship Type="http://schemas.openxmlformats.org/officeDocument/2006/relationships/notesMaster" Target="/ppt/notesMasters/notesMaster1.xml" Id="R83dd80d6f78a40ab" /><Relationship Type="http://schemas.openxmlformats.org/officeDocument/2006/relationships/presProps" Target="/ppt/presProps.xml" Id="Re577e7e4a93c4104" /><Relationship Type="http://schemas.openxmlformats.org/officeDocument/2006/relationships/tableStyles" Target="/ppt/tableStyles.xml" Id="R28fca05bba1a4d69" /><Relationship Type="http://schemas.openxmlformats.org/officeDocument/2006/relationships/slide" Target="/ppt/slides/slide1.xml" Id="R9dd9e3f46ef84c26" /><Relationship Type="http://schemas.openxmlformats.org/officeDocument/2006/relationships/slide" Target="/ppt/slides/slide2.xml" Id="Rebe4df9fa2564031" /><Relationship Type="http://schemas.openxmlformats.org/officeDocument/2006/relationships/slide" Target="/ppt/slides/slide3.xml" Id="Rbf403bdc94ad4a90" /><Relationship Type="http://schemas.openxmlformats.org/officeDocument/2006/relationships/slide" Target="/ppt/slides/slide4.xml" Id="R562edd98079a4977" /><Relationship Type="http://schemas.openxmlformats.org/officeDocument/2006/relationships/slide" Target="/ppt/slides/slide5.xml" Id="Rd9970e7800de40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a01ce41e0f44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7823cf27124bb1" /><Relationship Type="http://schemas.openxmlformats.org/officeDocument/2006/relationships/notesMaster" Target="/ppt/notesMasters/notesMaster1.xml" Id="R5c8adffdfbd241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f6f321869d4a67" /><Relationship Type="http://schemas.openxmlformats.org/officeDocument/2006/relationships/notesMaster" Target="/ppt/notesMasters/notesMaster1.xml" Id="R0bbf478bfe5148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23a807c2374408" /><Relationship Type="http://schemas.openxmlformats.org/officeDocument/2006/relationships/notesMaster" Target="/ppt/notesMasters/notesMaster1.xml" Id="R4f458fd85e7e45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c3b46d7d5e4d0d" /><Relationship Type="http://schemas.openxmlformats.org/officeDocument/2006/relationships/notesMaster" Target="/ppt/notesMasters/notesMaster1.xml" Id="Ra2fd7025ecb54b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f1a7ec0d6f405f" /><Relationship Type="http://schemas.openxmlformats.org/officeDocument/2006/relationships/notesMaster" Target="/ppt/notesMasters/notesMaster1.xml" Id="Rfbc2500ee05d43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Bookly is designed to feel natural until an action has consequences; then deterministic controls take over. The deeper story in this revision is how the runtime, tool contracts, identity, and guarded mutations make that thesis concrete.</a:t>
            </a:r>
          </a:p>
          <a:p xmlns:a="http://schemas.openxmlformats.org/drawingml/2006/main">
            <a:r>
              <a:t/>
            </a:r>
          </a:p>
          <a:p xmlns:a="http://schemas.openxmlformats.org/drawingml/2006/main">
            <a:r>
              <a:t>[Sources]</a:t>
            </a:r>
          </a:p>
          <a:p xmlns:a="http://schemas.openxmlformats.org/drawingml/2006/main">
            <a:r>
              <a:t>- C:/Users/Kevin/Downloads/SE Take-Home (1).pdf — Part 2 pitch requirements.</a:t>
            </a:r>
          </a:p>
          <a:p xmlns:a="http://schemas.openxmlformats.org/drawingml/2006/main">
            <a:r>
              <a:t>- C:/Users/Kevin/Documents/ChatGPT/Decagon-SE Takehome/README.md — implemented thesis and system scope.</a:t>
            </a:r>
          </a:p>
          <a:p xmlns:a="http://schemas.openxmlformats.org/drawingml/2006/main">
            <a:r>
              <a:t>- https://decagon.ai/ — logo, brand colors, typography, and copy reference retained from the Decagon template (accessed 2026-08-14).</a:t>
            </a:r>
          </a:p>
          <a:p xmlns:a="http://schemas.openxmlformats.org/drawingml/2006/main">
            <a:r>
              <a:t>- OpenAI Image Generation — light abstract background retained from the Decagon template, generated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diagram left to right, then follow the return path. The browser sends an SDP offer to /api/realtime; the permanent OpenAI key remains server-side and the browser receives only the SDP answer. The widget then carries live text and voice over WebRTC to GPT-Realtime-2.1. A session contract combines the system prompt, 29 typed tool schemas, transcription tuning, and semantic VAD. When the model selects a tool, /api/tools validates the envelope, resolves the signed browser-bound customer session, dispatches to domain executors, and records status, latency, inputs, and outputs. Reads and mutations go to SQLite or prefiltered LanceDB retrieval. Consequential mutations cross the guarded action engine before a structured result returns to the model and customer.</a:t>
            </a:r>
          </a:p>
          <a:p xmlns:a="http://schemas.openxmlformats.org/drawingml/2006/main">
            <a:r>
              <a:t/>
            </a:r>
          </a:p>
          <a:p xmlns:a="http://schemas.openxmlformats.org/drawingml/2006/main">
            <a:r>
              <a:t>The dashed production adapters show the intended portability boundary: replace local storage adapters while retaining the same model-facing contracts and server-owned controls.</a:t>
            </a:r>
          </a:p>
          <a:p xmlns:a="http://schemas.openxmlformats.org/drawingml/2006/main">
            <a:r>
              <a:t/>
            </a:r>
          </a:p>
          <a:p xmlns:a="http://schemas.openxmlformats.org/drawingml/2006/main">
            <a:r>
              <a:t>[Sources]</a:t>
            </a:r>
          </a:p>
          <a:p xmlns:a="http://schemas.openxmlformats.org/drawingml/2006/main">
            <a:r>
              <a:t>- C:/Users/Kevin/Documents/ChatGPT/Decagon-SE Takehome/README.md — architecture and production adapter boundary.</a:t>
            </a:r>
          </a:p>
          <a:p xmlns:a="http://schemas.openxmlformats.org/drawingml/2006/main">
            <a:r>
              <a:t>- C:/Users/Kevin/Documents/ChatGPT/Decagon-SE Takehome/lib/agent.ts — GPT-Realtime-2.1, system prompt, transcription, semantic VAD, and 29 schemas.</a:t>
            </a:r>
          </a:p>
          <a:p xmlns:a="http://schemas.openxmlformats.org/drawingml/2006/main">
            <a:r>
              <a:t>- C:/Users/Kevin/Documents/ChatGPT/Decagon-SE Takehome/app/api/realtime/route.ts — API-key boundary, safety identifier, and SDP bootstrap.</a:t>
            </a:r>
          </a:p>
          <a:p xmlns:a="http://schemas.openxmlformats.org/drawingml/2006/main">
            <a:r>
              <a:t>- C:/Users/Kevin/Documents/ChatGPT/Decagon-SE Takehome/app/api/tools/route.ts — Zod request envelope, session resolution, dispatch, safe failure, and trace write.</a:t>
            </a:r>
          </a:p>
          <a:p xmlns:a="http://schemas.openxmlformats.org/drawingml/2006/main">
            <a:r>
              <a:t>- C:/Users/Kevin/Documents/ChatGPT/Decagon-SE Takehome/lib/auth.ts — signed browser-session identity.</a:t>
            </a:r>
          </a:p>
          <a:p xmlns:a="http://schemas.openxmlformats.org/drawingml/2006/main">
            <a:r>
              <a:t>- C:/Users/Kevin/Documents/ChatGPT/Decagon-SE Takehome/lib/history.ts — persisted messages and tool traces.</a:t>
            </a:r>
          </a:p>
          <a:p xmlns:a="http://schemas.openxmlformats.org/drawingml/2006/main">
            <a:r>
              <a:t>- C:/Users/Kevin/Documents/ChatGPT/Decagon-SE Takehome/lib/tools.ts — guarded actions and LanceDB retrieval.</a:t>
            </a:r>
          </a:p>
          <a:p xmlns:a="http://schemas.openxmlformats.org/drawingml/2006/main">
            <a:r>
              <a:t>- Graphviz via bundled @viz-js/viz — diagram generated from the local implementation sources.</a:t>
            </a:r>
          </a:p>
          <a:p xmlns:a="http://schemas.openxmlformats.org/drawingml/2006/main">
            <a:r>
              <a:t>- https://decagon.ai/ — logo and brand system retained from the Decagon template (accessed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 is not the point by itself; the contract shape is. Discovery separates semantic recommendations from canonical purchasable variants. Read-before-write patterns resolve stable IDs before cart or order mutations. Account tools never accept customer identity from the model. High-impact tools separate preparation from execution. Escalation persists evidence before queueing a human.</a:t>
            </a:r>
          </a:p>
          <a:p xmlns:a="http://schemas.openxmlformats.org/drawingml/2006/main">
            <a:r>
              <a:t/>
            </a:r>
          </a:p>
          <a:p xmlns:a="http://schemas.openxmlformats.org/drawingml/2006/main">
            <a:r>
              <a:t>All 29 tools by domain:</a:t>
            </a:r>
          </a:p>
          <a:p xmlns:a="http://schemas.openxmlformats.org/drawingml/2006/main">
            <a:r>
              <a:t/>
            </a:r>
          </a:p>
          <a:p xmlns:a="http://schemas.openxmlformats.org/drawingml/2006/main">
            <a:r>
              <a:t>Discover + transact (8): search_catalog, get_book, get_cart, add_to_cart, update_cart_item, remove_from_cart, clear_cart, begin_checkout.</a:t>
            </a:r>
          </a:p>
          <a:p xmlns:a="http://schemas.openxmlformats.org/drawingml/2006/main">
            <a:r>
              <a:t/>
            </a:r>
          </a:p>
          <a:p xmlns:a="http://schemas.openxmlformats.org/drawingml/2006/main">
            <a:r>
              <a:t>Identify + retain (5): authenticate_customer, get_wishlist, add_to_wishlist, remove_from_wishlist, create_back_in_stock_alert.</a:t>
            </a:r>
          </a:p>
          <a:p xmlns:a="http://schemas.openxmlformats.org/drawingml/2006/main">
            <a:r>
              <a:t/>
            </a:r>
          </a:p>
          <a:p xmlns:a="http://schemas.openxmlformats.org/drawingml/2006/main">
            <a:r>
              <a:t>Resolve orders (10): lookup_order, check_order_modification_eligibility, cancel_order, update_shipping_address, prepare_refund, process_refund, prepare_replacement, create_replacement, create_return_label, get_return_status.</a:t>
            </a:r>
          </a:p>
          <a:p xmlns:a="http://schemas.openxmlformats.org/drawingml/2006/main">
            <a:r>
              <a:t/>
            </a:r>
          </a:p>
          <a:p xmlns:a="http://schemas.openxmlformats.org/drawingml/2006/main">
            <a:r>
              <a:t>Diagnose + escalate (6): investigate_shipment, open_shipping_investigation, search_knowledge, open_book, create_support_case, handoff_to_agent.</a:t>
            </a:r>
          </a:p>
          <a:p xmlns:a="http://schemas.openxmlformats.org/drawingml/2006/main">
            <a:r>
              <a:t/>
            </a:r>
          </a:p>
          <a:p xmlns:a="http://schemas.openxmlformats.org/drawingml/2006/main">
            <a:r>
              <a:t>[Sources]</a:t>
            </a:r>
          </a:p>
          <a:p xmlns:a="http://schemas.openxmlformats.org/drawingml/2006/main">
            <a:r>
              <a:t>- C:/Users/Kevin/Documents/ChatGPT/Decagon-SE Takehome/lib/agent.ts — complete 29-tool schema surface and orchestration rules.</a:t>
            </a:r>
          </a:p>
          <a:p xmlns:a="http://schemas.openxmlformats.org/drawingml/2006/main">
            <a:r>
              <a:t>- C:/Users/Kevin/Documents/ChatGPT/Decagon-SE Takehome/lib/commerce-tools.ts — catalog, cart, wishlist, alerts, and checkout behaviors.</a:t>
            </a:r>
          </a:p>
          <a:p xmlns:a="http://schemas.openxmlformats.org/drawingml/2006/main">
            <a:r>
              <a:t>- C:/Users/Kevin/Documents/ChatGPT/Decagon-SE Takehome/lib/resolution-tools.ts — order modification, replacement, return, case, and handoff behaviors.</a:t>
            </a:r>
          </a:p>
          <a:p xmlns:a="http://schemas.openxmlformats.org/drawingml/2006/main">
            <a:r>
              <a:t>- C:/Users/Kevin/Documents/ChatGPT/Decagon-SE Takehome/lib/tools.ts — order lookup, refunds, shipping, knowledge, and dispatcher composition.</a:t>
            </a:r>
          </a:p>
          <a:p xmlns:a="http://schemas.openxmlformats.org/drawingml/2006/main">
            <a:r>
              <a:t>- C:/Users/Kevin/Documents/ChatGPT/Decagon-SE Takehome/README.md — tool-domain explanation and read/prepare/execute patterns.</a:t>
            </a:r>
          </a:p>
          <a:p xmlns:a="http://schemas.openxmlformats.org/drawingml/2006/main">
            <a:r>
              <a:t>- https://decagon.ai/ — logo and brand system retained from the Decagon template (accessed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reusable safety pattern behind refunds, cancellations, address changes, replacements, and shipping investigations.</a:t>
            </a:r>
          </a:p>
          <a:p xmlns:a="http://schemas.openxmlformats.org/drawingml/2006/main">
            <a:r>
              <a:t/>
            </a:r>
          </a:p>
          <a:p xmlns:a="http://schemas.openxmlformats.org/drawingml/2006/main">
            <a:r>
              <a:t>1. Authenticate: authenticate_customer opens a private inline form. The server returns a signed HttpOnly cookie bound to the browser session; protected tools resolve the customer from the request, never model arguments.</a:t>
            </a:r>
          </a:p>
          <a:p xmlns:a="http://schemas.openxmlformats.org/drawingml/2006/main">
            <a:r>
              <a:t>2. Prepare: tools validate Zod schemas, account ownership, order state, policy eligibility, exact line quantities, and current amounts. Eligible actions write a short-lived one-time quote.</a:t>
            </a:r>
          </a:p>
          <a:p xmlns:a="http://schemas.openxmlformats.org/drawingml/2006/main">
            <a:r>
              <a:t>3. Confirm: the agent summarizes the exact proposed action and waits for an unambiguous confirmation in a later customer turn. The opaque token is never displayed.</a:t>
            </a:r>
          </a:p>
          <a:p xmlns:a="http://schemas.openxmlformats.org/drawingml/2006/main">
            <a:r>
              <a:t>4. Commit + audit: the execute tool rechecks identity, token ownership, expiry, prior use, and live business state inside a SQLite transaction; then it marks the quote used and persists the tool trace.</a:t>
            </a:r>
          </a:p>
          <a:p xmlns:a="http://schemas.openxmlformats.org/drawingml/2006/main">
            <a:r>
              <a:t/>
            </a:r>
          </a:p>
          <a:p xmlns:a="http://schemas.openxmlformats.org/drawingml/2006/main">
            <a:r>
              <a:t>Tradeoff: one extra conversational turn and more session/orchestration code. Value: reviewable intent, replay resistance, state-change detection, and auditable failure behavior.</a:t>
            </a:r>
          </a:p>
          <a:p xmlns:a="http://schemas.openxmlformats.org/drawingml/2006/main">
            <a:r>
              <a:t/>
            </a:r>
          </a:p>
          <a:p xmlns:a="http://schemas.openxmlformats.org/drawingml/2006/main">
            <a:r>
              <a:t>[Sources]</a:t>
            </a:r>
          </a:p>
          <a:p xmlns:a="http://schemas.openxmlformats.org/drawingml/2006/main">
            <a:r>
              <a:t>- C:/Users/Kevin/Documents/ChatGPT/Decagon-SE Takehome/lib/agent.ts — authentication and explicit later-turn confirmation instructions.</a:t>
            </a:r>
          </a:p>
          <a:p xmlns:a="http://schemas.openxmlformats.org/drawingml/2006/main">
            <a:r>
              <a:t>- C:/Users/Kevin/Documents/ChatGPT/Decagon-SE Takehome/lib/auth.ts — HMAC signature, browser-session binding, expiry, and timing-safe verification.</a:t>
            </a:r>
          </a:p>
          <a:p xmlns:a="http://schemas.openxmlformats.org/drawingml/2006/main">
            <a:r>
              <a:t>- C:/Users/Kevin/Documents/ChatGPT/Decagon-SE Takehome/lib/tools.ts — refund and shipping prepare/execute flows and SQLite revalidation transactions.</a:t>
            </a:r>
          </a:p>
          <a:p xmlns:a="http://schemas.openxmlformats.org/drawingml/2006/main">
            <a:r>
              <a:t>- C:/Users/Kevin/Documents/ChatGPT/Decagon-SE Takehome/lib/resolution-tools.ts — cancellation, address, replacement, and return guarded flows.</a:t>
            </a:r>
          </a:p>
          <a:p xmlns:a="http://schemas.openxmlformats.org/drawingml/2006/main">
            <a:r>
              <a:t>- C:/Users/Kevin/Documents/ChatGPT/Decagon-SE Takehome/app/api/tools/route.ts — server-owned identity context and durable trace persistence.</a:t>
            </a:r>
          </a:p>
          <a:p xmlns:a="http://schemas.openxmlformats.org/drawingml/2006/main">
            <a:r>
              <a:t>- https://decagon.ai/ — logo and brand system retained from the Decagon template (accessed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already centralizes the permanent API key, tool execution, identity checks, storage, and audit. The remaining split is the browser-owned Realtime data channel. Moving that control channel server-side creates one enforcement and observability plane for session policy, tool authorization, approvals, traces, rate limits, PII handling, and idempotency. Only then should the local adapters be replaced with enterprise identity, order, payment, and fulfillment systems. This sequencing keeps the 29 model-facing contracts stable while the backing systems change.</a:t>
            </a:r>
          </a:p>
          <a:p xmlns:a="http://schemas.openxmlformats.org/drawingml/2006/main">
            <a:r>
              <a:t/>
            </a:r>
          </a:p>
          <a:p xmlns:a="http://schemas.openxmlformats.org/drawingml/2006/main">
            <a:r>
              <a:t>[Sources]</a:t>
            </a:r>
          </a:p>
          <a:p xmlns:a="http://schemas.openxmlformats.org/drawingml/2006/main">
            <a:r>
              <a:t>- C:/Users/Kevin/Documents/ChatGPT/Decagon-SE Takehome/README.md — first production change and enterprise integration path.</a:t>
            </a:r>
          </a:p>
          <a:p xmlns:a="http://schemas.openxmlformats.org/drawingml/2006/main">
            <a:r>
              <a:t>- C:/Users/Kevin/Documents/ChatGPT/Decagon-SE Takehome/app/api/realtime/route.ts — current browser/WebRTC and server SDP boundary.</a:t>
            </a:r>
          </a:p>
          <a:p xmlns:a="http://schemas.openxmlformats.org/drawingml/2006/main">
            <a:r>
              <a:t>- C:/Users/Kevin/Documents/ChatGPT/Decagon-SE Takehome/app/api/tools/route.ts — current server-owned tool and trace control.</a:t>
            </a:r>
          </a:p>
          <a:p xmlns:a="http://schemas.openxmlformats.org/drawingml/2006/main">
            <a:r>
              <a:t>- C:/Users/Kevin/Documents/ChatGPT/Decagon-SE Takehome/lib/agent.ts — stable model-facing tool contracts.</a:t>
            </a:r>
          </a:p>
          <a:p xmlns:a="http://schemas.openxmlformats.org/drawingml/2006/main">
            <a:r>
              <a:t>- https://decagon.ai/ — logo and brand system retained from the Decagon template (accessed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ae23ec55a148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0cd6b854e14dd5" /><Relationship Type="http://schemas.openxmlformats.org/officeDocument/2006/relationships/slideLayout" Target="/ppt/slideLayouts/slideLayout1.xml" Id="R8165f5bebafe41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65f5bebafe41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0c71143762437e" /><Relationship Type="http://schemas.openxmlformats.org/officeDocument/2006/relationships/image" Target="/ppt/media/image.png" Id="Ra403c542c45245bd" /><Relationship Type="http://schemas.openxmlformats.org/officeDocument/2006/relationships/image" Target="/ppt/media/image.svg" Id="R1be70cab96214c01" /><Relationship Type="http://schemas.openxmlformats.org/officeDocument/2006/relationships/notesSlide" Target="/ppt/notesSlides/notesSlide1.xml" Id="R75072da3261e4d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477f73dd1c45fe" /><Relationship Type="http://schemas.openxmlformats.org/officeDocument/2006/relationships/image" Target="/ppt/media/image2.png" Id="Re98437e7c07b4534" /><Relationship Type="http://schemas.openxmlformats.org/officeDocument/2006/relationships/image" Target="/ppt/media/image2.svg" Id="R0bb5eb3df2234a63" /><Relationship Type="http://schemas.openxmlformats.org/officeDocument/2006/relationships/image" Target="/ppt/media/image3.png" Id="Ra636f1c8a9744a59" /><Relationship Type="http://schemas.openxmlformats.org/officeDocument/2006/relationships/image" Target="/ppt/media/image3.svg" Id="R98bd5966d8ce44f3" /><Relationship Type="http://schemas.openxmlformats.org/officeDocument/2006/relationships/notesSlide" Target="/ppt/notesSlides/notesSlide2.xml" Id="R4a65c20460dc4d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61dadd8a4a47d9" /><Relationship Type="http://schemas.openxmlformats.org/officeDocument/2006/relationships/image" Target="/ppt/media/image4.png" Id="Rcb7546e40a374b8c" /><Relationship Type="http://schemas.openxmlformats.org/officeDocument/2006/relationships/image" Target="/ppt/media/image4.svg" Id="R7c37055537134535" /><Relationship Type="http://schemas.openxmlformats.org/officeDocument/2006/relationships/notesSlide" Target="/ppt/notesSlides/notesSlide3.xml" Id="R0a989df14d424e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1a51050f794208" /><Relationship Type="http://schemas.openxmlformats.org/officeDocument/2006/relationships/image" Target="/ppt/media/image5.png" Id="R4c63ef6dbf6641cb" /><Relationship Type="http://schemas.openxmlformats.org/officeDocument/2006/relationships/image" Target="/ppt/media/image5.svg" Id="Rce4b19129da540d6" /><Relationship Type="http://schemas.openxmlformats.org/officeDocument/2006/relationships/notesSlide" Target="/ppt/notesSlides/notesSlide4.xml" Id="R1cfb3be4d6dd48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ceeed4adf24321" /><Relationship Type="http://schemas.openxmlformats.org/officeDocument/2006/relationships/image" Target="/ppt/media/image6.png" Id="R71e57d18b6494e62" /><Relationship Type="http://schemas.openxmlformats.org/officeDocument/2006/relationships/image" Target="/ppt/media/image6.svg" Id="Rd80fe8bf93724f11" /><Relationship Type="http://schemas.openxmlformats.org/officeDocument/2006/relationships/notesSlide" Target="/ppt/notesSlides/notesSlide5.xml" Id="Rfc7ba5adc75743d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403c542c45245b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403c542c45245bd">
            <a:extLst>
              <a:ext uri="{96DAC541-7B7A-43D3-8B79-37D633B846F1}">
                <asvg:svgBlip xmlns:asvg="http://schemas.microsoft.com/office/drawing/2016/SVG/main" r:embed="R1be70cab96214c01"/>
              </a:ext>
            </a:extLst>
          </a:blip>
          <a:stretch xmlns:a="http://schemas.openxmlformats.org/drawingml/2006/main"/>
        </p:blipFill>
        <p:spPr>
          <a:xfrm xmlns:a="http://schemas.openxmlformats.org/drawingml/2006/main">
            <a:off x="685800" y="495300"/>
            <a:ext cx="1790700" cy="389812"/>
          </a:xfrm>
          <a:prstGeom xmlns:a="http://schemas.openxmlformats.org/drawingml/2006/main" prst="rect">
            <a:avLst/>
          </a:prstGeom>
        </p:spPr>
      </p:pic>
      <p:sp>
        <p:nvSpPr>
          <p:cNvPr id="3" name="cover-title">
            <a:extLst xmlns:a="http://schemas.openxmlformats.org/drawingml/2006/main">
              <a:ext uri="{FF2B5EF4-FFF2-40B4-BE49-F238E27FC236}">
                <a16:creationId xmlns:a16="http://schemas.microsoft.com/office/drawing/2014/main" id="{7B78DC74-D0A7-44E3-981A-CBDFD23C3842}"/>
              </a:ext>
            </a:extLst>
          </p:cNvPr>
          <p:cNvSpPr>
            <a:spLocks xmlns:a="http://schemas.openxmlformats.org/drawingml/2006/main" noGrp="1"/>
          </p:cNvSpPr>
          <p:nvPr/>
        </p:nvSpPr>
        <p:spPr>
          <a:xfrm xmlns:a="http://schemas.openxmlformats.org/drawingml/2006/main">
            <a:off x="685800" y="1809750"/>
            <a:ext cx="80962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800" b="1">
                <a:solidFill>
                  <a:srgbClr val="0A0A0B"/>
                </a:solidFill>
              </a:defRPr>
            </a:pPr>
            <a:r>
              <a:rPr sz="4800" b="1">
                <a:solidFill>
                  <a:srgbClr val="0A0A0B"/>
                </a:solidFill>
              </a:rPr>
              <a:t>Bookly Realtime</a:t>
            </a:r>
          </a:p>
          <a:p xmlns:a="http://schemas.openxmlformats.org/drawingml/2006/main">
            <a:pPr>
              <a:buNone/>
              <a:defRPr sz="4800" b="1">
                <a:solidFill>
                  <a:srgbClr val="0A0A0B"/>
                </a:solidFill>
              </a:defRPr>
            </a:pPr>
            <a:r>
              <a:rPr sz="4800" b="1">
                <a:solidFill>
                  <a:srgbClr val="0A0A0B"/>
                </a:solidFill>
              </a:rPr>
              <a:t>Support Agent</a:t>
            </a:r>
          </a:p>
        </p:txBody>
      </p:sp>
      <p:sp>
        <p:nvSpPr>
          <p:cNvPr id="4" name="cover-subtitle">
            <a:extLst xmlns:a="http://schemas.openxmlformats.org/drawingml/2006/main">
              <a:ext uri="{FF2B5EF4-FFF2-40B4-BE49-F238E27FC236}">
                <a16:creationId xmlns:a16="http://schemas.microsoft.com/office/drawing/2014/main" id="{705048F8-4CCA-474A-A297-1B66C6A6260F}"/>
              </a:ext>
            </a:extLst>
          </p:cNvPr>
          <p:cNvSpPr>
            <a:spLocks xmlns:a="http://schemas.openxmlformats.org/drawingml/2006/main" noGrp="1"/>
          </p:cNvSpPr>
          <p:nvPr/>
        </p:nvSpPr>
        <p:spPr>
          <a:xfrm xmlns:a="http://schemas.openxmlformats.org/drawingml/2006/main">
            <a:off x="685800" y="3638550"/>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4E4E56"/>
                </a:solidFill>
              </a:defRPr>
            </a:pPr>
            <a:r>
              <a:rPr sz="1800">
                <a:solidFill>
                  <a:srgbClr val="4E4E56"/>
                </a:solidFill>
              </a:rPr>
              <a:t>Natural conversation. Deterministic consequences.</a:t>
            </a:r>
          </a:p>
        </p:txBody>
      </p:sp>
      <p:sp>
        <p:nvSpPr>
          <p:cNvPr id="5" name="accent-rule">
            <a:extLst xmlns:a="http://schemas.openxmlformats.org/drawingml/2006/main">
              <a:ext uri="{FF2B5EF4-FFF2-40B4-BE49-F238E27FC236}">
                <a16:creationId xmlns:a16="http://schemas.microsoft.com/office/drawing/2014/main" id="{DB0AF824-00E3-4E5B-B5E9-FC3627921CA3}"/>
              </a:ext>
            </a:extLst>
          </p:cNvPr>
          <p:cNvSpPr>
            <a:spLocks xmlns:a="http://schemas.openxmlformats.org/drawingml/2006/main" noGrp="1"/>
          </p:cNvSpPr>
          <p:nvPr/>
        </p:nvSpPr>
        <p:spPr>
          <a:xfrm xmlns:a="http://schemas.openxmlformats.org/drawingml/2006/main">
            <a:off x="685800" y="5219700"/>
            <a:ext cx="914400" cy="47625"/>
          </a:xfrm>
          <a:prstGeom xmlns:a="http://schemas.openxmlformats.org/drawingml/2006/main" prst="rect">
            <a:avLst/>
          </a:prstGeom>
          <a:solidFill xmlns:a="http://schemas.openxmlformats.org/drawingml/2006/main">
            <a:srgbClr val="5754FF"/>
          </a:solidFill>
          <a:ln xmlns:a="http://schemas.openxmlformats.org/drawingml/2006/main" w="0">
            <a:noFill/>
            <a:prstDash val="solid"/>
          </a:ln>
        </p:spPr>
      </p:sp>
      <p:sp>
        <p:nvSpPr>
          <p:cNvPr id="6" name="cover-meta">
            <a:extLst xmlns:a="http://schemas.openxmlformats.org/drawingml/2006/main">
              <a:ext uri="{FF2B5EF4-FFF2-40B4-BE49-F238E27FC236}">
                <a16:creationId xmlns:a16="http://schemas.microsoft.com/office/drawing/2014/main" id="{14540C9E-8551-45F8-9465-6B38248CF189}"/>
              </a:ext>
            </a:extLst>
          </p:cNvPr>
          <p:cNvSpPr>
            <a:spLocks xmlns:a="http://schemas.openxmlformats.org/drawingml/2006/main" noGrp="1"/>
          </p:cNvSpPr>
          <p:nvPr/>
        </p:nvSpPr>
        <p:spPr>
          <a:xfrm xmlns:a="http://schemas.openxmlformats.org/drawingml/2006/main">
            <a:off x="685800" y="54673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4E4E56"/>
                </a:solidFill>
              </a:defRPr>
            </a:pPr>
            <a:r>
              <a:rPr sz="975" b="1">
                <a:solidFill>
                  <a:srgbClr val="4E4E56"/>
                </a:solidFill>
              </a:rPr>
              <a:t>SOLUTIONS ENGINEERING TAKE-HOME | AUGUST 2026</a:t>
            </a:r>
          </a:p>
        </p:txBody>
      </p:sp>
    </p:spTree>
    <p:extLst>
      <p:ext uri="{BB962C8B-B14F-4D97-AF65-F5344CB8AC3E}">
        <p14:creationId xmlns:p14="http://schemas.microsoft.com/office/powerpoint/2010/main" val="15626720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98437e7c07b4534">
            <a:extLst>
              <a:ext uri="{96DAC541-7B7A-43D3-8B79-37D633B846F1}">
                <asvg:svgBlip xmlns:asvg="http://schemas.microsoft.com/office/drawing/2016/SVG/main" r:embed="R0bb5eb3df2234a63"/>
              </a:ext>
            </a:extLst>
          </a:blip>
          <a:stretch xmlns:a="http://schemas.openxmlformats.org/drawingml/2006/main"/>
        </p:blipFill>
        <p:spPr>
          <a:xfrm xmlns:a="http://schemas.openxmlformats.org/drawingml/2006/main">
            <a:off x="685800" y="457200"/>
            <a:ext cx="1752600" cy="381518"/>
          </a:xfrm>
          <a:prstGeom xmlns:a="http://schemas.openxmlformats.org/drawingml/2006/main" prst="rect">
            <a:avLst/>
          </a:prstGeom>
        </p:spPr>
      </p:pic>
      <p:sp>
        <p:nvSpPr>
          <p:cNvPr id="2" name="kicker">
            <a:extLst xmlns:a="http://schemas.openxmlformats.org/drawingml/2006/main">
              <a:ext uri="{FF2B5EF4-FFF2-40B4-BE49-F238E27FC236}">
                <a16:creationId xmlns:a16="http://schemas.microsoft.com/office/drawing/2014/main" id="{A646B0E3-3C73-445E-A56F-443A619E55DE}"/>
              </a:ext>
            </a:extLst>
          </p:cNvPr>
          <p:cNvSpPr>
            <a:spLocks xmlns:a="http://schemas.openxmlformats.org/drawingml/2006/main" noGrp="1"/>
          </p:cNvSpPr>
          <p:nvPr/>
        </p:nvSpPr>
        <p:spPr>
          <a:xfrm xmlns:a="http://schemas.openxmlformats.org/drawingml/2006/main">
            <a:off x="685800" y="11811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754FF"/>
                </a:solidFill>
              </a:defRPr>
            </a:pPr>
            <a:r>
              <a:rPr sz="975" b="1">
                <a:solidFill>
                  <a:srgbClr val="5754FF"/>
                </a:solidFill>
              </a:rPr>
              <a:t>RUNTIME ARCHITECTURE</a:t>
            </a:r>
          </a:p>
        </p:txBody>
      </p:sp>
      <p:sp>
        <p:nvSpPr>
          <p:cNvPr id="3" name="chart-title">
            <a:extLst xmlns:a="http://schemas.openxmlformats.org/drawingml/2006/main">
              <a:ext uri="{FF2B5EF4-FFF2-40B4-BE49-F238E27FC236}">
                <a16:creationId xmlns:a16="http://schemas.microsoft.com/office/drawing/2014/main" id="{B858E1EC-CAB9-4300-BEE4-D3903E4087B0}"/>
              </a:ext>
            </a:extLst>
          </p:cNvPr>
          <p:cNvSpPr>
            <a:spLocks xmlns:a="http://schemas.openxmlformats.org/drawingml/2006/main" noGrp="1"/>
          </p:cNvSpPr>
          <p:nvPr/>
        </p:nvSpPr>
        <p:spPr>
          <a:xfrm xmlns:a="http://schemas.openxmlformats.org/drawingml/2006/main">
            <a:off x="685800" y="1504950"/>
            <a:ext cx="781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0A0A0B"/>
                </a:solidFill>
              </a:defRPr>
            </a:pPr>
            <a:r>
              <a:rPr sz="3000" b="1">
                <a:solidFill>
                  <a:srgbClr val="0A0A0B"/>
                </a:solidFill>
              </a:rPr>
              <a:t>Natural conversation. Deterministic execution.</a:t>
            </a:r>
          </a:p>
        </p:txBody>
      </p:sp>
      <p:sp>
        <p:nvSpPr>
          <p:cNvPr id="9" name="footer-rule">
            <a:extLst xmlns:a="http://schemas.openxmlformats.org/drawingml/2006/main">
              <a:ext uri="{FF2B5EF4-FFF2-40B4-BE49-F238E27FC236}">
                <a16:creationId xmlns:a16="http://schemas.microsoft.com/office/drawing/2014/main" id="{CAF61DDE-B446-4C09-9AA2-9344EAF478A1}"/>
              </a:ext>
            </a:extLst>
          </p:cNvPr>
          <p:cNvSpPr>
            <a:spLocks xmlns:a="http://schemas.openxmlformats.org/drawingml/2006/main" noGrp="1"/>
          </p:cNvSpPr>
          <p:nvPr/>
        </p:nvSpPr>
        <p:spPr>
          <a:xfrm xmlns:a="http://schemas.openxmlformats.org/drawingml/2006/main">
            <a:off x="685800" y="6381750"/>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10" name="footer-brand">
            <a:extLst xmlns:a="http://schemas.openxmlformats.org/drawingml/2006/main">
              <a:ext uri="{FF2B5EF4-FFF2-40B4-BE49-F238E27FC236}">
                <a16:creationId xmlns:a16="http://schemas.microsoft.com/office/drawing/2014/main" id="{8CC2851B-5F18-46F8-BCEA-6A6AFDE8E7E2}"/>
              </a:ext>
            </a:extLst>
          </p:cNvPr>
          <p:cNvSpPr>
            <a:spLocks xmlns:a="http://schemas.openxmlformats.org/drawingml/2006/main" noGrp="1"/>
          </p:cNvSpPr>
          <p:nvPr/>
        </p:nvSpPr>
        <p:spPr>
          <a:xfrm xmlns:a="http://schemas.openxmlformats.org/drawingml/2006/main">
            <a:off x="685800" y="64770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898994"/>
                </a:solidFill>
              </a:defRPr>
            </a:pPr>
            <a:r>
              <a:rPr sz="825" b="1">
                <a:solidFill>
                  <a:srgbClr val="898994"/>
                </a:solidFill>
              </a:rPr>
              <a:t>DECAGON</a:t>
            </a:r>
          </a:p>
        </p:txBody>
      </p:sp>
      <p:sp>
        <p:nvSpPr>
          <p:cNvPr id="11" name="slide-number">
            <a:extLst xmlns:a="http://schemas.openxmlformats.org/drawingml/2006/main">
              <a:ext uri="{FF2B5EF4-FFF2-40B4-BE49-F238E27FC236}">
                <a16:creationId xmlns:a16="http://schemas.microsoft.com/office/drawing/2014/main" id="{51A699E4-46CD-464F-B20A-E446C8B9A8D7}"/>
              </a:ext>
            </a:extLst>
          </p:cNvPr>
          <p:cNvSpPr>
            <a:spLocks xmlns:a="http://schemas.openxmlformats.org/drawingml/2006/main" noGrp="1"/>
          </p:cNvSpPr>
          <p:nvPr/>
        </p:nvSpPr>
        <p:spPr>
          <a:xfrm xmlns:a="http://schemas.openxmlformats.org/drawingml/2006/main">
            <a:off x="11106150" y="64770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98994"/>
                </a:solidFill>
              </a:defRPr>
            </a:pPr>
            <a:r>
              <a:rPr sz="825" b="1">
                <a:solidFill>
                  <a:srgbClr val="898994"/>
                </a:solidFill>
              </a:rPr>
              <a:t>02</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636f1c8a9744a59">
            <a:extLst>
              <a:ext uri="{96DAC541-7B7A-43D3-8B79-37D633B846F1}">
                <asvg:svgBlip xmlns:asvg="http://schemas.microsoft.com/office/drawing/2016/SVG/main" r:embed="R98bd5966d8ce44f3"/>
              </a:ext>
            </a:extLst>
          </a:blip>
          <a:stretch xmlns:a="http://schemas.openxmlformats.org/drawingml/2006/main"/>
        </p:blipFill>
        <p:spPr>
          <a:xfrm xmlns:a="http://schemas.openxmlformats.org/drawingml/2006/main">
            <a:off x="685800" y="2190750"/>
            <a:ext cx="10648950" cy="3619500"/>
          </a:xfrm>
          <a:prstGeom xmlns:a="http://schemas.openxmlformats.org/drawingml/2006/main" prst="rect">
            <a:avLst/>
          </a:prstGeom>
        </p:spPr>
      </p:pic>
    </p:spTree>
    <p:extLst>
      <p:ext uri="{BB962C8B-B14F-4D97-AF65-F5344CB8AC3E}">
        <p14:creationId xmlns:p14="http://schemas.microsoft.com/office/powerpoint/2010/main" val="2602399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b7546e40a374b8c">
            <a:extLst>
              <a:ext uri="{96DAC541-7B7A-43D3-8B79-37D633B846F1}">
                <asvg:svgBlip xmlns:asvg="http://schemas.microsoft.com/office/drawing/2016/SVG/main" r:embed="R7c37055537134535"/>
              </a:ext>
            </a:extLst>
          </a:blip>
          <a:stretch xmlns:a="http://schemas.openxmlformats.org/drawingml/2006/main"/>
        </p:blipFill>
        <p:spPr>
          <a:xfrm xmlns:a="http://schemas.openxmlformats.org/drawingml/2006/main">
            <a:off x="685800" y="457200"/>
            <a:ext cx="1752600" cy="381518"/>
          </a:xfrm>
          <a:prstGeom xmlns:a="http://schemas.openxmlformats.org/drawingml/2006/main" prst="rect">
            <a:avLst/>
          </a:prstGeom>
        </p:spPr>
      </p:pic>
      <p:sp>
        <p:nvSpPr>
          <p:cNvPr id="2" name="kicker">
            <a:extLst xmlns:a="http://schemas.openxmlformats.org/drawingml/2006/main">
              <a:ext uri="{FF2B5EF4-FFF2-40B4-BE49-F238E27FC236}">
                <a16:creationId xmlns:a16="http://schemas.microsoft.com/office/drawing/2014/main" id="{9BA8F227-8F8A-41CC-8AD4-880516C6E539}"/>
              </a:ext>
            </a:extLst>
          </p:cNvPr>
          <p:cNvSpPr>
            <a:spLocks xmlns:a="http://schemas.openxmlformats.org/drawingml/2006/main" noGrp="1"/>
          </p:cNvSpPr>
          <p:nvPr/>
        </p:nvSpPr>
        <p:spPr>
          <a:xfrm xmlns:a="http://schemas.openxmlformats.org/drawingml/2006/main">
            <a:off x="685800" y="12001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754FF"/>
                </a:solidFill>
              </a:defRPr>
            </a:pPr>
            <a:r>
              <a:rPr sz="975" b="1">
                <a:solidFill>
                  <a:srgbClr val="5754FF"/>
                </a:solidFill>
              </a:rPr>
              <a:t>TOOL SURFACE</a:t>
            </a:r>
          </a:p>
        </p:txBody>
      </p:sp>
      <p:sp>
        <p:nvSpPr>
          <p:cNvPr id="3" name="agenda-title">
            <a:extLst xmlns:a="http://schemas.openxmlformats.org/drawingml/2006/main">
              <a:ext uri="{FF2B5EF4-FFF2-40B4-BE49-F238E27FC236}">
                <a16:creationId xmlns:a16="http://schemas.microsoft.com/office/drawing/2014/main" id="{DDEFA9CF-DD48-4787-B130-9E2A1E305388}"/>
              </a:ext>
            </a:extLst>
          </p:cNvPr>
          <p:cNvSpPr>
            <a:spLocks xmlns:a="http://schemas.openxmlformats.org/drawingml/2006/main" noGrp="1"/>
          </p:cNvSpPr>
          <p:nvPr/>
        </p:nvSpPr>
        <p:spPr>
          <a:xfrm xmlns:a="http://schemas.openxmlformats.org/drawingml/2006/main">
            <a:off x="685800" y="1504950"/>
            <a:ext cx="723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0A0A0B"/>
                </a:solidFill>
              </a:defRPr>
            </a:pPr>
            <a:r>
              <a:rPr sz="3150" b="1">
                <a:solidFill>
                  <a:srgbClr val="0A0A0B"/>
                </a:solidFill>
              </a:rPr>
              <a:t>29 typed tools cover the journey</a:t>
            </a:r>
          </a:p>
        </p:txBody>
      </p:sp>
      <p:sp>
        <p:nvSpPr>
          <p:cNvPr id="4" name="agenda-rule-0">
            <a:extLst xmlns:a="http://schemas.openxmlformats.org/drawingml/2006/main">
              <a:ext uri="{FF2B5EF4-FFF2-40B4-BE49-F238E27FC236}">
                <a16:creationId xmlns:a16="http://schemas.microsoft.com/office/drawing/2014/main" id="{F508731C-CFA7-4030-85DC-44D761EA5B0E}"/>
              </a:ext>
            </a:extLst>
          </p:cNvPr>
          <p:cNvSpPr>
            <a:spLocks xmlns:a="http://schemas.openxmlformats.org/drawingml/2006/main" noGrp="1"/>
          </p:cNvSpPr>
          <p:nvPr/>
        </p:nvSpPr>
        <p:spPr>
          <a:xfrm xmlns:a="http://schemas.openxmlformats.org/drawingml/2006/main">
            <a:off x="685800" y="2333625"/>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5" name="agenda-number-0">
            <a:extLst xmlns:a="http://schemas.openxmlformats.org/drawingml/2006/main">
              <a:ext uri="{FF2B5EF4-FFF2-40B4-BE49-F238E27FC236}">
                <a16:creationId xmlns:a16="http://schemas.microsoft.com/office/drawing/2014/main" id="{BB12C630-247F-4F34-B867-3AD5CFD27BC0}"/>
              </a:ext>
            </a:extLst>
          </p:cNvPr>
          <p:cNvSpPr>
            <a:spLocks xmlns:a="http://schemas.openxmlformats.org/drawingml/2006/main" noGrp="1"/>
          </p:cNvSpPr>
          <p:nvPr/>
        </p:nvSpPr>
        <p:spPr>
          <a:xfrm xmlns:a="http://schemas.openxmlformats.org/drawingml/2006/main">
            <a:off x="685800" y="247650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754FF"/>
                </a:solidFill>
              </a:defRPr>
            </a:pPr>
            <a:r>
              <a:rPr sz="1350" b="1">
                <a:solidFill>
                  <a:srgbClr val="5754FF"/>
                </a:solidFill>
              </a:rPr>
              <a:t>08</a:t>
            </a:r>
          </a:p>
        </p:txBody>
      </p:sp>
      <p:sp>
        <p:nvSpPr>
          <p:cNvPr id="6" name="agenda-item-0">
            <a:extLst xmlns:a="http://schemas.openxmlformats.org/drawingml/2006/main">
              <a:ext uri="{FF2B5EF4-FFF2-40B4-BE49-F238E27FC236}">
                <a16:creationId xmlns:a16="http://schemas.microsoft.com/office/drawing/2014/main" id="{91C1DD96-2505-4A7A-80EB-D768DEAF50FF}"/>
              </a:ext>
            </a:extLst>
          </p:cNvPr>
          <p:cNvSpPr>
            <a:spLocks xmlns:a="http://schemas.openxmlformats.org/drawingml/2006/main" noGrp="1"/>
          </p:cNvSpPr>
          <p:nvPr/>
        </p:nvSpPr>
        <p:spPr>
          <a:xfrm xmlns:a="http://schemas.openxmlformats.org/drawingml/2006/main">
            <a:off x="1619250" y="245745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0A0A0B"/>
                </a:solidFill>
              </a:defRPr>
            </a:pPr>
            <a:r>
              <a:rPr sz="1950" b="1">
                <a:solidFill>
                  <a:srgbClr val="0A0A0B"/>
                </a:solidFill>
              </a:rPr>
              <a:t>Discover + transact</a:t>
            </a:r>
          </a:p>
        </p:txBody>
      </p:sp>
      <p:sp>
        <p:nvSpPr>
          <p:cNvPr id="7" name="agenda-desc-0">
            <a:extLst xmlns:a="http://schemas.openxmlformats.org/drawingml/2006/main">
              <a:ext uri="{FF2B5EF4-FFF2-40B4-BE49-F238E27FC236}">
                <a16:creationId xmlns:a16="http://schemas.microsoft.com/office/drawing/2014/main" id="{8110B5B2-6922-45B6-84DF-310587E4A437}"/>
              </a:ext>
            </a:extLst>
          </p:cNvPr>
          <p:cNvSpPr>
            <a:spLocks xmlns:a="http://schemas.openxmlformats.org/drawingml/2006/main" noGrp="1"/>
          </p:cNvSpPr>
          <p:nvPr/>
        </p:nvSpPr>
        <p:spPr>
          <a:xfrm xmlns:a="http://schemas.openxmlformats.org/drawingml/2006/main">
            <a:off x="6191250" y="24955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search_catalog / get_book → cart CRUD → begin_checkout</a:t>
            </a:r>
          </a:p>
        </p:txBody>
      </p:sp>
      <p:sp>
        <p:nvSpPr>
          <p:cNvPr id="8" name="agenda-rule-1">
            <a:extLst xmlns:a="http://schemas.openxmlformats.org/drawingml/2006/main">
              <a:ext uri="{FF2B5EF4-FFF2-40B4-BE49-F238E27FC236}">
                <a16:creationId xmlns:a16="http://schemas.microsoft.com/office/drawing/2014/main" id="{F2D3B068-FC50-4E8B-9D4C-A7E342BF252B}"/>
              </a:ext>
            </a:extLst>
          </p:cNvPr>
          <p:cNvSpPr>
            <a:spLocks xmlns:a="http://schemas.openxmlformats.org/drawingml/2006/main" noGrp="1"/>
          </p:cNvSpPr>
          <p:nvPr/>
        </p:nvSpPr>
        <p:spPr>
          <a:xfrm xmlns:a="http://schemas.openxmlformats.org/drawingml/2006/main">
            <a:off x="685800" y="3152775"/>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9" name="agenda-number-1">
            <a:extLst xmlns:a="http://schemas.openxmlformats.org/drawingml/2006/main">
              <a:ext uri="{FF2B5EF4-FFF2-40B4-BE49-F238E27FC236}">
                <a16:creationId xmlns:a16="http://schemas.microsoft.com/office/drawing/2014/main" id="{71BC7B35-549E-44C2-A104-758B9FCF8A35}"/>
              </a:ext>
            </a:extLst>
          </p:cNvPr>
          <p:cNvSpPr>
            <a:spLocks xmlns:a="http://schemas.openxmlformats.org/drawingml/2006/main" noGrp="1"/>
          </p:cNvSpPr>
          <p:nvPr/>
        </p:nvSpPr>
        <p:spPr>
          <a:xfrm xmlns:a="http://schemas.openxmlformats.org/drawingml/2006/main">
            <a:off x="685800" y="32956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754FF"/>
                </a:solidFill>
              </a:defRPr>
            </a:pPr>
            <a:r>
              <a:rPr sz="1350" b="1">
                <a:solidFill>
                  <a:srgbClr val="5754FF"/>
                </a:solidFill>
              </a:rPr>
              <a:t>05</a:t>
            </a:r>
          </a:p>
        </p:txBody>
      </p:sp>
      <p:sp>
        <p:nvSpPr>
          <p:cNvPr id="10" name="agenda-item-1">
            <a:extLst xmlns:a="http://schemas.openxmlformats.org/drawingml/2006/main">
              <a:ext uri="{FF2B5EF4-FFF2-40B4-BE49-F238E27FC236}">
                <a16:creationId xmlns:a16="http://schemas.microsoft.com/office/drawing/2014/main" id="{522A2D19-10C5-4FE5-AA3B-9FEE1AAC361B}"/>
              </a:ext>
            </a:extLst>
          </p:cNvPr>
          <p:cNvSpPr>
            <a:spLocks xmlns:a="http://schemas.openxmlformats.org/drawingml/2006/main" noGrp="1"/>
          </p:cNvSpPr>
          <p:nvPr/>
        </p:nvSpPr>
        <p:spPr>
          <a:xfrm xmlns:a="http://schemas.openxmlformats.org/drawingml/2006/main">
            <a:off x="1619250" y="327660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0A0A0B"/>
                </a:solidFill>
              </a:defRPr>
            </a:pPr>
            <a:r>
              <a:rPr sz="1950" b="1">
                <a:solidFill>
                  <a:srgbClr val="0A0A0B"/>
                </a:solidFill>
              </a:rPr>
              <a:t>Identify + retain</a:t>
            </a:r>
          </a:p>
        </p:txBody>
      </p:sp>
      <p:sp>
        <p:nvSpPr>
          <p:cNvPr id="11" name="agenda-desc-1">
            <a:extLst xmlns:a="http://schemas.openxmlformats.org/drawingml/2006/main">
              <a:ext uri="{FF2B5EF4-FFF2-40B4-BE49-F238E27FC236}">
                <a16:creationId xmlns:a16="http://schemas.microsoft.com/office/drawing/2014/main" id="{9F2AB133-68FA-4BDE-84D0-BBD38EB897B0}"/>
              </a:ext>
            </a:extLst>
          </p:cNvPr>
          <p:cNvSpPr>
            <a:spLocks xmlns:a="http://schemas.openxmlformats.org/drawingml/2006/main" noGrp="1"/>
          </p:cNvSpPr>
          <p:nvPr/>
        </p:nvSpPr>
        <p:spPr>
          <a:xfrm xmlns:a="http://schemas.openxmlformats.org/drawingml/2006/main">
            <a:off x="6191250" y="33147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authenticate_customer → wishlist CRUD → stock alert</a:t>
            </a:r>
          </a:p>
        </p:txBody>
      </p:sp>
      <p:sp>
        <p:nvSpPr>
          <p:cNvPr id="12" name="agenda-rule-2">
            <a:extLst xmlns:a="http://schemas.openxmlformats.org/drawingml/2006/main">
              <a:ext uri="{FF2B5EF4-FFF2-40B4-BE49-F238E27FC236}">
                <a16:creationId xmlns:a16="http://schemas.microsoft.com/office/drawing/2014/main" id="{81F90D52-663F-4B50-B630-231BF851720D}"/>
              </a:ext>
            </a:extLst>
          </p:cNvPr>
          <p:cNvSpPr>
            <a:spLocks xmlns:a="http://schemas.openxmlformats.org/drawingml/2006/main" noGrp="1"/>
          </p:cNvSpPr>
          <p:nvPr/>
        </p:nvSpPr>
        <p:spPr>
          <a:xfrm xmlns:a="http://schemas.openxmlformats.org/drawingml/2006/main">
            <a:off x="685800" y="3971925"/>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13" name="agenda-number-2">
            <a:extLst xmlns:a="http://schemas.openxmlformats.org/drawingml/2006/main">
              <a:ext uri="{FF2B5EF4-FFF2-40B4-BE49-F238E27FC236}">
                <a16:creationId xmlns:a16="http://schemas.microsoft.com/office/drawing/2014/main" id="{97B907A4-5A1A-40EC-BD56-697F3E85E38B}"/>
              </a:ext>
            </a:extLst>
          </p:cNvPr>
          <p:cNvSpPr>
            <a:spLocks xmlns:a="http://schemas.openxmlformats.org/drawingml/2006/main" noGrp="1"/>
          </p:cNvSpPr>
          <p:nvPr/>
        </p:nvSpPr>
        <p:spPr>
          <a:xfrm xmlns:a="http://schemas.openxmlformats.org/drawingml/2006/main">
            <a:off x="685800" y="411480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754FF"/>
                </a:solidFill>
              </a:defRPr>
            </a:pPr>
            <a:r>
              <a:rPr sz="1350" b="1">
                <a:solidFill>
                  <a:srgbClr val="5754FF"/>
                </a:solidFill>
              </a:rPr>
              <a:t>10</a:t>
            </a:r>
          </a:p>
        </p:txBody>
      </p:sp>
      <p:sp>
        <p:nvSpPr>
          <p:cNvPr id="14" name="agenda-item-2">
            <a:extLst xmlns:a="http://schemas.openxmlformats.org/drawingml/2006/main">
              <a:ext uri="{FF2B5EF4-FFF2-40B4-BE49-F238E27FC236}">
                <a16:creationId xmlns:a16="http://schemas.microsoft.com/office/drawing/2014/main" id="{4A86C3D8-8772-447F-9BAD-C036BBBEC552}"/>
              </a:ext>
            </a:extLst>
          </p:cNvPr>
          <p:cNvSpPr>
            <a:spLocks xmlns:a="http://schemas.openxmlformats.org/drawingml/2006/main" noGrp="1"/>
          </p:cNvSpPr>
          <p:nvPr/>
        </p:nvSpPr>
        <p:spPr>
          <a:xfrm xmlns:a="http://schemas.openxmlformats.org/drawingml/2006/main">
            <a:off x="1619250" y="409575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0A0A0B"/>
                </a:solidFill>
              </a:defRPr>
            </a:pPr>
            <a:r>
              <a:rPr sz="1950" b="1">
                <a:solidFill>
                  <a:srgbClr val="0A0A0B"/>
                </a:solidFill>
              </a:rPr>
              <a:t>Resolve orders</a:t>
            </a:r>
          </a:p>
        </p:txBody>
      </p:sp>
      <p:sp>
        <p:nvSpPr>
          <p:cNvPr id="15" name="agenda-desc-2">
            <a:extLst xmlns:a="http://schemas.openxmlformats.org/drawingml/2006/main">
              <a:ext uri="{FF2B5EF4-FFF2-40B4-BE49-F238E27FC236}">
                <a16:creationId xmlns:a16="http://schemas.microsoft.com/office/drawing/2014/main" id="{C657159B-0771-48A3-9FE5-CBFC50B34ED0}"/>
              </a:ext>
            </a:extLst>
          </p:cNvPr>
          <p:cNvSpPr>
            <a:spLocks xmlns:a="http://schemas.openxmlformats.org/drawingml/2006/main" noGrp="1"/>
          </p:cNvSpPr>
          <p:nvPr/>
        </p:nvSpPr>
        <p:spPr>
          <a:xfrm xmlns:a="http://schemas.openxmlformats.org/drawingml/2006/main">
            <a:off x="6191250" y="41338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lookup_order → eligibility / quote → mutation tools</a:t>
            </a:r>
          </a:p>
        </p:txBody>
      </p:sp>
      <p:sp>
        <p:nvSpPr>
          <p:cNvPr id="16" name="agenda-rule-3">
            <a:extLst xmlns:a="http://schemas.openxmlformats.org/drawingml/2006/main">
              <a:ext uri="{FF2B5EF4-FFF2-40B4-BE49-F238E27FC236}">
                <a16:creationId xmlns:a16="http://schemas.microsoft.com/office/drawing/2014/main" id="{D1C73356-20A4-4625-8307-92C3E9557A35}"/>
              </a:ext>
            </a:extLst>
          </p:cNvPr>
          <p:cNvSpPr>
            <a:spLocks xmlns:a="http://schemas.openxmlformats.org/drawingml/2006/main" noGrp="1"/>
          </p:cNvSpPr>
          <p:nvPr/>
        </p:nvSpPr>
        <p:spPr>
          <a:xfrm xmlns:a="http://schemas.openxmlformats.org/drawingml/2006/main">
            <a:off x="685800" y="4791075"/>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17" name="agenda-number-3">
            <a:extLst xmlns:a="http://schemas.openxmlformats.org/drawingml/2006/main">
              <a:ext uri="{FF2B5EF4-FFF2-40B4-BE49-F238E27FC236}">
                <a16:creationId xmlns:a16="http://schemas.microsoft.com/office/drawing/2014/main" id="{777ADDBB-A6D1-4117-83C9-22B6B67EF010}"/>
              </a:ext>
            </a:extLst>
          </p:cNvPr>
          <p:cNvSpPr>
            <a:spLocks xmlns:a="http://schemas.openxmlformats.org/drawingml/2006/main" noGrp="1"/>
          </p:cNvSpPr>
          <p:nvPr/>
        </p:nvSpPr>
        <p:spPr>
          <a:xfrm xmlns:a="http://schemas.openxmlformats.org/drawingml/2006/main">
            <a:off x="685800" y="49339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754FF"/>
                </a:solidFill>
              </a:defRPr>
            </a:pPr>
            <a:r>
              <a:rPr sz="1350" b="1">
                <a:solidFill>
                  <a:srgbClr val="5754FF"/>
                </a:solidFill>
              </a:rPr>
              <a:t>06</a:t>
            </a:r>
          </a:p>
        </p:txBody>
      </p:sp>
      <p:sp>
        <p:nvSpPr>
          <p:cNvPr id="18" name="agenda-item-3">
            <a:extLst xmlns:a="http://schemas.openxmlformats.org/drawingml/2006/main">
              <a:ext uri="{FF2B5EF4-FFF2-40B4-BE49-F238E27FC236}">
                <a16:creationId xmlns:a16="http://schemas.microsoft.com/office/drawing/2014/main" id="{25B1B1BF-A79A-42D8-A3FF-F296C058BC6F}"/>
              </a:ext>
            </a:extLst>
          </p:cNvPr>
          <p:cNvSpPr>
            <a:spLocks xmlns:a="http://schemas.openxmlformats.org/drawingml/2006/main" noGrp="1"/>
          </p:cNvSpPr>
          <p:nvPr/>
        </p:nvSpPr>
        <p:spPr>
          <a:xfrm xmlns:a="http://schemas.openxmlformats.org/drawingml/2006/main">
            <a:off x="1619250" y="491490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0A0A0B"/>
                </a:solidFill>
              </a:defRPr>
            </a:pPr>
            <a:r>
              <a:rPr sz="1950" b="1">
                <a:solidFill>
                  <a:srgbClr val="0A0A0B"/>
                </a:solidFill>
              </a:rPr>
              <a:t>Diagnose + escalate</a:t>
            </a:r>
          </a:p>
        </p:txBody>
      </p:sp>
      <p:sp>
        <p:nvSpPr>
          <p:cNvPr id="19" name="agenda-desc-3">
            <a:extLst xmlns:a="http://schemas.openxmlformats.org/drawingml/2006/main">
              <a:ext uri="{FF2B5EF4-FFF2-40B4-BE49-F238E27FC236}">
                <a16:creationId xmlns:a16="http://schemas.microsoft.com/office/drawing/2014/main" id="{4DC490CD-EEF4-4130-B7EE-2106C31F2E22}"/>
              </a:ext>
            </a:extLst>
          </p:cNvPr>
          <p:cNvSpPr>
            <a:spLocks xmlns:a="http://schemas.openxmlformats.org/drawingml/2006/main" noGrp="1"/>
          </p:cNvSpPr>
          <p:nvPr/>
        </p:nvSpPr>
        <p:spPr>
          <a:xfrm xmlns:a="http://schemas.openxmlformats.org/drawingml/2006/main">
            <a:off x="6191250" y="49530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search_knowledge / open_book → shipping → case / handoff</a:t>
            </a:r>
          </a:p>
        </p:txBody>
      </p:sp>
      <p:sp>
        <p:nvSpPr>
          <p:cNvPr id="20" name="footer-rule">
            <a:extLst xmlns:a="http://schemas.openxmlformats.org/drawingml/2006/main">
              <a:ext uri="{FF2B5EF4-FFF2-40B4-BE49-F238E27FC236}">
                <a16:creationId xmlns:a16="http://schemas.microsoft.com/office/drawing/2014/main" id="{9D9EC69E-8FE1-4985-B4B7-B117E730240C}"/>
              </a:ext>
            </a:extLst>
          </p:cNvPr>
          <p:cNvSpPr>
            <a:spLocks xmlns:a="http://schemas.openxmlformats.org/drawingml/2006/main" noGrp="1"/>
          </p:cNvSpPr>
          <p:nvPr/>
        </p:nvSpPr>
        <p:spPr>
          <a:xfrm xmlns:a="http://schemas.openxmlformats.org/drawingml/2006/main">
            <a:off x="685800" y="6381750"/>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21" name="footer-brand">
            <a:extLst xmlns:a="http://schemas.openxmlformats.org/drawingml/2006/main">
              <a:ext uri="{FF2B5EF4-FFF2-40B4-BE49-F238E27FC236}">
                <a16:creationId xmlns:a16="http://schemas.microsoft.com/office/drawing/2014/main" id="{4DA80F1C-3ED1-45F8-A446-ECB91FAC70F1}"/>
              </a:ext>
            </a:extLst>
          </p:cNvPr>
          <p:cNvSpPr>
            <a:spLocks xmlns:a="http://schemas.openxmlformats.org/drawingml/2006/main" noGrp="1"/>
          </p:cNvSpPr>
          <p:nvPr/>
        </p:nvSpPr>
        <p:spPr>
          <a:xfrm xmlns:a="http://schemas.openxmlformats.org/drawingml/2006/main">
            <a:off x="685800" y="64770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898994"/>
                </a:solidFill>
              </a:defRPr>
            </a:pPr>
            <a:r>
              <a:rPr sz="825" b="1">
                <a:solidFill>
                  <a:srgbClr val="898994"/>
                </a:solidFill>
              </a:rPr>
              <a:t>DECAGON</a:t>
            </a:r>
          </a:p>
        </p:txBody>
      </p:sp>
      <p:sp>
        <p:nvSpPr>
          <p:cNvPr id="22" name="slide-number">
            <a:extLst xmlns:a="http://schemas.openxmlformats.org/drawingml/2006/main">
              <a:ext uri="{FF2B5EF4-FFF2-40B4-BE49-F238E27FC236}">
                <a16:creationId xmlns:a16="http://schemas.microsoft.com/office/drawing/2014/main" id="{E8D9B49B-7D31-4C7C-87EF-E1DC16607C16}"/>
              </a:ext>
            </a:extLst>
          </p:cNvPr>
          <p:cNvSpPr>
            <a:spLocks xmlns:a="http://schemas.openxmlformats.org/drawingml/2006/main" noGrp="1"/>
          </p:cNvSpPr>
          <p:nvPr/>
        </p:nvSpPr>
        <p:spPr>
          <a:xfrm xmlns:a="http://schemas.openxmlformats.org/drawingml/2006/main">
            <a:off x="11106150" y="64770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98994"/>
                </a:solidFill>
              </a:defRPr>
            </a:pPr>
            <a:r>
              <a:rPr sz="825" b="1">
                <a:solidFill>
                  <a:srgbClr val="898994"/>
                </a:solidFill>
              </a:rPr>
              <a:t>03</a:t>
            </a:r>
          </a:p>
        </p:txBody>
      </p:sp>
    </p:spTree>
    <p:extLst>
      <p:ext uri="{BB962C8B-B14F-4D97-AF65-F5344CB8AC3E}">
        <p14:creationId xmlns:p14="http://schemas.microsoft.com/office/powerpoint/2010/main" val="1187616061"/>
      </p:ext>
    </p:extLst>
  </p:cSld>
</p:sld>
</file>

<file path=ppt/slides/slide4.xml><?xml version="1.0" encoding="utf-8"?>
<p:sld xmlns:p="http://schemas.openxmlformats.org/presentationml/2006/main">
  <p:cSld>
    <p:bg>
      <p:bgPr>
        <a:solidFill xmlns:a="http://schemas.openxmlformats.org/drawingml/2006/main">
          <a:srgbClr val="F4F4F5"/>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c63ef6dbf6641cb">
            <a:extLst>
              <a:ext uri="{96DAC541-7B7A-43D3-8B79-37D633B846F1}">
                <asvg:svgBlip xmlns:asvg="http://schemas.microsoft.com/office/drawing/2016/SVG/main" r:embed="Rce4b19129da540d6"/>
              </a:ext>
            </a:extLst>
          </a:blip>
          <a:stretch xmlns:a="http://schemas.openxmlformats.org/drawingml/2006/main"/>
        </p:blipFill>
        <p:spPr>
          <a:xfrm xmlns:a="http://schemas.openxmlformats.org/drawingml/2006/main">
            <a:off x="685800" y="457200"/>
            <a:ext cx="1752600" cy="381518"/>
          </a:xfrm>
          <a:prstGeom xmlns:a="http://schemas.openxmlformats.org/drawingml/2006/main" prst="rect">
            <a:avLst/>
          </a:prstGeom>
        </p:spPr>
      </p:pic>
      <p:sp>
        <p:nvSpPr>
          <p:cNvPr id="2" name="kicker">
            <a:extLst xmlns:a="http://schemas.openxmlformats.org/drawingml/2006/main">
              <a:ext uri="{FF2B5EF4-FFF2-40B4-BE49-F238E27FC236}">
                <a16:creationId xmlns:a16="http://schemas.microsoft.com/office/drawing/2014/main" id="{DD50233B-9DA0-48E2-ABB4-53B010C9BCC2}"/>
              </a:ext>
            </a:extLst>
          </p:cNvPr>
          <p:cNvSpPr>
            <a:spLocks xmlns:a="http://schemas.openxmlformats.org/drawingml/2006/main" noGrp="1"/>
          </p:cNvSpPr>
          <p:nvPr/>
        </p:nvSpPr>
        <p:spPr>
          <a:xfrm xmlns:a="http://schemas.openxmlformats.org/drawingml/2006/main">
            <a:off x="685800" y="12001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754FF"/>
                </a:solidFill>
              </a:defRPr>
            </a:pPr>
            <a:r>
              <a:rPr sz="975" b="1">
                <a:solidFill>
                  <a:srgbClr val="5754FF"/>
                </a:solidFill>
              </a:rPr>
              <a:t>GUARDED ACTION PATTERN</a:t>
            </a:r>
          </a:p>
        </p:txBody>
      </p:sp>
      <p:sp>
        <p:nvSpPr>
          <p:cNvPr id="3" name="timeline-title">
            <a:extLst xmlns:a="http://schemas.openxmlformats.org/drawingml/2006/main">
              <a:ext uri="{FF2B5EF4-FFF2-40B4-BE49-F238E27FC236}">
                <a16:creationId xmlns:a16="http://schemas.microsoft.com/office/drawing/2014/main" id="{FAF42F0D-8866-4C23-9D03-871B8F7E8100}"/>
              </a:ext>
            </a:extLst>
          </p:cNvPr>
          <p:cNvSpPr>
            <a:spLocks xmlns:a="http://schemas.openxmlformats.org/drawingml/2006/main" noGrp="1"/>
          </p:cNvSpPr>
          <p:nvPr/>
        </p:nvSpPr>
        <p:spPr>
          <a:xfrm xmlns:a="http://schemas.openxmlformats.org/drawingml/2006/main">
            <a:off x="685800" y="1524000"/>
            <a:ext cx="685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0A0A0B"/>
                </a:solidFill>
              </a:defRPr>
            </a:pPr>
            <a:r>
              <a:rPr sz="3150" b="1">
                <a:solidFill>
                  <a:srgbClr val="0A0A0B"/>
                </a:solidFill>
              </a:rPr>
              <a:t>One path protects every mutation</a:t>
            </a:r>
          </a:p>
        </p:txBody>
      </p:sp>
      <p:sp>
        <p:nvSpPr>
          <p:cNvPr id="4" name="timeline-subtitle">
            <a:extLst xmlns:a="http://schemas.openxmlformats.org/drawingml/2006/main">
              <a:ext uri="{FF2B5EF4-FFF2-40B4-BE49-F238E27FC236}">
                <a16:creationId xmlns:a16="http://schemas.microsoft.com/office/drawing/2014/main" id="{C2B64123-4713-416C-A06E-C62E13EC5C39}"/>
              </a:ext>
            </a:extLst>
          </p:cNvPr>
          <p:cNvSpPr>
            <a:spLocks xmlns:a="http://schemas.openxmlformats.org/drawingml/2006/main" noGrp="1"/>
          </p:cNvSpPr>
          <p:nvPr/>
        </p:nvSpPr>
        <p:spPr>
          <a:xfrm xmlns:a="http://schemas.openxmlformats.org/drawingml/2006/main">
            <a:off x="7239000" y="160020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Extra turn + session plumbing buy reviewability, revalidation, and audit.</a:t>
            </a:r>
          </a:p>
        </p:txBody>
      </p:sp>
      <p:sp>
        <p:nvSpPr>
          <p:cNvPr id="5" name="timeline-connector">
            <a:extLst xmlns:a="http://schemas.openxmlformats.org/drawingml/2006/main">
              <a:ext uri="{FF2B5EF4-FFF2-40B4-BE49-F238E27FC236}">
                <a16:creationId xmlns:a16="http://schemas.microsoft.com/office/drawing/2014/main" id="{7DB401AC-EF7A-4FF3-A451-903EE534ADC7}"/>
              </a:ext>
            </a:extLst>
          </p:cNvPr>
          <p:cNvSpPr>
            <a:spLocks xmlns:a="http://schemas.openxmlformats.org/drawingml/2006/main" noGrp="1"/>
          </p:cNvSpPr>
          <p:nvPr/>
        </p:nvSpPr>
        <p:spPr>
          <a:xfrm xmlns:a="http://schemas.openxmlformats.org/drawingml/2006/main">
            <a:off x="1485900" y="3476625"/>
            <a:ext cx="8515350" cy="2857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6" name="timeline-node-0">
            <a:extLst xmlns:a="http://schemas.openxmlformats.org/drawingml/2006/main">
              <a:ext uri="{FF2B5EF4-FFF2-40B4-BE49-F238E27FC236}">
                <a16:creationId xmlns:a16="http://schemas.microsoft.com/office/drawing/2014/main" id="{34601CB7-2054-49B1-929E-3CE127C1C248}"/>
              </a:ext>
            </a:extLst>
          </p:cNvPr>
          <p:cNvSpPr>
            <a:spLocks xmlns:a="http://schemas.openxmlformats.org/drawingml/2006/main" noGrp="1"/>
          </p:cNvSpPr>
          <p:nvPr/>
        </p:nvSpPr>
        <p:spPr>
          <a:xfrm xmlns:a="http://schemas.openxmlformats.org/drawingml/2006/main">
            <a:off x="1314450" y="3305175"/>
            <a:ext cx="361950" cy="361950"/>
          </a:xfrm>
          <a:prstGeom xmlns:a="http://schemas.openxmlformats.org/drawingml/2006/main" prst="roundRect">
            <a:avLst>
              <a:gd name="adj" fmla="val 50000"/>
            </a:avLst>
          </a:prstGeom>
          <a:solidFill xmlns:a="http://schemas.openxmlformats.org/drawingml/2006/main">
            <a:srgbClr val="5754FF"/>
          </a:solidFill>
          <a:ln xmlns:a="http://schemas.openxmlformats.org/drawingml/2006/main" w="0">
            <a:noFill/>
            <a:prstDash val="solid"/>
          </a:ln>
        </p:spPr>
      </p:sp>
      <p:sp>
        <p:nvSpPr>
          <p:cNvPr id="7" name="timeline-node-center-0">
            <a:extLst xmlns:a="http://schemas.openxmlformats.org/drawingml/2006/main">
              <a:ext uri="{FF2B5EF4-FFF2-40B4-BE49-F238E27FC236}">
                <a16:creationId xmlns:a16="http://schemas.microsoft.com/office/drawing/2014/main" id="{941F1DFA-331F-4260-B92E-7B671C550F02}"/>
              </a:ext>
            </a:extLst>
          </p:cNvPr>
          <p:cNvSpPr>
            <a:spLocks xmlns:a="http://schemas.openxmlformats.org/drawingml/2006/main" noGrp="1"/>
          </p:cNvSpPr>
          <p:nvPr/>
        </p:nvSpPr>
        <p:spPr>
          <a:xfrm xmlns:a="http://schemas.openxmlformats.org/drawingml/2006/main">
            <a:off x="1428750" y="3419475"/>
            <a:ext cx="133350" cy="1333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8" name="timeline-number-0">
            <a:extLst xmlns:a="http://schemas.openxmlformats.org/drawingml/2006/main">
              <a:ext uri="{FF2B5EF4-FFF2-40B4-BE49-F238E27FC236}">
                <a16:creationId xmlns:a16="http://schemas.microsoft.com/office/drawing/2014/main" id="{0AE312FA-409E-48F0-A774-50773212B3D6}"/>
              </a:ext>
            </a:extLst>
          </p:cNvPr>
          <p:cNvSpPr>
            <a:spLocks xmlns:a="http://schemas.openxmlformats.org/drawingml/2006/main" noGrp="1"/>
          </p:cNvSpPr>
          <p:nvPr/>
        </p:nvSpPr>
        <p:spPr>
          <a:xfrm xmlns:a="http://schemas.openxmlformats.org/drawingml/2006/main">
            <a:off x="1314450" y="2724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754FF"/>
                </a:solidFill>
              </a:defRPr>
            </a:pPr>
            <a:r>
              <a:rPr sz="1050" b="1">
                <a:solidFill>
                  <a:srgbClr val="5754FF"/>
                </a:solidFill>
              </a:rPr>
              <a:t>01</a:t>
            </a:r>
          </a:p>
        </p:txBody>
      </p:sp>
      <p:sp>
        <p:nvSpPr>
          <p:cNvPr id="9" name="timeline-step-0">
            <a:extLst xmlns:a="http://schemas.openxmlformats.org/drawingml/2006/main">
              <a:ext uri="{FF2B5EF4-FFF2-40B4-BE49-F238E27FC236}">
                <a16:creationId xmlns:a16="http://schemas.microsoft.com/office/drawing/2014/main" id="{BD342035-0293-4CD3-9260-02FC113948C0}"/>
              </a:ext>
            </a:extLst>
          </p:cNvPr>
          <p:cNvSpPr>
            <a:spLocks xmlns:a="http://schemas.openxmlformats.org/drawingml/2006/main" noGrp="1"/>
          </p:cNvSpPr>
          <p:nvPr/>
        </p:nvSpPr>
        <p:spPr>
          <a:xfrm xmlns:a="http://schemas.openxmlformats.org/drawingml/2006/main">
            <a:off x="1314450" y="3952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0A0A0B"/>
                </a:solidFill>
              </a:defRPr>
            </a:pPr>
            <a:r>
              <a:rPr sz="2100" b="1">
                <a:solidFill>
                  <a:srgbClr val="0A0A0B"/>
                </a:solidFill>
              </a:rPr>
              <a:t>Authenticate</a:t>
            </a:r>
          </a:p>
        </p:txBody>
      </p:sp>
      <p:sp>
        <p:nvSpPr>
          <p:cNvPr id="10" name="timeline-desc-0">
            <a:extLst xmlns:a="http://schemas.openxmlformats.org/drawingml/2006/main">
              <a:ext uri="{FF2B5EF4-FFF2-40B4-BE49-F238E27FC236}">
                <a16:creationId xmlns:a16="http://schemas.microsoft.com/office/drawing/2014/main" id="{6BBDCCB6-4E11-4FC5-9CB8-85B0D5EC4D0D}"/>
              </a:ext>
            </a:extLst>
          </p:cNvPr>
          <p:cNvSpPr>
            <a:spLocks xmlns:a="http://schemas.openxmlformats.org/drawingml/2006/main" noGrp="1"/>
          </p:cNvSpPr>
          <p:nvPr/>
        </p:nvSpPr>
        <p:spPr>
          <a:xfrm xmlns:a="http://schemas.openxmlformats.org/drawingml/2006/main">
            <a:off x="1314450" y="44005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4E4E56"/>
                </a:solidFill>
              </a:defRPr>
            </a:pPr>
            <a:r>
              <a:rPr sz="1275">
                <a:solidFill>
                  <a:srgbClr val="4E4E56"/>
                </a:solidFill>
              </a:rPr>
              <a:t>Private form → signed HttpOnly session</a:t>
            </a:r>
          </a:p>
        </p:txBody>
      </p:sp>
      <p:sp>
        <p:nvSpPr>
          <p:cNvPr id="11" name="timeline-node-1">
            <a:extLst xmlns:a="http://schemas.openxmlformats.org/drawingml/2006/main">
              <a:ext uri="{FF2B5EF4-FFF2-40B4-BE49-F238E27FC236}">
                <a16:creationId xmlns:a16="http://schemas.microsoft.com/office/drawing/2014/main" id="{A3ED5BEF-8AEA-40B3-9717-5FAA28B4A937}"/>
              </a:ext>
            </a:extLst>
          </p:cNvPr>
          <p:cNvSpPr>
            <a:spLocks xmlns:a="http://schemas.openxmlformats.org/drawingml/2006/main" noGrp="1"/>
          </p:cNvSpPr>
          <p:nvPr/>
        </p:nvSpPr>
        <p:spPr>
          <a:xfrm xmlns:a="http://schemas.openxmlformats.org/drawingml/2006/main">
            <a:off x="4152900" y="3305175"/>
            <a:ext cx="361950" cy="3619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timeline-node-center-1">
            <a:extLst xmlns:a="http://schemas.openxmlformats.org/drawingml/2006/main">
              <a:ext uri="{FF2B5EF4-FFF2-40B4-BE49-F238E27FC236}">
                <a16:creationId xmlns:a16="http://schemas.microsoft.com/office/drawing/2014/main" id="{EF26FF90-F11B-4FCA-BFF2-702ED7770C0E}"/>
              </a:ext>
            </a:extLst>
          </p:cNvPr>
          <p:cNvSpPr>
            <a:spLocks xmlns:a="http://schemas.openxmlformats.org/drawingml/2006/main" noGrp="1"/>
          </p:cNvSpPr>
          <p:nvPr/>
        </p:nvSpPr>
        <p:spPr>
          <a:xfrm xmlns:a="http://schemas.openxmlformats.org/drawingml/2006/main">
            <a:off x="4267200" y="3419475"/>
            <a:ext cx="133350" cy="133350"/>
          </a:xfrm>
          <a:prstGeom xmlns:a="http://schemas.openxmlformats.org/drawingml/2006/main" prst="roundRect">
            <a:avLst>
              <a:gd name="adj" fmla="val 50000"/>
            </a:avLst>
          </a:prstGeom>
          <a:solidFill xmlns:a="http://schemas.openxmlformats.org/drawingml/2006/main">
            <a:srgbClr val="5754FF"/>
          </a:solidFill>
          <a:ln xmlns:a="http://schemas.openxmlformats.org/drawingml/2006/main" w="0">
            <a:noFill/>
            <a:prstDash val="solid"/>
          </a:ln>
        </p:spPr>
      </p:sp>
      <p:sp>
        <p:nvSpPr>
          <p:cNvPr id="13" name="timeline-number-1">
            <a:extLst xmlns:a="http://schemas.openxmlformats.org/drawingml/2006/main">
              <a:ext uri="{FF2B5EF4-FFF2-40B4-BE49-F238E27FC236}">
                <a16:creationId xmlns:a16="http://schemas.microsoft.com/office/drawing/2014/main" id="{FA9495D4-821A-444C-B9EA-7872DB19E6E8}"/>
              </a:ext>
            </a:extLst>
          </p:cNvPr>
          <p:cNvSpPr>
            <a:spLocks xmlns:a="http://schemas.openxmlformats.org/drawingml/2006/main" noGrp="1"/>
          </p:cNvSpPr>
          <p:nvPr/>
        </p:nvSpPr>
        <p:spPr>
          <a:xfrm xmlns:a="http://schemas.openxmlformats.org/drawingml/2006/main">
            <a:off x="4152900" y="2724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754FF"/>
                </a:solidFill>
              </a:defRPr>
            </a:pPr>
            <a:r>
              <a:rPr sz="1050" b="1">
                <a:solidFill>
                  <a:srgbClr val="5754FF"/>
                </a:solidFill>
              </a:rPr>
              <a:t>02</a:t>
            </a:r>
          </a:p>
        </p:txBody>
      </p:sp>
      <p:sp>
        <p:nvSpPr>
          <p:cNvPr id="14" name="timeline-step-1">
            <a:extLst xmlns:a="http://schemas.openxmlformats.org/drawingml/2006/main">
              <a:ext uri="{FF2B5EF4-FFF2-40B4-BE49-F238E27FC236}">
                <a16:creationId xmlns:a16="http://schemas.microsoft.com/office/drawing/2014/main" id="{FAB810B1-161A-440D-9DC3-AD4FDAA356B6}"/>
              </a:ext>
            </a:extLst>
          </p:cNvPr>
          <p:cNvSpPr>
            <a:spLocks xmlns:a="http://schemas.openxmlformats.org/drawingml/2006/main" noGrp="1"/>
          </p:cNvSpPr>
          <p:nvPr/>
        </p:nvSpPr>
        <p:spPr>
          <a:xfrm xmlns:a="http://schemas.openxmlformats.org/drawingml/2006/main">
            <a:off x="4152900" y="3952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0A0A0B"/>
                </a:solidFill>
              </a:defRPr>
            </a:pPr>
            <a:r>
              <a:rPr sz="2100" b="1">
                <a:solidFill>
                  <a:srgbClr val="0A0A0B"/>
                </a:solidFill>
              </a:rPr>
              <a:t>Prepare</a:t>
            </a:r>
          </a:p>
        </p:txBody>
      </p:sp>
      <p:sp>
        <p:nvSpPr>
          <p:cNvPr id="15" name="timeline-desc-1">
            <a:extLst xmlns:a="http://schemas.openxmlformats.org/drawingml/2006/main">
              <a:ext uri="{FF2B5EF4-FFF2-40B4-BE49-F238E27FC236}">
                <a16:creationId xmlns:a16="http://schemas.microsoft.com/office/drawing/2014/main" id="{334D9160-3F8D-4DB9-8A9B-98B9ED920179}"/>
              </a:ext>
            </a:extLst>
          </p:cNvPr>
          <p:cNvSpPr>
            <a:spLocks xmlns:a="http://schemas.openxmlformats.org/drawingml/2006/main" noGrp="1"/>
          </p:cNvSpPr>
          <p:nvPr/>
        </p:nvSpPr>
        <p:spPr>
          <a:xfrm xmlns:a="http://schemas.openxmlformats.org/drawingml/2006/main">
            <a:off x="4152900" y="44005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4E4E56"/>
                </a:solidFill>
              </a:defRPr>
            </a:pPr>
            <a:r>
              <a:rPr sz="1275">
                <a:solidFill>
                  <a:srgbClr val="4E4E56"/>
                </a:solidFill>
              </a:rPr>
              <a:t>Schema + ownership + policy + state</a:t>
            </a:r>
          </a:p>
        </p:txBody>
      </p:sp>
      <p:sp>
        <p:nvSpPr>
          <p:cNvPr id="16" name="timeline-node-2">
            <a:extLst xmlns:a="http://schemas.openxmlformats.org/drawingml/2006/main">
              <a:ext uri="{FF2B5EF4-FFF2-40B4-BE49-F238E27FC236}">
                <a16:creationId xmlns:a16="http://schemas.microsoft.com/office/drawing/2014/main" id="{783FE0A0-9AD8-490E-9391-D64D8015941B}"/>
              </a:ext>
            </a:extLst>
          </p:cNvPr>
          <p:cNvSpPr>
            <a:spLocks xmlns:a="http://schemas.openxmlformats.org/drawingml/2006/main" noGrp="1"/>
          </p:cNvSpPr>
          <p:nvPr/>
        </p:nvSpPr>
        <p:spPr>
          <a:xfrm xmlns:a="http://schemas.openxmlformats.org/drawingml/2006/main">
            <a:off x="6991350" y="3305175"/>
            <a:ext cx="361950" cy="3619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7" name="timeline-node-center-2">
            <a:extLst xmlns:a="http://schemas.openxmlformats.org/drawingml/2006/main">
              <a:ext uri="{FF2B5EF4-FFF2-40B4-BE49-F238E27FC236}">
                <a16:creationId xmlns:a16="http://schemas.microsoft.com/office/drawing/2014/main" id="{1F7500BC-7840-4654-B5E9-47B851D015AE}"/>
              </a:ext>
            </a:extLst>
          </p:cNvPr>
          <p:cNvSpPr>
            <a:spLocks xmlns:a="http://schemas.openxmlformats.org/drawingml/2006/main" noGrp="1"/>
          </p:cNvSpPr>
          <p:nvPr/>
        </p:nvSpPr>
        <p:spPr>
          <a:xfrm xmlns:a="http://schemas.openxmlformats.org/drawingml/2006/main">
            <a:off x="7105650" y="3419475"/>
            <a:ext cx="133350" cy="133350"/>
          </a:xfrm>
          <a:prstGeom xmlns:a="http://schemas.openxmlformats.org/drawingml/2006/main" prst="roundRect">
            <a:avLst>
              <a:gd name="adj" fmla="val 50000"/>
            </a:avLst>
          </a:prstGeom>
          <a:solidFill xmlns:a="http://schemas.openxmlformats.org/drawingml/2006/main">
            <a:srgbClr val="5754FF"/>
          </a:solidFill>
          <a:ln xmlns:a="http://schemas.openxmlformats.org/drawingml/2006/main" w="0">
            <a:noFill/>
            <a:prstDash val="solid"/>
          </a:ln>
        </p:spPr>
      </p:sp>
      <p:sp>
        <p:nvSpPr>
          <p:cNvPr id="18" name="timeline-number-2">
            <a:extLst xmlns:a="http://schemas.openxmlformats.org/drawingml/2006/main">
              <a:ext uri="{FF2B5EF4-FFF2-40B4-BE49-F238E27FC236}">
                <a16:creationId xmlns:a16="http://schemas.microsoft.com/office/drawing/2014/main" id="{E7B5848C-3A3E-4EE1-B71F-1A4ED4D0A7D2}"/>
              </a:ext>
            </a:extLst>
          </p:cNvPr>
          <p:cNvSpPr>
            <a:spLocks xmlns:a="http://schemas.openxmlformats.org/drawingml/2006/main" noGrp="1"/>
          </p:cNvSpPr>
          <p:nvPr/>
        </p:nvSpPr>
        <p:spPr>
          <a:xfrm xmlns:a="http://schemas.openxmlformats.org/drawingml/2006/main">
            <a:off x="6991350" y="2724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754FF"/>
                </a:solidFill>
              </a:defRPr>
            </a:pPr>
            <a:r>
              <a:rPr sz="1050" b="1">
                <a:solidFill>
                  <a:srgbClr val="5754FF"/>
                </a:solidFill>
              </a:rPr>
              <a:t>03</a:t>
            </a:r>
          </a:p>
        </p:txBody>
      </p:sp>
      <p:sp>
        <p:nvSpPr>
          <p:cNvPr id="19" name="timeline-step-2">
            <a:extLst xmlns:a="http://schemas.openxmlformats.org/drawingml/2006/main">
              <a:ext uri="{FF2B5EF4-FFF2-40B4-BE49-F238E27FC236}">
                <a16:creationId xmlns:a16="http://schemas.microsoft.com/office/drawing/2014/main" id="{F14D4876-844C-48DD-A50D-4BDB928F61BB}"/>
              </a:ext>
            </a:extLst>
          </p:cNvPr>
          <p:cNvSpPr>
            <a:spLocks xmlns:a="http://schemas.openxmlformats.org/drawingml/2006/main" noGrp="1"/>
          </p:cNvSpPr>
          <p:nvPr/>
        </p:nvSpPr>
        <p:spPr>
          <a:xfrm xmlns:a="http://schemas.openxmlformats.org/drawingml/2006/main">
            <a:off x="6991350" y="3952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0A0A0B"/>
                </a:solidFill>
              </a:defRPr>
            </a:pPr>
            <a:r>
              <a:rPr sz="2100" b="1">
                <a:solidFill>
                  <a:srgbClr val="0A0A0B"/>
                </a:solidFill>
              </a:rPr>
              <a:t>Confirm</a:t>
            </a:r>
          </a:p>
        </p:txBody>
      </p:sp>
      <p:sp>
        <p:nvSpPr>
          <p:cNvPr id="20" name="timeline-desc-2">
            <a:extLst xmlns:a="http://schemas.openxmlformats.org/drawingml/2006/main">
              <a:ext uri="{FF2B5EF4-FFF2-40B4-BE49-F238E27FC236}">
                <a16:creationId xmlns:a16="http://schemas.microsoft.com/office/drawing/2014/main" id="{2184F7F6-A699-40FF-90CE-4B14B4F7CB81}"/>
              </a:ext>
            </a:extLst>
          </p:cNvPr>
          <p:cNvSpPr>
            <a:spLocks xmlns:a="http://schemas.openxmlformats.org/drawingml/2006/main" noGrp="1"/>
          </p:cNvSpPr>
          <p:nvPr/>
        </p:nvSpPr>
        <p:spPr>
          <a:xfrm xmlns:a="http://schemas.openxmlformats.org/drawingml/2006/main">
            <a:off x="6991350" y="44005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4E4E56"/>
                </a:solidFill>
              </a:defRPr>
            </a:pPr>
            <a:r>
              <a:rPr sz="1275">
                <a:solidFill>
                  <a:srgbClr val="4E4E56"/>
                </a:solidFill>
              </a:rPr>
              <a:t>Exact quote; customer confirms next turn</a:t>
            </a:r>
          </a:p>
        </p:txBody>
      </p:sp>
      <p:sp>
        <p:nvSpPr>
          <p:cNvPr id="21" name="timeline-node-3">
            <a:extLst xmlns:a="http://schemas.openxmlformats.org/drawingml/2006/main">
              <a:ext uri="{FF2B5EF4-FFF2-40B4-BE49-F238E27FC236}">
                <a16:creationId xmlns:a16="http://schemas.microsoft.com/office/drawing/2014/main" id="{EB687C5D-8D2A-4376-8A44-D1C0F453C5A2}"/>
              </a:ext>
            </a:extLst>
          </p:cNvPr>
          <p:cNvSpPr>
            <a:spLocks xmlns:a="http://schemas.openxmlformats.org/drawingml/2006/main" noGrp="1"/>
          </p:cNvSpPr>
          <p:nvPr/>
        </p:nvSpPr>
        <p:spPr>
          <a:xfrm xmlns:a="http://schemas.openxmlformats.org/drawingml/2006/main">
            <a:off x="9829800" y="3305175"/>
            <a:ext cx="361950" cy="3619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2" name="timeline-node-center-3">
            <a:extLst xmlns:a="http://schemas.openxmlformats.org/drawingml/2006/main">
              <a:ext uri="{FF2B5EF4-FFF2-40B4-BE49-F238E27FC236}">
                <a16:creationId xmlns:a16="http://schemas.microsoft.com/office/drawing/2014/main" id="{5A070DB4-0D84-4B7A-BDAD-74FC335A840D}"/>
              </a:ext>
            </a:extLst>
          </p:cNvPr>
          <p:cNvSpPr>
            <a:spLocks xmlns:a="http://schemas.openxmlformats.org/drawingml/2006/main" noGrp="1"/>
          </p:cNvSpPr>
          <p:nvPr/>
        </p:nvSpPr>
        <p:spPr>
          <a:xfrm xmlns:a="http://schemas.openxmlformats.org/drawingml/2006/main">
            <a:off x="9944100" y="3419475"/>
            <a:ext cx="133350" cy="133350"/>
          </a:xfrm>
          <a:prstGeom xmlns:a="http://schemas.openxmlformats.org/drawingml/2006/main" prst="roundRect">
            <a:avLst>
              <a:gd name="adj" fmla="val 50000"/>
            </a:avLst>
          </a:prstGeom>
          <a:solidFill xmlns:a="http://schemas.openxmlformats.org/drawingml/2006/main">
            <a:srgbClr val="5754FF"/>
          </a:solidFill>
          <a:ln xmlns:a="http://schemas.openxmlformats.org/drawingml/2006/main" w="0">
            <a:noFill/>
            <a:prstDash val="solid"/>
          </a:ln>
        </p:spPr>
      </p:sp>
      <p:sp>
        <p:nvSpPr>
          <p:cNvPr id="23" name="timeline-number-3">
            <a:extLst xmlns:a="http://schemas.openxmlformats.org/drawingml/2006/main">
              <a:ext uri="{FF2B5EF4-FFF2-40B4-BE49-F238E27FC236}">
                <a16:creationId xmlns:a16="http://schemas.microsoft.com/office/drawing/2014/main" id="{BBD7082A-9002-4B10-AA0F-AD90E41ABE85}"/>
              </a:ext>
            </a:extLst>
          </p:cNvPr>
          <p:cNvSpPr>
            <a:spLocks xmlns:a="http://schemas.openxmlformats.org/drawingml/2006/main" noGrp="1"/>
          </p:cNvSpPr>
          <p:nvPr/>
        </p:nvSpPr>
        <p:spPr>
          <a:xfrm xmlns:a="http://schemas.openxmlformats.org/drawingml/2006/main">
            <a:off x="9829800" y="2724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754FF"/>
                </a:solidFill>
              </a:defRPr>
            </a:pPr>
            <a:r>
              <a:rPr sz="1050" b="1">
                <a:solidFill>
                  <a:srgbClr val="5754FF"/>
                </a:solidFill>
              </a:rPr>
              <a:t>04</a:t>
            </a:r>
          </a:p>
        </p:txBody>
      </p:sp>
      <p:sp>
        <p:nvSpPr>
          <p:cNvPr id="24" name="timeline-step-3">
            <a:extLst xmlns:a="http://schemas.openxmlformats.org/drawingml/2006/main">
              <a:ext uri="{FF2B5EF4-FFF2-40B4-BE49-F238E27FC236}">
                <a16:creationId xmlns:a16="http://schemas.microsoft.com/office/drawing/2014/main" id="{5C892B50-6142-4340-98CB-200B4CDCCE47}"/>
              </a:ext>
            </a:extLst>
          </p:cNvPr>
          <p:cNvSpPr>
            <a:spLocks xmlns:a="http://schemas.openxmlformats.org/drawingml/2006/main" noGrp="1"/>
          </p:cNvSpPr>
          <p:nvPr/>
        </p:nvSpPr>
        <p:spPr>
          <a:xfrm xmlns:a="http://schemas.openxmlformats.org/drawingml/2006/main">
            <a:off x="9829800" y="3952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0A0A0B"/>
                </a:solidFill>
              </a:defRPr>
            </a:pPr>
            <a:r>
              <a:rPr sz="2100" b="1">
                <a:solidFill>
                  <a:srgbClr val="0A0A0B"/>
                </a:solidFill>
              </a:rPr>
              <a:t>Commit</a:t>
            </a:r>
          </a:p>
        </p:txBody>
      </p:sp>
      <p:sp>
        <p:nvSpPr>
          <p:cNvPr id="25" name="timeline-desc-3">
            <a:extLst xmlns:a="http://schemas.openxmlformats.org/drawingml/2006/main">
              <a:ext uri="{FF2B5EF4-FFF2-40B4-BE49-F238E27FC236}">
                <a16:creationId xmlns:a16="http://schemas.microsoft.com/office/drawing/2014/main" id="{9AD9B8E5-E053-42F5-A7CB-7F87DB4B4191}"/>
              </a:ext>
            </a:extLst>
          </p:cNvPr>
          <p:cNvSpPr>
            <a:spLocks xmlns:a="http://schemas.openxmlformats.org/drawingml/2006/main" noGrp="1"/>
          </p:cNvSpPr>
          <p:nvPr/>
        </p:nvSpPr>
        <p:spPr>
          <a:xfrm xmlns:a="http://schemas.openxmlformats.org/drawingml/2006/main">
            <a:off x="9829800" y="44005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4E4E56"/>
                </a:solidFill>
              </a:defRPr>
            </a:pPr>
            <a:r>
              <a:rPr sz="1275">
                <a:solidFill>
                  <a:srgbClr val="4E4E56"/>
                </a:solidFill>
              </a:rPr>
              <a:t>Recheck token + state; transact + audit</a:t>
            </a:r>
          </a:p>
        </p:txBody>
      </p:sp>
      <p:sp>
        <p:nvSpPr>
          <p:cNvPr id="26" name="footer-rule">
            <a:extLst xmlns:a="http://schemas.openxmlformats.org/drawingml/2006/main">
              <a:ext uri="{FF2B5EF4-FFF2-40B4-BE49-F238E27FC236}">
                <a16:creationId xmlns:a16="http://schemas.microsoft.com/office/drawing/2014/main" id="{2CB25B61-8E8D-4F0B-BE79-4EEBD174A635}"/>
              </a:ext>
            </a:extLst>
          </p:cNvPr>
          <p:cNvSpPr>
            <a:spLocks xmlns:a="http://schemas.openxmlformats.org/drawingml/2006/main" noGrp="1"/>
          </p:cNvSpPr>
          <p:nvPr/>
        </p:nvSpPr>
        <p:spPr>
          <a:xfrm xmlns:a="http://schemas.openxmlformats.org/drawingml/2006/main">
            <a:off x="685800" y="6381750"/>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27" name="footer-brand">
            <a:extLst xmlns:a="http://schemas.openxmlformats.org/drawingml/2006/main">
              <a:ext uri="{FF2B5EF4-FFF2-40B4-BE49-F238E27FC236}">
                <a16:creationId xmlns:a16="http://schemas.microsoft.com/office/drawing/2014/main" id="{E1C7B224-7A4E-4B07-BC74-6D31114CB03D}"/>
              </a:ext>
            </a:extLst>
          </p:cNvPr>
          <p:cNvSpPr>
            <a:spLocks xmlns:a="http://schemas.openxmlformats.org/drawingml/2006/main" noGrp="1"/>
          </p:cNvSpPr>
          <p:nvPr/>
        </p:nvSpPr>
        <p:spPr>
          <a:xfrm xmlns:a="http://schemas.openxmlformats.org/drawingml/2006/main">
            <a:off x="685800" y="64770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898994"/>
                </a:solidFill>
              </a:defRPr>
            </a:pPr>
            <a:r>
              <a:rPr sz="825" b="1">
                <a:solidFill>
                  <a:srgbClr val="898994"/>
                </a:solidFill>
              </a:rPr>
              <a:t>DECAGON</a:t>
            </a:r>
          </a:p>
        </p:txBody>
      </p:sp>
      <p:sp>
        <p:nvSpPr>
          <p:cNvPr id="28" name="slide-number">
            <a:extLst xmlns:a="http://schemas.openxmlformats.org/drawingml/2006/main">
              <a:ext uri="{FF2B5EF4-FFF2-40B4-BE49-F238E27FC236}">
                <a16:creationId xmlns:a16="http://schemas.microsoft.com/office/drawing/2014/main" id="{5313E9A7-57BD-4FBF-88CC-A90232595287}"/>
              </a:ext>
            </a:extLst>
          </p:cNvPr>
          <p:cNvSpPr>
            <a:spLocks xmlns:a="http://schemas.openxmlformats.org/drawingml/2006/main" noGrp="1"/>
          </p:cNvSpPr>
          <p:nvPr/>
        </p:nvSpPr>
        <p:spPr>
          <a:xfrm xmlns:a="http://schemas.openxmlformats.org/drawingml/2006/main">
            <a:off x="11106150" y="64770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98994"/>
                </a:solidFill>
              </a:defRPr>
            </a:pPr>
            <a:r>
              <a:rPr sz="825" b="1">
                <a:solidFill>
                  <a:srgbClr val="898994"/>
                </a:solidFill>
              </a:rPr>
              <a:t>04</a:t>
            </a:r>
          </a:p>
        </p:txBody>
      </p:sp>
    </p:spTree>
    <p:extLst>
      <p:ext uri="{BB962C8B-B14F-4D97-AF65-F5344CB8AC3E}">
        <p14:creationId xmlns:p14="http://schemas.microsoft.com/office/powerpoint/2010/main" val="11602994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1e57d18b6494e62">
            <a:extLst>
              <a:ext uri="{96DAC541-7B7A-43D3-8B79-37D633B846F1}">
                <asvg:svgBlip xmlns:asvg="http://schemas.microsoft.com/office/drawing/2016/SVG/main" r:embed="Rd80fe8bf93724f11"/>
              </a:ext>
            </a:extLst>
          </a:blip>
          <a:stretch xmlns:a="http://schemas.openxmlformats.org/drawingml/2006/main"/>
        </p:blipFill>
        <p:spPr>
          <a:xfrm xmlns:a="http://schemas.openxmlformats.org/drawingml/2006/main">
            <a:off x="685800" y="457200"/>
            <a:ext cx="1752600" cy="381518"/>
          </a:xfrm>
          <a:prstGeom xmlns:a="http://schemas.openxmlformats.org/drawingml/2006/main" prst="rect">
            <a:avLst/>
          </a:prstGeom>
        </p:spPr>
      </p:pic>
      <p:sp>
        <p:nvSpPr>
          <p:cNvPr id="2" name="kicker">
            <a:extLst xmlns:a="http://schemas.openxmlformats.org/drawingml/2006/main">
              <a:ext uri="{FF2B5EF4-FFF2-40B4-BE49-F238E27FC236}">
                <a16:creationId xmlns:a16="http://schemas.microsoft.com/office/drawing/2014/main" id="{49F05DA1-2E9E-4D54-AC61-B3FB235DAB81}"/>
              </a:ext>
            </a:extLst>
          </p:cNvPr>
          <p:cNvSpPr>
            <a:spLocks xmlns:a="http://schemas.openxmlformats.org/drawingml/2006/main" noGrp="1"/>
          </p:cNvSpPr>
          <p:nvPr/>
        </p:nvSpPr>
        <p:spPr>
          <a:xfrm xmlns:a="http://schemas.openxmlformats.org/drawingml/2006/main">
            <a:off x="685800" y="12001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754FF"/>
                </a:solidFill>
              </a:defRPr>
            </a:pPr>
            <a:r>
              <a:rPr sz="975" b="1">
                <a:solidFill>
                  <a:srgbClr val="5754FF"/>
                </a:solidFill>
              </a:rPr>
              <a:t>PRODUCTION PATH</a:t>
            </a:r>
          </a:p>
        </p:txBody>
      </p:sp>
      <p:sp>
        <p:nvSpPr>
          <p:cNvPr id="3" name="story-title">
            <a:extLst xmlns:a="http://schemas.openxmlformats.org/drawingml/2006/main">
              <a:ext uri="{FF2B5EF4-FFF2-40B4-BE49-F238E27FC236}">
                <a16:creationId xmlns:a16="http://schemas.microsoft.com/office/drawing/2014/main" id="{9C5B1F68-4E7C-4593-841B-92D73F50EC78}"/>
              </a:ext>
            </a:extLst>
          </p:cNvPr>
          <p:cNvSpPr>
            <a:spLocks xmlns:a="http://schemas.openxmlformats.org/drawingml/2006/main" noGrp="1"/>
          </p:cNvSpPr>
          <p:nvPr/>
        </p:nvSpPr>
        <p:spPr>
          <a:xfrm xmlns:a="http://schemas.openxmlformats.org/drawingml/2006/main">
            <a:off x="685800" y="1524000"/>
            <a:ext cx="619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0A0A0B"/>
                </a:solidFill>
              </a:defRPr>
            </a:pPr>
            <a:r>
              <a:rPr sz="3150" b="1">
                <a:solidFill>
                  <a:srgbClr val="0A0A0B"/>
                </a:solidFill>
              </a:rPr>
              <a:t>Server-side control comes first</a:t>
            </a:r>
          </a:p>
        </p:txBody>
      </p:sp>
      <p:sp>
        <p:nvSpPr>
          <p:cNvPr id="4" name="story-challenge-label">
            <a:extLst xmlns:a="http://schemas.openxmlformats.org/drawingml/2006/main">
              <a:ext uri="{FF2B5EF4-FFF2-40B4-BE49-F238E27FC236}">
                <a16:creationId xmlns:a16="http://schemas.microsoft.com/office/drawing/2014/main" id="{E79D0EF5-AC90-440E-BF8B-BAD410ED21F4}"/>
              </a:ext>
            </a:extLst>
          </p:cNvPr>
          <p:cNvSpPr>
            <a:spLocks xmlns:a="http://schemas.openxmlformats.org/drawingml/2006/main" noGrp="1"/>
          </p:cNvSpPr>
          <p:nvPr/>
        </p:nvSpPr>
        <p:spPr>
          <a:xfrm xmlns:a="http://schemas.openxmlformats.org/drawingml/2006/main">
            <a:off x="685800" y="2571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5754FF"/>
                </a:solidFill>
              </a:defRPr>
            </a:pPr>
            <a:r>
              <a:rPr sz="1500" b="1">
                <a:solidFill>
                  <a:srgbClr val="5754FF"/>
                </a:solidFill>
              </a:rPr>
              <a:t>Today</a:t>
            </a:r>
          </a:p>
        </p:txBody>
      </p:sp>
      <p:sp>
        <p:nvSpPr>
          <p:cNvPr id="5" name="story-challenge">
            <a:extLst xmlns:a="http://schemas.openxmlformats.org/drawingml/2006/main">
              <a:ext uri="{FF2B5EF4-FFF2-40B4-BE49-F238E27FC236}">
                <a16:creationId xmlns:a16="http://schemas.microsoft.com/office/drawing/2014/main" id="{36B9D8E5-951D-4B22-8E93-6CB5AAC67EFE}"/>
              </a:ext>
            </a:extLst>
          </p:cNvPr>
          <p:cNvSpPr>
            <a:spLocks xmlns:a="http://schemas.openxmlformats.org/drawingml/2006/main" noGrp="1"/>
          </p:cNvSpPr>
          <p:nvPr/>
        </p:nvSpPr>
        <p:spPr>
          <a:xfrm xmlns:a="http://schemas.openxmlformats.org/drawingml/2006/main">
            <a:off x="685800" y="297180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a:solidFill>
                  <a:srgbClr val="4E4E56"/>
                </a:solidFill>
              </a:defRPr>
            </a:pPr>
            <a:r>
              <a:rPr sz="1650">
                <a:solidFill>
                  <a:srgbClr val="4E4E56"/>
                </a:solidFill>
              </a:rPr>
              <a:t>Browser WebRTC talks directly to Realtime; the server owns session bootstrap, tools, auth, and durable state.</a:t>
            </a:r>
          </a:p>
        </p:txBody>
      </p:sp>
      <p:sp>
        <p:nvSpPr>
          <p:cNvPr id="6" name="story-response-label">
            <a:extLst xmlns:a="http://schemas.openxmlformats.org/drawingml/2006/main">
              <a:ext uri="{FF2B5EF4-FFF2-40B4-BE49-F238E27FC236}">
                <a16:creationId xmlns:a16="http://schemas.microsoft.com/office/drawing/2014/main" id="{FC3124B9-619A-486C-B657-10F88940104A}"/>
              </a:ext>
            </a:extLst>
          </p:cNvPr>
          <p:cNvSpPr>
            <a:spLocks xmlns:a="http://schemas.openxmlformats.org/drawingml/2006/main" noGrp="1"/>
          </p:cNvSpPr>
          <p:nvPr/>
        </p:nvSpPr>
        <p:spPr>
          <a:xfrm xmlns:a="http://schemas.openxmlformats.org/drawingml/2006/main">
            <a:off x="685800" y="3981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5754FF"/>
                </a:solidFill>
              </a:defRPr>
            </a:pPr>
            <a:r>
              <a:rPr sz="1500" b="1">
                <a:solidFill>
                  <a:srgbClr val="5754FF"/>
                </a:solidFill>
              </a:rPr>
              <a:t>First change</a:t>
            </a:r>
          </a:p>
        </p:txBody>
      </p:sp>
      <p:sp>
        <p:nvSpPr>
          <p:cNvPr id="7" name="story-response">
            <a:extLst xmlns:a="http://schemas.openxmlformats.org/drawingml/2006/main">
              <a:ext uri="{FF2B5EF4-FFF2-40B4-BE49-F238E27FC236}">
                <a16:creationId xmlns:a16="http://schemas.microsoft.com/office/drawing/2014/main" id="{7B9C318A-997D-494C-A985-BAFA5B517ACC}"/>
              </a:ext>
            </a:extLst>
          </p:cNvPr>
          <p:cNvSpPr>
            <a:spLocks xmlns:a="http://schemas.openxmlformats.org/drawingml/2006/main" noGrp="1"/>
          </p:cNvSpPr>
          <p:nvPr/>
        </p:nvSpPr>
        <p:spPr>
          <a:xfrm xmlns:a="http://schemas.openxmlformats.org/drawingml/2006/main">
            <a:off x="685800" y="438150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a:solidFill>
                  <a:srgbClr val="4E4E56"/>
                </a:solidFill>
              </a:defRPr>
            </a:pPr>
            <a:r>
              <a:rPr sz="1650">
                <a:solidFill>
                  <a:srgbClr val="4E4E56"/>
                </a:solidFill>
              </a:rPr>
              <a:t>Control Realtime events server-side; then bind the same 29 contracts to identity, order, payment, and fulfillment APIs.</a:t>
            </a:r>
          </a:p>
        </p:txBody>
      </p:sp>
      <p:sp>
        <p:nvSpPr>
          <p:cNvPr id="8" name="story-outcome-panel">
            <a:extLst xmlns:a="http://schemas.openxmlformats.org/drawingml/2006/main">
              <a:ext uri="{FF2B5EF4-FFF2-40B4-BE49-F238E27FC236}">
                <a16:creationId xmlns:a16="http://schemas.microsoft.com/office/drawing/2014/main" id="{844AA67C-611F-45C5-BEF2-CF6036EFE3F9}"/>
              </a:ext>
            </a:extLst>
          </p:cNvPr>
          <p:cNvSpPr>
            <a:spLocks xmlns:a="http://schemas.openxmlformats.org/drawingml/2006/main" noGrp="1"/>
          </p:cNvSpPr>
          <p:nvPr/>
        </p:nvSpPr>
        <p:spPr>
          <a:xfrm xmlns:a="http://schemas.openxmlformats.org/drawingml/2006/main">
            <a:off x="6858000" y="1257300"/>
            <a:ext cx="4648200" cy="4457700"/>
          </a:xfrm>
          <a:prstGeom xmlns:a="http://schemas.openxmlformats.org/drawingml/2006/main" prst="roundRect">
            <a:avLst>
              <a:gd name="adj" fmla="val 5983"/>
            </a:avLst>
          </a:prstGeom>
          <a:solidFill xmlns:a="http://schemas.openxmlformats.org/drawingml/2006/main">
            <a:srgbClr val="5754FF"/>
          </a:solidFill>
          <a:ln xmlns:a="http://schemas.openxmlformats.org/drawingml/2006/main" w="0">
            <a:noFill/>
            <a:prstDash val="solid"/>
          </a:ln>
        </p:spPr>
      </p:sp>
      <p:sp>
        <p:nvSpPr>
          <p:cNvPr id="9" name="story-outcome-label">
            <a:extLst xmlns:a="http://schemas.openxmlformats.org/drawingml/2006/main">
              <a:ext uri="{FF2B5EF4-FFF2-40B4-BE49-F238E27FC236}">
                <a16:creationId xmlns:a16="http://schemas.microsoft.com/office/drawing/2014/main" id="{445CEA97-9597-4678-9965-3B58EDB3B105}"/>
              </a:ext>
            </a:extLst>
          </p:cNvPr>
          <p:cNvSpPr>
            <a:spLocks xmlns:a="http://schemas.openxmlformats.org/drawingml/2006/main" noGrp="1"/>
          </p:cNvSpPr>
          <p:nvPr/>
        </p:nvSpPr>
        <p:spPr>
          <a:xfrm xmlns:a="http://schemas.openxmlformats.org/drawingml/2006/main">
            <a:off x="7410450" y="1809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9B99FF"/>
                </a:solidFill>
              </a:defRPr>
            </a:pPr>
            <a:r>
              <a:rPr sz="1200" b="1">
                <a:solidFill>
                  <a:srgbClr val="9B99FF"/>
                </a:solidFill>
              </a:rPr>
              <a:t>Why it matters</a:t>
            </a:r>
          </a:p>
        </p:txBody>
      </p:sp>
      <p:sp>
        <p:nvSpPr>
          <p:cNvPr id="10" name="story-outcome-value">
            <a:extLst xmlns:a="http://schemas.openxmlformats.org/drawingml/2006/main">
              <a:ext uri="{FF2B5EF4-FFF2-40B4-BE49-F238E27FC236}">
                <a16:creationId xmlns:a16="http://schemas.microsoft.com/office/drawing/2014/main" id="{5F0349C5-3B19-405E-A85E-E4B1FDE0EB61}"/>
              </a:ext>
            </a:extLst>
          </p:cNvPr>
          <p:cNvSpPr>
            <a:spLocks xmlns:a="http://schemas.openxmlformats.org/drawingml/2006/main" noGrp="1"/>
          </p:cNvSpPr>
          <p:nvPr/>
        </p:nvSpPr>
        <p:spPr>
          <a:xfrm xmlns:a="http://schemas.openxmlformats.org/drawingml/2006/main">
            <a:off x="7410450" y="236220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450" b="1">
                <a:solidFill>
                  <a:srgbClr val="FFFFFF"/>
                </a:solidFill>
              </a:defRPr>
            </a:pPr>
            <a:r>
              <a:rPr sz="6450" b="1">
                <a:solidFill>
                  <a:srgbClr val="FFFFFF"/>
                </a:solidFill>
              </a:rPr>
              <a:t>1</a:t>
            </a:r>
          </a:p>
        </p:txBody>
      </p:sp>
      <p:sp>
        <p:nvSpPr>
          <p:cNvPr id="11" name="story-outcome-text">
            <a:extLst xmlns:a="http://schemas.openxmlformats.org/drawingml/2006/main">
              <a:ext uri="{FF2B5EF4-FFF2-40B4-BE49-F238E27FC236}">
                <a16:creationId xmlns:a16="http://schemas.microsoft.com/office/drawing/2014/main" id="{86F70352-0AE2-499F-BB87-8600CF1D4874}"/>
              </a:ext>
            </a:extLst>
          </p:cNvPr>
          <p:cNvSpPr>
            <a:spLocks xmlns:a="http://schemas.openxmlformats.org/drawingml/2006/main" noGrp="1"/>
          </p:cNvSpPr>
          <p:nvPr/>
        </p:nvSpPr>
        <p:spPr>
          <a:xfrm xmlns:a="http://schemas.openxmlformats.org/drawingml/2006/main">
            <a:off x="7410450" y="35433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enforcement plane</a:t>
            </a:r>
          </a:p>
        </p:txBody>
      </p:sp>
      <p:sp>
        <p:nvSpPr>
          <p:cNvPr id="12" name="story-outcome-rule">
            <a:extLst xmlns:a="http://schemas.openxmlformats.org/drawingml/2006/main">
              <a:ext uri="{FF2B5EF4-FFF2-40B4-BE49-F238E27FC236}">
                <a16:creationId xmlns:a16="http://schemas.microsoft.com/office/drawing/2014/main" id="{D74E7790-3B3A-4C12-9FFF-ABD5DB0B25C5}"/>
              </a:ext>
            </a:extLst>
          </p:cNvPr>
          <p:cNvSpPr>
            <a:spLocks xmlns:a="http://schemas.openxmlformats.org/drawingml/2006/main" noGrp="1"/>
          </p:cNvSpPr>
          <p:nvPr/>
        </p:nvSpPr>
        <p:spPr>
          <a:xfrm xmlns:a="http://schemas.openxmlformats.org/drawingml/2006/main">
            <a:off x="7410450" y="4343400"/>
            <a:ext cx="3143250" cy="9525"/>
          </a:xfrm>
          <a:prstGeom xmlns:a="http://schemas.openxmlformats.org/drawingml/2006/main" prst="rect">
            <a:avLst/>
          </a:prstGeom>
          <a:solidFill xmlns:a="http://schemas.openxmlformats.org/drawingml/2006/main">
            <a:srgbClr val="9B99FF"/>
          </a:solidFill>
          <a:ln xmlns:a="http://schemas.openxmlformats.org/drawingml/2006/main" w="0">
            <a:noFill/>
            <a:prstDash val="solid"/>
          </a:ln>
        </p:spPr>
      </p:sp>
      <p:sp>
        <p:nvSpPr>
          <p:cNvPr id="13" name="story-outcome-context">
            <a:extLst xmlns:a="http://schemas.openxmlformats.org/drawingml/2006/main">
              <a:ext uri="{FF2B5EF4-FFF2-40B4-BE49-F238E27FC236}">
                <a16:creationId xmlns:a16="http://schemas.microsoft.com/office/drawing/2014/main" id="{1E06A18D-8846-4566-B337-4652B558D43D}"/>
              </a:ext>
            </a:extLst>
          </p:cNvPr>
          <p:cNvSpPr>
            <a:spLocks xmlns:a="http://schemas.openxmlformats.org/drawingml/2006/main" noGrp="1"/>
          </p:cNvSpPr>
          <p:nvPr/>
        </p:nvSpPr>
        <p:spPr>
          <a:xfrm xmlns:a="http://schemas.openxmlformats.org/drawingml/2006/main">
            <a:off x="7410450" y="462915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EAEAEC"/>
                </a:solidFill>
              </a:defRPr>
            </a:pPr>
            <a:r>
              <a:rPr sz="1275">
                <a:solidFill>
                  <a:srgbClr val="EAEAEC"/>
                </a:solidFill>
              </a:rPr>
              <a:t>Auth · approvals · traces · rate limits · PII · idempotency</a:t>
            </a:r>
          </a:p>
        </p:txBody>
      </p:sp>
      <p:sp>
        <p:nvSpPr>
          <p:cNvPr id="14" name="footer-rule">
            <a:extLst xmlns:a="http://schemas.openxmlformats.org/drawingml/2006/main">
              <a:ext uri="{FF2B5EF4-FFF2-40B4-BE49-F238E27FC236}">
                <a16:creationId xmlns:a16="http://schemas.microsoft.com/office/drawing/2014/main" id="{D9AD6E43-59E8-4095-B1E4-389F8E769D81}"/>
              </a:ext>
            </a:extLst>
          </p:cNvPr>
          <p:cNvSpPr>
            <a:spLocks xmlns:a="http://schemas.openxmlformats.org/drawingml/2006/main" noGrp="1"/>
          </p:cNvSpPr>
          <p:nvPr/>
        </p:nvSpPr>
        <p:spPr>
          <a:xfrm xmlns:a="http://schemas.openxmlformats.org/drawingml/2006/main">
            <a:off x="685800" y="6381750"/>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15" name="footer-brand">
            <a:extLst xmlns:a="http://schemas.openxmlformats.org/drawingml/2006/main">
              <a:ext uri="{FF2B5EF4-FFF2-40B4-BE49-F238E27FC236}">
                <a16:creationId xmlns:a16="http://schemas.microsoft.com/office/drawing/2014/main" id="{2E929310-FECD-46E2-8597-1F4CFDB39442}"/>
              </a:ext>
            </a:extLst>
          </p:cNvPr>
          <p:cNvSpPr>
            <a:spLocks xmlns:a="http://schemas.openxmlformats.org/drawingml/2006/main" noGrp="1"/>
          </p:cNvSpPr>
          <p:nvPr/>
        </p:nvSpPr>
        <p:spPr>
          <a:xfrm xmlns:a="http://schemas.openxmlformats.org/drawingml/2006/main">
            <a:off x="685800" y="64770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898994"/>
                </a:solidFill>
              </a:defRPr>
            </a:pPr>
            <a:r>
              <a:rPr sz="825" b="1">
                <a:solidFill>
                  <a:srgbClr val="898994"/>
                </a:solidFill>
              </a:rPr>
              <a:t>DECAGON</a:t>
            </a:r>
          </a:p>
        </p:txBody>
      </p:sp>
      <p:sp>
        <p:nvSpPr>
          <p:cNvPr id="16" name="slide-number">
            <a:extLst xmlns:a="http://schemas.openxmlformats.org/drawingml/2006/main">
              <a:ext uri="{FF2B5EF4-FFF2-40B4-BE49-F238E27FC236}">
                <a16:creationId xmlns:a16="http://schemas.microsoft.com/office/drawing/2014/main" id="{B3611404-56FA-4A8A-BB38-63D759905653}"/>
              </a:ext>
            </a:extLst>
          </p:cNvPr>
          <p:cNvSpPr>
            <a:spLocks xmlns:a="http://schemas.openxmlformats.org/drawingml/2006/main" noGrp="1"/>
          </p:cNvSpPr>
          <p:nvPr/>
        </p:nvSpPr>
        <p:spPr>
          <a:xfrm xmlns:a="http://schemas.openxmlformats.org/drawingml/2006/main">
            <a:off x="11106150" y="64770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98994"/>
                </a:solidFill>
              </a:defRPr>
            </a:pPr>
            <a:r>
              <a:rPr sz="825" b="1">
                <a:solidFill>
                  <a:srgbClr val="898994"/>
                </a:solidFill>
              </a:rPr>
              <a:t>05</a:t>
            </a:r>
          </a:p>
        </p:txBody>
      </p:sp>
    </p:spTree>
    <p:extLst>
      <p:ext uri="{BB962C8B-B14F-4D97-AF65-F5344CB8AC3E}">
        <p14:creationId xmlns:p14="http://schemas.microsoft.com/office/powerpoint/2010/main" val="1866195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2026-08-14T18:30:25.5380000Z</dcterms:created>
  <dcterms:modified xsi:type="dcterms:W3CDTF">2026-08-14T18:30:25.5380000Z</dcterms:modified>
</coreProperties>
</file>