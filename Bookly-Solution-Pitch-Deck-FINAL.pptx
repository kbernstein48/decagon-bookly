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5" r:id="rId4"/>
    <p:sldId id="258" r:id="rId5"/>
    <p:sldId id="266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36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on the problem: most AI support experiences are still decision trees with a language layer.</a:t>
            </a:r>
          </a:p>
          <a:p>
            <a:r>
              <a:t>Bookly demonstrates an end-to-end retail concierge across discovery, purchase, and service.</a:t>
            </a:r>
          </a:p>
          <a:p>
            <a:r>
              <a:t>[Sources]</a:t>
            </a:r>
          </a:p>
          <a:p>
            <a:r>
              <a:t>- User-provided product framing and the local Bookly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right: multimodal discovery, private account access, and a visible transactional result.</a:t>
            </a:r>
          </a:p>
          <a:p>
            <a:r>
              <a:t>Voice and text share the same typed tool surface; the page provides visual confirmation for every action.</a:t>
            </a:r>
          </a:p>
          <a:p>
            <a:r>
              <a:t>[Sources]</a:t>
            </a:r>
          </a:p>
          <a:p>
            <a:r>
              <a:t>- First-party screenshots captured from the local Bookly application on 2026-08-14.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selects a tool and produces arguments; the current browser widget relays the request to /api/tools.</a:t>
            </a:r>
          </a:p>
          <a:p>
            <a:r>
              <a:t>The server resolves the signed browser session, validates the envelope, executes deterministic domain logic, and writes the trace.</a:t>
            </a:r>
          </a:p>
          <a:p>
            <a:r>
              <a:t>[Sources]</a:t>
            </a:r>
          </a:p>
          <a:p>
            <a:r>
              <a:t>- Local Bookly application architecture and repository.</a:t>
            </a:r>
          </a:p>
          <a:p>
            <a:r>
              <a:t>- https://developers.openai.com/api/docs/guides/realtime-conversations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future-state design concepts, not implemented product screens.</a:t>
            </a:r>
          </a:p>
          <a:p>
            <a:r>
              <a:t>Evaluation: replay thousands of multi-turn routes, score success and safety, and watch release trajectory over time.</a:t>
            </a:r>
          </a:p>
          <a:p>
            <a:r>
              <a:t>Knowledge graph: connect consented customer preferences to the product catalog for next-best offers and lifecycle campaigns.</a:t>
            </a:r>
          </a:p>
          <a:p>
            <a:r>
              <a:t>Agent studio: give operators one governed workspace for prompts, tools, memory, permissions, versions, and historical traces.</a:t>
            </a:r>
          </a:p>
          <a:p>
            <a:r>
              <a:t>[Sources]</a:t>
            </a:r>
          </a:p>
          <a:p>
            <a:r>
              <a:t>- User-provided roadmap direction.</a:t>
            </a:r>
          </a:p>
          <a:p>
            <a:r>
              <a:t>- First-party design concepts modeled from the local Bookly application design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495300"/>
            <a:ext cx="1790700" cy="389812"/>
          </a:xfrm>
          <a:prstGeom prst="rect">
            <a:avLst/>
          </a:prstGeom>
        </p:spPr>
      </p:pic>
      <p:sp>
        <p:nvSpPr>
          <p:cNvPr id="3" name="cover-title">
            <a:extLst>
              <a:ext uri="{FF2B5EF4-FFF2-40B4-BE49-F238E27FC236}">
                <a16:creationId xmlns:a16="http://schemas.microsoft.com/office/drawing/2014/main" id="{7B78DC74-D0A7-44E3-981A-CBDFD23C384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70052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 dirty="0">
                <a:solidFill>
                  <a:srgbClr val="0A0A0B"/>
                </a:solidFill>
              </a:rPr>
              <a:t>Beyond the decision tree.</a:t>
            </a:r>
          </a:p>
          <a:p>
            <a:pPr>
              <a:buNone/>
              <a:defRPr sz="4800" b="1">
                <a:solidFill>
                  <a:srgbClr val="0A0A0B"/>
                </a:solidFill>
              </a:defRPr>
            </a:pPr>
            <a:r>
              <a:rPr sz="4800" b="1" dirty="0">
                <a:solidFill>
                  <a:srgbClr val="0A0A0B"/>
                </a:solidFill>
              </a:rPr>
              <a:t>Meet Bookly.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705048F8-4CCA-474A-A297-1B66C6A6260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4E4E56"/>
                </a:solidFill>
              </a:defRPr>
            </a:pPr>
            <a:r>
              <a:rPr sz="1800">
                <a:solidFill>
                  <a:srgbClr val="4E4E56"/>
                </a:solidFill>
              </a:rPr>
              <a:t>A voice-native retail concierge that completes the shopping journey while the storefront responds in real time.</a:t>
            </a:r>
          </a:p>
        </p:txBody>
      </p:sp>
      <p:sp>
        <p:nvSpPr>
          <p:cNvPr id="5" name="accent-rule">
            <a:extLst>
              <a:ext uri="{FF2B5EF4-FFF2-40B4-BE49-F238E27FC236}">
                <a16:creationId xmlns:a16="http://schemas.microsoft.com/office/drawing/2014/main" id="{DB0AF824-00E3-4E5B-B5E9-FC3627921CA3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914400" cy="47625"/>
          </a:xfrm>
          <a:prstGeom prst="rect">
            <a:avLst/>
          </a:prstGeom>
          <a:solidFill>
            <a:srgbClr val="5754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14540C9E-8551-45F8-9465-6B38248CF189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4E4E56"/>
                </a:solidFill>
              </a:defRPr>
            </a:pPr>
            <a:r>
              <a:rPr sz="975" b="1">
                <a:solidFill>
                  <a:srgbClr val="4E4E56"/>
                </a:solidFill>
              </a:rPr>
              <a:t>VOICE + VISUAL UI + DETERMINISTIC TOOLS | SECURE BY DESIGN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26970A-944B-D2F0-1229-942514A53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728" y="3721735"/>
            <a:ext cx="4584192" cy="2865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6267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457200"/>
            <a:ext cx="1752600" cy="381518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9BA8F227-8F8A-41CC-8AD4-880516C6E53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BOOKLY WIDGET</a:t>
            </a:r>
          </a:p>
        </p:txBody>
      </p:sp>
      <p:sp>
        <p:nvSpPr>
          <p:cNvPr id="3" name="agenda-title">
            <a:extLst>
              <a:ext uri="{FF2B5EF4-FFF2-40B4-BE49-F238E27FC236}">
                <a16:creationId xmlns:a16="http://schemas.microsoft.com/office/drawing/2014/main" id="{DDEFA9CF-DD48-4787-B130-9E2A1E305388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23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sz="3150" b="1" dirty="0">
                <a:solidFill>
                  <a:srgbClr val="0A0A0B"/>
                </a:solidFill>
              </a:rPr>
              <a:t>Conversation becomes visible action</a:t>
            </a:r>
          </a:p>
        </p:txBody>
      </p:sp>
      <p:sp>
        <p:nvSpPr>
          <p:cNvPr id="20" name="footer-rule">
            <a:extLst>
              <a:ext uri="{FF2B5EF4-FFF2-40B4-BE49-F238E27FC236}">
                <a16:creationId xmlns:a16="http://schemas.microsoft.com/office/drawing/2014/main" id="{9D9EC69E-8FE1-4985-B4B7-B117E730240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4D4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ooter-brand">
            <a:extLst>
              <a:ext uri="{FF2B5EF4-FFF2-40B4-BE49-F238E27FC236}">
                <a16:creationId xmlns:a16="http://schemas.microsoft.com/office/drawing/2014/main" id="{4DA80F1C-3ED1-45F8-A446-ECB91FAC70F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2" name="slide-number">
            <a:extLst>
              <a:ext uri="{FF2B5EF4-FFF2-40B4-BE49-F238E27FC236}">
                <a16:creationId xmlns:a16="http://schemas.microsoft.com/office/drawing/2014/main" id="{E8D9B49B-7D31-4C7C-87EF-E1DC16607C16}"/>
              </a:ext>
            </a:extLst>
          </p:cNvPr>
          <p:cNvSpPr>
            <a:spLocks noGrp="1"/>
          </p:cNvSpPr>
          <p:nvPr/>
        </p:nvSpPr>
        <p:spPr>
          <a:xfrm>
            <a:off x="11106150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02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rcRect t="116" b="116"/>
          <a:stretch>
            <a:fillRect/>
          </a:stretch>
        </p:blipFill>
        <p:spPr>
          <a:xfrm>
            <a:off x="685800" y="2324100"/>
            <a:ext cx="4953000" cy="2781300"/>
          </a:xfrm>
          <a:prstGeom prst="roundRect">
            <a:avLst>
              <a:gd name="adj" fmla="val 4110"/>
            </a:avLst>
          </a:prstGeom>
        </p:spPr>
      </p:pic>
      <p:sp>
        <p:nvSpPr>
          <p:cNvPr id="27" name="proof-label-discover">
            <a:extLst>
              <a:ext uri="{FF2B5EF4-FFF2-40B4-BE49-F238E27FC236}">
                <a16:creationId xmlns:a16="http://schemas.microsoft.com/office/drawing/2014/main" id="{AFD3CFF2-1393-49C2-A690-C1E48377094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 dirty="0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DISCOVER + EXPLAIN</a:t>
            </a:r>
          </a:p>
        </p:txBody>
      </p:sp>
      <p:sp>
        <p:nvSpPr>
          <p:cNvPr id="28" name="proof-body-discover">
            <a:extLst>
              <a:ext uri="{FF2B5EF4-FFF2-40B4-BE49-F238E27FC236}">
                <a16:creationId xmlns:a16="http://schemas.microsoft.com/office/drawing/2014/main" id="{52D8BEA6-E98E-444D-8F68-F8242CC9DC1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Searches semantically, opens the exact book, and keeps the conversation in context.</a:t>
            </a:r>
          </a:p>
        </p:txBody>
      </p:sp>
      <p:sp>
        <p:nvSpPr>
          <p:cNvPr id="29" name="proof-label-protect">
            <a:extLst>
              <a:ext uri="{FF2B5EF4-FFF2-40B4-BE49-F238E27FC236}">
                <a16:creationId xmlns:a16="http://schemas.microsoft.com/office/drawing/2014/main" id="{C95FB5BE-C648-4A83-99C5-48BFD6D83F81}"/>
              </a:ext>
            </a:extLst>
          </p:cNvPr>
          <p:cNvSpPr>
            <a:spLocks noGrp="1"/>
          </p:cNvSpPr>
          <p:nvPr/>
        </p:nvSpPr>
        <p:spPr>
          <a:xfrm>
            <a:off x="5778500" y="5307396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 dirty="0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PROTECT IDENTITY</a:t>
            </a:r>
          </a:p>
        </p:txBody>
      </p:sp>
      <p:sp>
        <p:nvSpPr>
          <p:cNvPr id="30" name="proof-body-protect">
            <a:extLst>
              <a:ext uri="{FF2B5EF4-FFF2-40B4-BE49-F238E27FC236}">
                <a16:creationId xmlns:a16="http://schemas.microsoft.com/office/drawing/2014/main" id="{A088189A-0862-4807-9C40-95862C4E371B}"/>
              </a:ext>
            </a:extLst>
          </p:cNvPr>
          <p:cNvSpPr>
            <a:spLocks noGrp="1"/>
          </p:cNvSpPr>
          <p:nvPr/>
        </p:nvSpPr>
        <p:spPr>
          <a:xfrm>
            <a:off x="5778500" y="5535151"/>
            <a:ext cx="2298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Pauses for a browser-owned form; the model never receives password</a:t>
            </a:r>
            <a:r>
              <a:rPr lang="en-US"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/PII</a:t>
            </a:r>
            <a:r>
              <a:rPr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1" name="proof-label-act">
            <a:extLst>
              <a:ext uri="{FF2B5EF4-FFF2-40B4-BE49-F238E27FC236}">
                <a16:creationId xmlns:a16="http://schemas.microsoft.com/office/drawing/2014/main" id="{B0C302DD-E08E-4962-A91B-48D2AE590C1F}"/>
              </a:ext>
            </a:extLst>
          </p:cNvPr>
          <p:cNvSpPr>
            <a:spLocks noGrp="1"/>
          </p:cNvSpPr>
          <p:nvPr/>
        </p:nvSpPr>
        <p:spPr>
          <a:xfrm>
            <a:off x="8222156" y="5321863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ACT + REFLECT</a:t>
            </a:r>
          </a:p>
        </p:txBody>
      </p:sp>
      <p:sp>
        <p:nvSpPr>
          <p:cNvPr id="32" name="proof-body-act">
            <a:extLst>
              <a:ext uri="{FF2B5EF4-FFF2-40B4-BE49-F238E27FC236}">
                <a16:creationId xmlns:a16="http://schemas.microsoft.com/office/drawing/2014/main" id="{EA3CA5A7-6E29-4CB1-A455-8A66FA8F3BD0}"/>
              </a:ext>
            </a:extLst>
          </p:cNvPr>
          <p:cNvSpPr>
            <a:spLocks noGrp="1"/>
          </p:cNvSpPr>
          <p:nvPr/>
        </p:nvSpPr>
        <p:spPr>
          <a:xfrm>
            <a:off x="8222156" y="5550463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lang="en-US"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Mutations show action via cart changes and cards</a:t>
            </a:r>
            <a:endParaRPr sz="1350" dirty="0">
              <a:solidFill>
                <a:srgbClr val="0A0A0B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879B9-3B11-C989-203B-5E08BE2E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438" y="2293476"/>
            <a:ext cx="1775064" cy="2952750"/>
          </a:xfrm>
          <a:prstGeom prst="roundRect">
            <a:avLst>
              <a:gd name="adj" fmla="val 4110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420C1-23C6-EC80-38CB-5F73DEC04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156" y="2293476"/>
            <a:ext cx="3837587" cy="2983374"/>
          </a:xfrm>
          <a:prstGeom prst="roundRect">
            <a:avLst>
              <a:gd name="adj" fmla="val 4110"/>
            </a:avLst>
          </a:prstGeom>
        </p:spPr>
      </p:pic>
    </p:spTree>
    <p:extLst>
      <p:ext uri="{BB962C8B-B14F-4D97-AF65-F5344CB8AC3E}">
        <p14:creationId xmlns:p14="http://schemas.microsoft.com/office/powerpoint/2010/main" val="118761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C61D0-B0C8-A352-D2E0-8DE79147D50C}"/>
              </a:ext>
            </a:extLst>
          </p:cNvPr>
          <p:cNvSpPr/>
          <p:nvPr/>
        </p:nvSpPr>
        <p:spPr>
          <a:xfrm>
            <a:off x="0" y="0"/>
            <a:ext cx="12192000" cy="6932341"/>
          </a:xfrm>
          <a:prstGeom prst="rect">
            <a:avLst/>
          </a:prstGeom>
          <a:solidFill>
            <a:srgbClr val="1414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D2361-789A-F02A-BA56-77733F735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1" y="115110"/>
            <a:ext cx="6189804" cy="6618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AC4E63-263D-1ABB-E7CC-4A6797686FEC}"/>
              </a:ext>
            </a:extLst>
          </p:cNvPr>
          <p:cNvSpPr txBox="1"/>
          <p:nvPr/>
        </p:nvSpPr>
        <p:spPr>
          <a:xfrm>
            <a:off x="801545" y="2102263"/>
            <a:ext cx="3733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How It Works: </a:t>
            </a:r>
          </a:p>
        </p:txBody>
      </p:sp>
    </p:spTree>
    <p:extLst>
      <p:ext uri="{BB962C8B-B14F-4D97-AF65-F5344CB8AC3E}">
        <p14:creationId xmlns:p14="http://schemas.microsoft.com/office/powerpoint/2010/main" val="424252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arch-label-sdp">
            <a:extLst>
              <a:ext uri="{FF2B5EF4-FFF2-40B4-BE49-F238E27FC236}">
                <a16:creationId xmlns:a16="http://schemas.microsoft.com/office/drawing/2014/main" id="{E5D2718E-D10C-484D-B4F4-B82EAA20B0C9}"/>
              </a:ext>
            </a:extLst>
          </p:cNvPr>
          <p:cNvSpPr>
            <a:spLocks noGrp="1"/>
          </p:cNvSpPr>
          <p:nvPr/>
        </p:nvSpPr>
        <p:spPr>
          <a:xfrm>
            <a:off x="2609850" y="3352800"/>
            <a:ext cx="36195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SDP</a:t>
            </a:r>
          </a:p>
        </p:txBody>
      </p:sp>
      <p:sp>
        <p:nvSpPr>
          <p:cNvPr id="87" name="arch-label-webrtc">
            <a:extLst>
              <a:ext uri="{FF2B5EF4-FFF2-40B4-BE49-F238E27FC236}">
                <a16:creationId xmlns:a16="http://schemas.microsoft.com/office/drawing/2014/main" id="{AA268884-3DE4-4412-BBA6-B84D2F5E978E}"/>
              </a:ext>
            </a:extLst>
          </p:cNvPr>
          <p:cNvSpPr>
            <a:spLocks noGrp="1"/>
          </p:cNvSpPr>
          <p:nvPr/>
        </p:nvSpPr>
        <p:spPr>
          <a:xfrm>
            <a:off x="2533650" y="4667250"/>
            <a:ext cx="49530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WebRTC</a:t>
            </a:r>
          </a:p>
        </p:txBody>
      </p:sp>
      <p:sp>
        <p:nvSpPr>
          <p:cNvPr id="89" name="arch-label-call-result">
            <a:extLst>
              <a:ext uri="{FF2B5EF4-FFF2-40B4-BE49-F238E27FC236}">
                <a16:creationId xmlns:a16="http://schemas.microsoft.com/office/drawing/2014/main" id="{6F3FEF4B-5F42-4ED9-8BB2-B3E069127B9A}"/>
              </a:ext>
            </a:extLst>
          </p:cNvPr>
          <p:cNvSpPr>
            <a:spLocks noGrp="1"/>
          </p:cNvSpPr>
          <p:nvPr/>
        </p:nvSpPr>
        <p:spPr>
          <a:xfrm>
            <a:off x="5334000" y="5238749"/>
            <a:ext cx="533400" cy="171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 dirty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widget relay</a:t>
            </a:r>
          </a:p>
        </p:txBody>
      </p:sp>
      <p:pic>
        <p:nvPicPr>
          <p:cNvPr id="190" name="Graphic 1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457200"/>
            <a:ext cx="1752600" cy="381518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A646B0E3-3C73-445E-A56F-443A619E55D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>
                <a:solidFill>
                  <a:srgbClr val="5754FF"/>
                </a:solidFill>
              </a:rPr>
              <a:t>RUNTIME ARCHITECTURE</a:t>
            </a:r>
          </a:p>
        </p:txBody>
      </p:sp>
      <p:sp>
        <p:nvSpPr>
          <p:cNvPr id="3" name="chart-title">
            <a:extLst>
              <a:ext uri="{FF2B5EF4-FFF2-40B4-BE49-F238E27FC236}">
                <a16:creationId xmlns:a16="http://schemas.microsoft.com/office/drawing/2014/main" id="{B858E1EC-CAB9-4300-BEE4-D3903E4087B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0A0A0B"/>
                </a:solidFill>
              </a:defRPr>
            </a:pPr>
            <a:r>
              <a:rPr sz="3000" b="1">
                <a:solidFill>
                  <a:srgbClr val="0A0A0B"/>
                </a:solidFill>
              </a:rPr>
              <a:t>Natural conversation. Deterministic execution.</a:t>
            </a:r>
          </a:p>
        </p:txBody>
      </p:sp>
      <p:sp>
        <p:nvSpPr>
          <p:cNvPr id="9" name="footer-rule">
            <a:extLst>
              <a:ext uri="{FF2B5EF4-FFF2-40B4-BE49-F238E27FC236}">
                <a16:creationId xmlns:a16="http://schemas.microsoft.com/office/drawing/2014/main" id="{CAF61DDE-B446-4C09-9AA2-9344EAF478A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4D4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ooter-brand">
            <a:extLst>
              <a:ext uri="{FF2B5EF4-FFF2-40B4-BE49-F238E27FC236}">
                <a16:creationId xmlns:a16="http://schemas.microsoft.com/office/drawing/2014/main" id="{8CC2851B-5F18-46F8-BCEA-6A6AFDE8E7E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11" name="slide-number">
            <a:extLst>
              <a:ext uri="{FF2B5EF4-FFF2-40B4-BE49-F238E27FC236}">
                <a16:creationId xmlns:a16="http://schemas.microsoft.com/office/drawing/2014/main" id="{51A699E4-46CD-464F-B20A-E446C8B9A8D7}"/>
              </a:ext>
            </a:extLst>
          </p:cNvPr>
          <p:cNvSpPr>
            <a:spLocks noGrp="1"/>
          </p:cNvSpPr>
          <p:nvPr/>
        </p:nvSpPr>
        <p:spPr>
          <a:xfrm>
            <a:off x="11106150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03</a:t>
            </a:r>
          </a:p>
        </p:txBody>
      </p:sp>
      <p:sp>
        <p:nvSpPr>
          <p:cNvPr id="13" name="arch-cluster-customer">
            <a:extLst>
              <a:ext uri="{FF2B5EF4-FFF2-40B4-BE49-F238E27FC236}">
                <a16:creationId xmlns:a16="http://schemas.microsoft.com/office/drawing/2014/main" id="{0438C80D-C3E3-495F-ACFD-258D1EBCE6C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000250" cy="3333750"/>
          </a:xfrm>
          <a:prstGeom prst="roundRect">
            <a:avLst>
              <a:gd name="adj" fmla="val 6190"/>
            </a:avLst>
          </a:prstGeom>
          <a:noFill/>
          <a:ln w="10478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ch-cluster-realtime">
            <a:extLst>
              <a:ext uri="{FF2B5EF4-FFF2-40B4-BE49-F238E27FC236}">
                <a16:creationId xmlns:a16="http://schemas.microsoft.com/office/drawing/2014/main" id="{7A390544-E87C-4045-8F8F-0953B71F39C5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2647950" cy="3333750"/>
          </a:xfrm>
          <a:prstGeom prst="roundRect">
            <a:avLst>
              <a:gd name="adj" fmla="val 4676"/>
            </a:avLst>
          </a:prstGeom>
          <a:noFill/>
          <a:ln w="10478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rch-cluster-control">
            <a:extLst>
              <a:ext uri="{FF2B5EF4-FFF2-40B4-BE49-F238E27FC236}">
                <a16:creationId xmlns:a16="http://schemas.microsoft.com/office/drawing/2014/main" id="{CCB86545-BAED-4917-8995-B406D11603B5}"/>
              </a:ext>
            </a:extLst>
          </p:cNvPr>
          <p:cNvSpPr>
            <a:spLocks noGrp="1"/>
          </p:cNvSpPr>
          <p:nvPr/>
        </p:nvSpPr>
        <p:spPr>
          <a:xfrm>
            <a:off x="5676900" y="2266950"/>
            <a:ext cx="3048000" cy="3333750"/>
          </a:xfrm>
          <a:prstGeom prst="roundRect">
            <a:avLst>
              <a:gd name="adj" fmla="val 4063"/>
            </a:avLst>
          </a:prstGeom>
          <a:noFill/>
          <a:ln w="10478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ch-cluster-state">
            <a:extLst>
              <a:ext uri="{FF2B5EF4-FFF2-40B4-BE49-F238E27FC236}">
                <a16:creationId xmlns:a16="http://schemas.microsoft.com/office/drawing/2014/main" id="{D6A1FDFC-E815-49FE-9403-73C21545FCC2}"/>
              </a:ext>
            </a:extLst>
          </p:cNvPr>
          <p:cNvSpPr>
            <a:spLocks noGrp="1"/>
          </p:cNvSpPr>
          <p:nvPr/>
        </p:nvSpPr>
        <p:spPr>
          <a:xfrm>
            <a:off x="8896350" y="2266950"/>
            <a:ext cx="2438400" cy="3333750"/>
          </a:xfrm>
          <a:prstGeom prst="roundRect">
            <a:avLst>
              <a:gd name="adj" fmla="val 5078"/>
            </a:avLst>
          </a:prstGeom>
          <a:noFill/>
          <a:ln w="10478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rch-node-sign-in">
            <a:extLst>
              <a:ext uri="{FF2B5EF4-FFF2-40B4-BE49-F238E27FC236}">
                <a16:creationId xmlns:a16="http://schemas.microsoft.com/office/drawing/2014/main" id="{9B74599D-F041-4292-BC66-E862B8BE6A30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69545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arch-node-widget">
            <a:extLst>
              <a:ext uri="{FF2B5EF4-FFF2-40B4-BE49-F238E27FC236}">
                <a16:creationId xmlns:a16="http://schemas.microsoft.com/office/drawing/2014/main" id="{1BFFBBB8-4B4A-4189-AE1D-CD215E4125D8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169545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ch-node-customer">
            <a:extLst>
              <a:ext uri="{FF2B5EF4-FFF2-40B4-BE49-F238E27FC236}">
                <a16:creationId xmlns:a16="http://schemas.microsoft.com/office/drawing/2014/main" id="{4DF920A4-2D72-4952-8856-EDAEE94BCE5B}"/>
              </a:ext>
            </a:extLst>
          </p:cNvPr>
          <p:cNvSpPr>
            <a:spLocks noGrp="1"/>
          </p:cNvSpPr>
          <p:nvPr/>
        </p:nvSpPr>
        <p:spPr>
          <a:xfrm>
            <a:off x="838200" y="4876800"/>
            <a:ext cx="169545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ch-node-realtime-api">
            <a:extLst>
              <a:ext uri="{FF2B5EF4-FFF2-40B4-BE49-F238E27FC236}">
                <a16:creationId xmlns:a16="http://schemas.microsoft.com/office/drawing/2014/main" id="{DB2DCF0A-54A7-432E-B98C-07F77EA36317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230505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rch-node-session-contract">
            <a:extLst>
              <a:ext uri="{FF2B5EF4-FFF2-40B4-BE49-F238E27FC236}">
                <a16:creationId xmlns:a16="http://schemas.microsoft.com/office/drawing/2014/main" id="{63E883DE-00F5-491A-AE2A-E9FE33CA6ABD}"/>
              </a:ext>
            </a:extLst>
          </p:cNvPr>
          <p:cNvSpPr>
            <a:spLocks noGrp="1"/>
          </p:cNvSpPr>
          <p:nvPr/>
        </p:nvSpPr>
        <p:spPr>
          <a:xfrm>
            <a:off x="3028950" y="3829050"/>
            <a:ext cx="230505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ch-node-gpt-realtime">
            <a:extLst>
              <a:ext uri="{FF2B5EF4-FFF2-40B4-BE49-F238E27FC236}">
                <a16:creationId xmlns:a16="http://schemas.microsoft.com/office/drawing/2014/main" id="{F59194B3-0754-4AC0-BBDA-C1685D5E07DE}"/>
              </a:ext>
            </a:extLst>
          </p:cNvPr>
          <p:cNvSpPr>
            <a:spLocks noGrp="1"/>
          </p:cNvSpPr>
          <p:nvPr/>
        </p:nvSpPr>
        <p:spPr>
          <a:xfrm>
            <a:off x="3028950" y="4876800"/>
            <a:ext cx="2305050" cy="571500"/>
          </a:xfrm>
          <a:prstGeom prst="roundRect">
            <a:avLst>
              <a:gd name="adj" fmla="val 18333"/>
            </a:avLst>
          </a:prstGeom>
          <a:solidFill>
            <a:srgbClr val="5A54FF"/>
          </a:solidFill>
          <a:ln w="12383">
            <a:solidFill>
              <a:srgbClr val="5A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ch-node-domain-executors">
            <a:extLst>
              <a:ext uri="{FF2B5EF4-FFF2-40B4-BE49-F238E27FC236}">
                <a16:creationId xmlns:a16="http://schemas.microsoft.com/office/drawing/2014/main" id="{9A5426E5-47A9-451C-884A-8EDE8E367B6B}"/>
              </a:ext>
            </a:extLst>
          </p:cNvPr>
          <p:cNvSpPr>
            <a:spLocks noGrp="1"/>
          </p:cNvSpPr>
          <p:nvPr/>
        </p:nvSpPr>
        <p:spPr>
          <a:xfrm>
            <a:off x="5867400" y="2590800"/>
            <a:ext cx="2667000" cy="4953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rch-node-guarded-engine">
            <a:extLst>
              <a:ext uri="{FF2B5EF4-FFF2-40B4-BE49-F238E27FC236}">
                <a16:creationId xmlns:a16="http://schemas.microsoft.com/office/drawing/2014/main" id="{4DD95BAB-B1F7-44F7-AE29-1EA4B07D2653}"/>
              </a:ext>
            </a:extLst>
          </p:cNvPr>
          <p:cNvSpPr>
            <a:spLocks noGrp="1"/>
          </p:cNvSpPr>
          <p:nvPr/>
        </p:nvSpPr>
        <p:spPr>
          <a:xfrm>
            <a:off x="5867400" y="3162300"/>
            <a:ext cx="2667000" cy="4953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ch-node-history-trace">
            <a:extLst>
              <a:ext uri="{FF2B5EF4-FFF2-40B4-BE49-F238E27FC236}">
                <a16:creationId xmlns:a16="http://schemas.microsoft.com/office/drawing/2014/main" id="{69AE5C46-50C1-4EFD-B343-ACBB7723E4F1}"/>
              </a:ext>
            </a:extLst>
          </p:cNvPr>
          <p:cNvSpPr>
            <a:spLocks noGrp="1"/>
          </p:cNvSpPr>
          <p:nvPr/>
        </p:nvSpPr>
        <p:spPr>
          <a:xfrm>
            <a:off x="5867400" y="3733800"/>
            <a:ext cx="2667000" cy="4953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rch-node-session-resolver">
            <a:extLst>
              <a:ext uri="{FF2B5EF4-FFF2-40B4-BE49-F238E27FC236}">
                <a16:creationId xmlns:a16="http://schemas.microsoft.com/office/drawing/2014/main" id="{F88AE84D-A109-4FD9-8791-5B15B281283F}"/>
              </a:ext>
            </a:extLst>
          </p:cNvPr>
          <p:cNvSpPr>
            <a:spLocks noGrp="1"/>
          </p:cNvSpPr>
          <p:nvPr/>
        </p:nvSpPr>
        <p:spPr>
          <a:xfrm>
            <a:off x="5867400" y="4305300"/>
            <a:ext cx="2667000" cy="495300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ch-node-tools-api">
            <a:extLst>
              <a:ext uri="{FF2B5EF4-FFF2-40B4-BE49-F238E27FC236}">
                <a16:creationId xmlns:a16="http://schemas.microsoft.com/office/drawing/2014/main" id="{3AE463C1-3D87-4F8C-9052-460057A24A6F}"/>
              </a:ext>
            </a:extLst>
          </p:cNvPr>
          <p:cNvSpPr>
            <a:spLocks noGrp="1"/>
          </p:cNvSpPr>
          <p:nvPr/>
        </p:nvSpPr>
        <p:spPr>
          <a:xfrm>
            <a:off x="5867400" y="4876800"/>
            <a:ext cx="2667000" cy="571500"/>
          </a:xfrm>
          <a:prstGeom prst="roundRect">
            <a:avLst>
              <a:gd name="adj" fmla="val 18333"/>
            </a:avLst>
          </a:prstGeom>
          <a:solidFill>
            <a:srgbClr val="1A191E"/>
          </a:solidFill>
          <a:ln w="12383">
            <a:solidFill>
              <a:srgbClr val="1A19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rch-node-lancedb">
            <a:extLst>
              <a:ext uri="{FF2B5EF4-FFF2-40B4-BE49-F238E27FC236}">
                <a16:creationId xmlns:a16="http://schemas.microsoft.com/office/drawing/2014/main" id="{A219B5AB-0A7A-4611-8F55-4B1930A0CA7F}"/>
              </a:ext>
            </a:extLst>
          </p:cNvPr>
          <p:cNvSpPr>
            <a:spLocks noGrp="1"/>
          </p:cNvSpPr>
          <p:nvPr/>
        </p:nvSpPr>
        <p:spPr>
          <a:xfrm>
            <a:off x="9067800" y="2552700"/>
            <a:ext cx="209550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rch-node-sqlite">
            <a:extLst>
              <a:ext uri="{FF2B5EF4-FFF2-40B4-BE49-F238E27FC236}">
                <a16:creationId xmlns:a16="http://schemas.microsoft.com/office/drawing/2014/main" id="{A0DED6D0-7A8F-494B-B94B-16A84D5A72A7}"/>
              </a:ext>
            </a:extLst>
          </p:cNvPr>
          <p:cNvSpPr>
            <a:spLocks noGrp="1"/>
          </p:cNvSpPr>
          <p:nvPr/>
        </p:nvSpPr>
        <p:spPr>
          <a:xfrm>
            <a:off x="9067800" y="3269488"/>
            <a:ext cx="2095500" cy="66675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2383">
            <a:solidFill>
              <a:srgbClr val="D9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rch-node-production-adapters">
            <a:extLst>
              <a:ext uri="{FF2B5EF4-FFF2-40B4-BE49-F238E27FC236}">
                <a16:creationId xmlns:a16="http://schemas.microsoft.com/office/drawing/2014/main" id="{EA3BB70C-7DBD-49CF-988F-5259A8A2E937}"/>
              </a:ext>
            </a:extLst>
          </p:cNvPr>
          <p:cNvSpPr>
            <a:spLocks noGrp="1"/>
          </p:cNvSpPr>
          <p:nvPr/>
        </p:nvSpPr>
        <p:spPr>
          <a:xfrm>
            <a:off x="9067800" y="4876800"/>
            <a:ext cx="2095500" cy="57150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383">
            <a:solidFill>
              <a:srgbClr val="9A99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arch-waypoint-auth-1">
            <a:extLst>
              <a:ext uri="{FF2B5EF4-FFF2-40B4-BE49-F238E27FC236}">
                <a16:creationId xmlns:a16="http://schemas.microsoft.com/office/drawing/2014/main" id="{F27171CF-DFA0-429B-B3A2-25C1FF343F59}"/>
              </a:ext>
            </a:extLst>
          </p:cNvPr>
          <p:cNvSpPr>
            <a:spLocks noGrp="1"/>
          </p:cNvSpPr>
          <p:nvPr/>
        </p:nvSpPr>
        <p:spPr>
          <a:xfrm>
            <a:off x="2686050" y="30575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rch-waypoint-auth-2">
            <a:extLst>
              <a:ext uri="{FF2B5EF4-FFF2-40B4-BE49-F238E27FC236}">
                <a16:creationId xmlns:a16="http://schemas.microsoft.com/office/drawing/2014/main" id="{FE752DB8-CA8D-476E-B9ED-6FFD15F0AEDB}"/>
              </a:ext>
            </a:extLst>
          </p:cNvPr>
          <p:cNvSpPr>
            <a:spLocks noGrp="1"/>
          </p:cNvSpPr>
          <p:nvPr/>
        </p:nvSpPr>
        <p:spPr>
          <a:xfrm>
            <a:off x="2686050" y="2543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rch-waypoint-auth-3">
            <a:extLst>
              <a:ext uri="{FF2B5EF4-FFF2-40B4-BE49-F238E27FC236}">
                <a16:creationId xmlns:a16="http://schemas.microsoft.com/office/drawing/2014/main" id="{CD6CE2D2-1DBB-4014-ABF7-73710A79A48B}"/>
              </a:ext>
            </a:extLst>
          </p:cNvPr>
          <p:cNvSpPr>
            <a:spLocks noGrp="1"/>
          </p:cNvSpPr>
          <p:nvPr/>
        </p:nvSpPr>
        <p:spPr>
          <a:xfrm>
            <a:off x="5743575" y="2543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rch-waypoint-auth-4">
            <a:extLst>
              <a:ext uri="{FF2B5EF4-FFF2-40B4-BE49-F238E27FC236}">
                <a16:creationId xmlns:a16="http://schemas.microsoft.com/office/drawing/2014/main" id="{DF79DBF3-4AB6-4965-B957-309E69F05B8C}"/>
              </a:ext>
            </a:extLst>
          </p:cNvPr>
          <p:cNvSpPr>
            <a:spLocks noGrp="1"/>
          </p:cNvSpPr>
          <p:nvPr/>
        </p:nvSpPr>
        <p:spPr>
          <a:xfrm>
            <a:off x="5743575" y="4543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218" name="arch-connector-customer-to-widget"/>
          <p:cNvCxnSpPr>
            <a:stCxn id="19" idx="0"/>
            <a:endCxn id="18" idx="2"/>
          </p:cNvCxnSpPr>
          <p:nvPr/>
        </p:nvCxnSpPr>
        <p:spPr>
          <a:xfrm flipV="1">
            <a:off x="1685925" y="4400550"/>
            <a:ext cx="0" cy="47625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9" name="arch-connector-widget-to-sign-in"/>
          <p:cNvCxnSpPr>
            <a:stCxn id="18" idx="0"/>
            <a:endCxn id="17" idx="2"/>
          </p:cNvCxnSpPr>
          <p:nvPr/>
        </p:nvCxnSpPr>
        <p:spPr>
          <a:xfrm flipV="1">
            <a:off x="1685925" y="3352800"/>
            <a:ext cx="0" cy="47625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0" name="arch-connector-widget-to-realtime-api"/>
          <p:cNvCxnSpPr>
            <a:stCxn id="18" idx="3"/>
            <a:endCxn id="20" idx="1"/>
          </p:cNvCxnSpPr>
          <p:nvPr/>
        </p:nvCxnSpPr>
        <p:spPr>
          <a:xfrm flipV="1">
            <a:off x="2533650" y="3067050"/>
            <a:ext cx="495300" cy="1047750"/>
          </a:xfrm>
          <a:prstGeom prst="bentConnector3">
            <a:avLst>
              <a:gd name="adj1" fmla="val 50000"/>
            </a:avLst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1" name="arch-connector-widget-to-gpt"/>
          <p:cNvCxnSpPr>
            <a:stCxn id="18" idx="3"/>
            <a:endCxn id="22" idx="1"/>
          </p:cNvCxnSpPr>
          <p:nvPr/>
        </p:nvCxnSpPr>
        <p:spPr>
          <a:xfrm>
            <a:off x="2533650" y="4114800"/>
            <a:ext cx="495300" cy="1047750"/>
          </a:xfrm>
          <a:prstGeom prst="bentConnector3">
            <a:avLst>
              <a:gd name="adj1" fmla="val 50000"/>
            </a:avLst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2" name="arch-connector-session-contract-to-gpt"/>
          <p:cNvCxnSpPr>
            <a:stCxn id="21" idx="2"/>
            <a:endCxn id="22" idx="0"/>
          </p:cNvCxnSpPr>
          <p:nvPr/>
        </p:nvCxnSpPr>
        <p:spPr>
          <a:xfrm>
            <a:off x="4181475" y="4400550"/>
            <a:ext cx="0" cy="47625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3" name="arch-connector-auth-sign-in"/>
          <p:cNvCxnSpPr>
            <a:stCxn id="17" idx="3"/>
            <a:endCxn id="31" idx="2"/>
          </p:cNvCxnSpPr>
          <p:nvPr/>
        </p:nvCxnSpPr>
        <p:spPr>
          <a:xfrm>
            <a:off x="2533650" y="3067050"/>
            <a:ext cx="152400" cy="0"/>
          </a:xfrm>
          <a:prstGeom prst="straightConnector1">
            <a:avLst/>
          </a:prstGeom>
          <a:ln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4" name="arch-connector-auth-rise"/>
          <p:cNvCxnSpPr>
            <a:stCxn id="31" idx="0"/>
            <a:endCxn id="32" idx="4"/>
          </p:cNvCxnSpPr>
          <p:nvPr/>
        </p:nvCxnSpPr>
        <p:spPr>
          <a:xfrm flipV="1">
            <a:off x="2695575" y="2562225"/>
            <a:ext cx="0" cy="495300"/>
          </a:xfrm>
          <a:prstGeom prst="straightConnector1">
            <a:avLst/>
          </a:prstGeom>
          <a:ln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5" name="arch-connector-auth-across"/>
          <p:cNvCxnSpPr>
            <a:stCxn id="32" idx="6"/>
            <a:endCxn id="33" idx="2"/>
          </p:cNvCxnSpPr>
          <p:nvPr/>
        </p:nvCxnSpPr>
        <p:spPr>
          <a:xfrm>
            <a:off x="2705100" y="2552700"/>
            <a:ext cx="3038475" cy="0"/>
          </a:xfrm>
          <a:prstGeom prst="straightConnector1">
            <a:avLst/>
          </a:prstGeom>
          <a:ln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6" name="arch-connector-auth-drop"/>
          <p:cNvCxnSpPr>
            <a:stCxn id="33" idx="4"/>
            <a:endCxn id="34" idx="0"/>
          </p:cNvCxnSpPr>
          <p:nvPr/>
        </p:nvCxnSpPr>
        <p:spPr>
          <a:xfrm>
            <a:off x="5753100" y="2562225"/>
            <a:ext cx="0" cy="1981200"/>
          </a:xfrm>
          <a:prstGeom prst="straightConnector1">
            <a:avLst/>
          </a:prstGeom>
          <a:ln w="13811">
            <a:solidFill>
              <a:srgbClr val="5A54F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27" name="arch-connector-auth-resolve"/>
          <p:cNvCxnSpPr>
            <a:stCxn id="34" idx="6"/>
            <a:endCxn id="26" idx="1"/>
          </p:cNvCxnSpPr>
          <p:nvPr/>
        </p:nvCxnSpPr>
        <p:spPr>
          <a:xfrm>
            <a:off x="5762625" y="4552950"/>
            <a:ext cx="104775" cy="0"/>
          </a:xfrm>
          <a:prstGeom prst="straightConnector1">
            <a:avLst/>
          </a:prstGeom>
          <a:ln w="13811">
            <a:solidFill>
              <a:srgbClr val="5A54FF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28" name="arch-connector-gpt-to-tools"/>
          <p:cNvCxnSpPr>
            <a:stCxn id="22" idx="3"/>
            <a:endCxn id="27" idx="1"/>
          </p:cNvCxnSpPr>
          <p:nvPr/>
        </p:nvCxnSpPr>
        <p:spPr>
          <a:xfrm>
            <a:off x="5334000" y="5162550"/>
            <a:ext cx="533400" cy="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29" name="arch-connector-tools-to-resolver"/>
          <p:cNvCxnSpPr>
            <a:stCxn id="27" idx="0"/>
            <a:endCxn id="26" idx="2"/>
          </p:cNvCxnSpPr>
          <p:nvPr/>
        </p:nvCxnSpPr>
        <p:spPr>
          <a:xfrm flipV="1">
            <a:off x="7200900" y="4800600"/>
            <a:ext cx="0" cy="7620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0" name="arch-connector-resolver-to-history"/>
          <p:cNvCxnSpPr>
            <a:stCxn id="26" idx="0"/>
            <a:endCxn id="25" idx="2"/>
          </p:cNvCxnSpPr>
          <p:nvPr/>
        </p:nvCxnSpPr>
        <p:spPr>
          <a:xfrm flipV="1">
            <a:off x="7200900" y="4229100"/>
            <a:ext cx="0" cy="7620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1" name="arch-connector-history-to-guarded"/>
          <p:cNvCxnSpPr>
            <a:stCxn id="25" idx="0"/>
            <a:endCxn id="24" idx="2"/>
          </p:cNvCxnSpPr>
          <p:nvPr/>
        </p:nvCxnSpPr>
        <p:spPr>
          <a:xfrm flipV="1">
            <a:off x="7200900" y="3657600"/>
            <a:ext cx="0" cy="7620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2" name="arch-connector-guarded-to-domain"/>
          <p:cNvCxnSpPr>
            <a:stCxn id="24" idx="0"/>
            <a:endCxn id="23" idx="2"/>
          </p:cNvCxnSpPr>
          <p:nvPr/>
        </p:nvCxnSpPr>
        <p:spPr>
          <a:xfrm flipV="1">
            <a:off x="7200900" y="3086100"/>
            <a:ext cx="0" cy="7620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3" name="arch-connector-domain-to-lancedb"/>
          <p:cNvCxnSpPr>
            <a:stCxn id="23" idx="3"/>
            <a:endCxn id="28" idx="1"/>
          </p:cNvCxnSpPr>
          <p:nvPr/>
        </p:nvCxnSpPr>
        <p:spPr>
          <a:xfrm>
            <a:off x="8534400" y="2838450"/>
            <a:ext cx="533400" cy="0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4" name="arch-connector-guarded-to-sqlite"/>
          <p:cNvCxnSpPr>
            <a:stCxn id="24" idx="3"/>
            <a:endCxn id="29" idx="1"/>
          </p:cNvCxnSpPr>
          <p:nvPr/>
        </p:nvCxnSpPr>
        <p:spPr>
          <a:xfrm>
            <a:off x="8534400" y="3409950"/>
            <a:ext cx="533400" cy="192913"/>
          </a:xfrm>
          <a:prstGeom prst="bentConnector3">
            <a:avLst>
              <a:gd name="adj1" fmla="val 50000"/>
            </a:avLst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5" name="arch-connector-history-to-sqlite"/>
          <p:cNvCxnSpPr>
            <a:stCxn id="25" idx="3"/>
            <a:endCxn id="29" idx="1"/>
          </p:cNvCxnSpPr>
          <p:nvPr/>
        </p:nvCxnSpPr>
        <p:spPr>
          <a:xfrm flipV="1">
            <a:off x="8534400" y="3602863"/>
            <a:ext cx="533400" cy="378587"/>
          </a:xfrm>
          <a:prstGeom prst="bentConnector3">
            <a:avLst>
              <a:gd name="adj1" fmla="val 50000"/>
            </a:avLst>
          </a:prstGeom>
          <a:ln w="13811">
            <a:solidFill>
              <a:srgbClr val="9A99A6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36" name="arch-connector-tools-to-adapters"/>
          <p:cNvCxnSpPr>
            <a:stCxn id="27" idx="3"/>
            <a:endCxn id="30" idx="1"/>
          </p:cNvCxnSpPr>
          <p:nvPr/>
        </p:nvCxnSpPr>
        <p:spPr>
          <a:xfrm>
            <a:off x="8534400" y="5162550"/>
            <a:ext cx="533400" cy="0"/>
          </a:xfrm>
          <a:prstGeom prst="straightConnector1">
            <a:avLst/>
          </a:prstGeom>
          <a:ln w="13811">
            <a:solidFill>
              <a:srgbClr val="9A99A6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4" name="arch-cluster-title-customer">
            <a:extLst>
              <a:ext uri="{FF2B5EF4-FFF2-40B4-BE49-F238E27FC236}">
                <a16:creationId xmlns:a16="http://schemas.microsoft.com/office/drawing/2014/main" id="{8190BC03-D5F0-47FF-8F80-54478F1B3107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CUSTOMER EXPERIENCE</a:t>
            </a:r>
          </a:p>
        </p:txBody>
      </p:sp>
      <p:sp>
        <p:nvSpPr>
          <p:cNvPr id="55" name="arch-cluster-title-realtime">
            <a:extLst>
              <a:ext uri="{FF2B5EF4-FFF2-40B4-BE49-F238E27FC236}">
                <a16:creationId xmlns:a16="http://schemas.microsoft.com/office/drawing/2014/main" id="{FC574B3A-8474-4CA2-B253-4154E8BFABB7}"/>
              </a:ext>
            </a:extLst>
          </p:cNvPr>
          <p:cNvSpPr>
            <a:spLocks noGrp="1"/>
          </p:cNvSpPr>
          <p:nvPr/>
        </p:nvSpPr>
        <p:spPr>
          <a:xfrm>
            <a:off x="2952750" y="232410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REALTIME ORCHESTRATION</a:t>
            </a:r>
          </a:p>
        </p:txBody>
      </p:sp>
      <p:sp>
        <p:nvSpPr>
          <p:cNvPr id="56" name="arch-cluster-title-control">
            <a:extLst>
              <a:ext uri="{FF2B5EF4-FFF2-40B4-BE49-F238E27FC236}">
                <a16:creationId xmlns:a16="http://schemas.microsoft.com/office/drawing/2014/main" id="{C8C26719-DA71-4770-8920-B1B6EE0678D6}"/>
              </a:ext>
            </a:extLst>
          </p:cNvPr>
          <p:cNvSpPr>
            <a:spLocks noGrp="1"/>
          </p:cNvSpPr>
          <p:nvPr/>
        </p:nvSpPr>
        <p:spPr>
          <a:xfrm>
            <a:off x="5772150" y="23241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SERVER CONTROL PLANE</a:t>
            </a:r>
          </a:p>
        </p:txBody>
      </p:sp>
      <p:sp>
        <p:nvSpPr>
          <p:cNvPr id="57" name="arch-cluster-title-state">
            <a:extLst>
              <a:ext uri="{FF2B5EF4-FFF2-40B4-BE49-F238E27FC236}">
                <a16:creationId xmlns:a16="http://schemas.microsoft.com/office/drawing/2014/main" id="{C7CBB2E4-58D9-46D6-BA51-E286EFC2B98D}"/>
              </a:ext>
            </a:extLst>
          </p:cNvPr>
          <p:cNvSpPr>
            <a:spLocks noGrp="1"/>
          </p:cNvSpPr>
          <p:nvPr/>
        </p:nvSpPr>
        <p:spPr>
          <a:xfrm>
            <a:off x="8991600" y="2324100"/>
            <a:ext cx="2247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788" b="1">
                <a:solidFill>
                  <a:srgbClr val="5A54FF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5A54FF"/>
                </a:solidFill>
                <a:latin typeface="Calibri"/>
                <a:ea typeface="Calibri"/>
                <a:cs typeface="Calibri"/>
              </a:rPr>
              <a:t>STATE + RETRIEVAL</a:t>
            </a:r>
          </a:p>
        </p:txBody>
      </p:sp>
      <p:sp>
        <p:nvSpPr>
          <p:cNvPr id="58" name="arch-title-sign-in">
            <a:extLst>
              <a:ext uri="{FF2B5EF4-FFF2-40B4-BE49-F238E27FC236}">
                <a16:creationId xmlns:a16="http://schemas.microsoft.com/office/drawing/2014/main" id="{2A5FC2B0-1523-49B0-9670-64B1630797B4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 dirty="0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Private </a:t>
            </a:r>
            <a:r>
              <a:rPr lang="en-US" sz="938" b="1" dirty="0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form/sign-in</a:t>
            </a:r>
            <a:endParaRPr sz="938" b="1" dirty="0">
              <a:solidFill>
                <a:srgbClr val="17161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arch-detail-sign-in">
            <a:extLst>
              <a:ext uri="{FF2B5EF4-FFF2-40B4-BE49-F238E27FC236}">
                <a16:creationId xmlns:a16="http://schemas.microsoft.com/office/drawing/2014/main" id="{0352C226-B90C-48E0-A037-C6189091E5AF}"/>
              </a:ext>
            </a:extLst>
          </p:cNvPr>
          <p:cNvSpPr>
            <a:spLocks noGrp="1"/>
          </p:cNvSpPr>
          <p:nvPr/>
        </p:nvSpPr>
        <p:spPr>
          <a:xfrm>
            <a:off x="914400" y="30194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lang="en-US"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</a:t>
            </a:r>
            <a:r>
              <a:rPr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redentials</a:t>
            </a:r>
            <a:r>
              <a:rPr lang="en-US"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 and PII</a:t>
            </a:r>
            <a:r>
              <a:rPr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 never enter chat</a:t>
            </a:r>
          </a:p>
        </p:txBody>
      </p:sp>
      <p:sp>
        <p:nvSpPr>
          <p:cNvPr id="60" name="arch-title-widget">
            <a:extLst>
              <a:ext uri="{FF2B5EF4-FFF2-40B4-BE49-F238E27FC236}">
                <a16:creationId xmlns:a16="http://schemas.microsoft.com/office/drawing/2014/main" id="{0F7D7F90-B50F-4D4D-B605-27C147146C4E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Bookly widget</a:t>
            </a:r>
          </a:p>
        </p:txBody>
      </p:sp>
      <p:sp>
        <p:nvSpPr>
          <p:cNvPr id="61" name="arch-detail-widget">
            <a:extLst>
              <a:ext uri="{FF2B5EF4-FFF2-40B4-BE49-F238E27FC236}">
                <a16:creationId xmlns:a16="http://schemas.microsoft.com/office/drawing/2014/main" id="{360678AB-72FD-4127-9109-E73FE178E952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UI · event relay · tool cards</a:t>
            </a:r>
          </a:p>
        </p:txBody>
      </p:sp>
      <p:sp>
        <p:nvSpPr>
          <p:cNvPr id="62" name="arch-title-customer">
            <a:extLst>
              <a:ext uri="{FF2B5EF4-FFF2-40B4-BE49-F238E27FC236}">
                <a16:creationId xmlns:a16="http://schemas.microsoft.com/office/drawing/2014/main" id="{4FC88246-756E-40C1-9FAF-7620F3D1A0DB}"/>
              </a:ext>
            </a:extLst>
          </p:cNvPr>
          <p:cNvSpPr>
            <a:spLocks noGrp="1"/>
          </p:cNvSpPr>
          <p:nvPr/>
        </p:nvSpPr>
        <p:spPr>
          <a:xfrm>
            <a:off x="914400" y="4924425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 dirty="0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Customer</a:t>
            </a:r>
          </a:p>
        </p:txBody>
      </p:sp>
      <p:sp>
        <p:nvSpPr>
          <p:cNvPr id="63" name="arch-detail-customer">
            <a:extLst>
              <a:ext uri="{FF2B5EF4-FFF2-40B4-BE49-F238E27FC236}">
                <a16:creationId xmlns:a16="http://schemas.microsoft.com/office/drawing/2014/main" id="{13483E2F-EB24-46B1-AD71-007FDB1CE174}"/>
              </a:ext>
            </a:extLst>
          </p:cNvPr>
          <p:cNvSpPr>
            <a:spLocks noGrp="1"/>
          </p:cNvSpPr>
          <p:nvPr/>
        </p:nvSpPr>
        <p:spPr>
          <a:xfrm>
            <a:off x="914400" y="5114925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text · voice · interruption</a:t>
            </a:r>
          </a:p>
        </p:txBody>
      </p:sp>
      <p:sp>
        <p:nvSpPr>
          <p:cNvPr id="64" name="arch-title-realtime-api">
            <a:extLst>
              <a:ext uri="{FF2B5EF4-FFF2-40B4-BE49-F238E27FC236}">
                <a16:creationId xmlns:a16="http://schemas.microsoft.com/office/drawing/2014/main" id="{2C799B2D-6F11-424B-AC6D-559DD53BAA54}"/>
              </a:ext>
            </a:extLst>
          </p:cNvPr>
          <p:cNvSpPr>
            <a:spLocks noGrp="1"/>
          </p:cNvSpPr>
          <p:nvPr/>
        </p:nvSpPr>
        <p:spPr>
          <a:xfrm>
            <a:off x="3105150" y="28289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/api/realtime</a:t>
            </a:r>
          </a:p>
        </p:txBody>
      </p:sp>
      <p:sp>
        <p:nvSpPr>
          <p:cNvPr id="65" name="arch-detail-realtime-api">
            <a:extLst>
              <a:ext uri="{FF2B5EF4-FFF2-40B4-BE49-F238E27FC236}">
                <a16:creationId xmlns:a16="http://schemas.microsoft.com/office/drawing/2014/main" id="{3B9D3DB3-627F-45D4-8C7B-DD4761F7371E}"/>
              </a:ext>
            </a:extLst>
          </p:cNvPr>
          <p:cNvSpPr>
            <a:spLocks noGrp="1"/>
          </p:cNvSpPr>
          <p:nvPr/>
        </p:nvSpPr>
        <p:spPr>
          <a:xfrm>
            <a:off x="3105150" y="301942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server key · SDP answer</a:t>
            </a:r>
          </a:p>
        </p:txBody>
      </p:sp>
      <p:sp>
        <p:nvSpPr>
          <p:cNvPr id="66" name="arch-title-session-contract">
            <a:extLst>
              <a:ext uri="{FF2B5EF4-FFF2-40B4-BE49-F238E27FC236}">
                <a16:creationId xmlns:a16="http://schemas.microsoft.com/office/drawing/2014/main" id="{90472BB9-0F4E-4F0C-9F45-789A1CFC028B}"/>
              </a:ext>
            </a:extLst>
          </p:cNvPr>
          <p:cNvSpPr>
            <a:spLocks noGrp="1"/>
          </p:cNvSpPr>
          <p:nvPr/>
        </p:nvSpPr>
        <p:spPr>
          <a:xfrm>
            <a:off x="3105150" y="387667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Session contract</a:t>
            </a:r>
          </a:p>
        </p:txBody>
      </p:sp>
      <p:sp>
        <p:nvSpPr>
          <p:cNvPr id="67" name="arch-detail-session-contract">
            <a:extLst>
              <a:ext uri="{FF2B5EF4-FFF2-40B4-BE49-F238E27FC236}">
                <a16:creationId xmlns:a16="http://schemas.microsoft.com/office/drawing/2014/main" id="{0D77FB5F-FD95-4FA6-8D50-088B87B59872}"/>
              </a:ext>
            </a:extLst>
          </p:cNvPr>
          <p:cNvSpPr>
            <a:spLocks noGrp="1"/>
          </p:cNvSpPr>
          <p:nvPr/>
        </p:nvSpPr>
        <p:spPr>
          <a:xfrm>
            <a:off x="3105150" y="406717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prompt · 29 schemas · semantic VAD</a:t>
            </a:r>
          </a:p>
        </p:txBody>
      </p:sp>
      <p:sp>
        <p:nvSpPr>
          <p:cNvPr id="68" name="arch-title-gpt-realtime">
            <a:extLst>
              <a:ext uri="{FF2B5EF4-FFF2-40B4-BE49-F238E27FC236}">
                <a16:creationId xmlns:a16="http://schemas.microsoft.com/office/drawing/2014/main" id="{B3F10088-77B6-4392-AA3B-5249006D943F}"/>
              </a:ext>
            </a:extLst>
          </p:cNvPr>
          <p:cNvSpPr>
            <a:spLocks noGrp="1"/>
          </p:cNvSpPr>
          <p:nvPr/>
        </p:nvSpPr>
        <p:spPr>
          <a:xfrm>
            <a:off x="3105150" y="49244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GPT-Realtime-2.1</a:t>
            </a:r>
          </a:p>
        </p:txBody>
      </p:sp>
      <p:sp>
        <p:nvSpPr>
          <p:cNvPr id="69" name="arch-detail-gpt-realtime">
            <a:extLst>
              <a:ext uri="{FF2B5EF4-FFF2-40B4-BE49-F238E27FC236}">
                <a16:creationId xmlns:a16="http://schemas.microsoft.com/office/drawing/2014/main" id="{94DCD68A-89A6-40A2-AC25-DE1312D66950}"/>
              </a:ext>
            </a:extLst>
          </p:cNvPr>
          <p:cNvSpPr>
            <a:spLocks noGrp="1"/>
          </p:cNvSpPr>
          <p:nvPr/>
        </p:nvSpPr>
        <p:spPr>
          <a:xfrm>
            <a:off x="3105150" y="5114925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EAE9FF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EAE9FF"/>
                </a:solidFill>
                <a:latin typeface="Calibri"/>
                <a:ea typeface="Calibri"/>
                <a:cs typeface="Calibri"/>
              </a:rPr>
              <a:t>dialogue · tool choice · arguments</a:t>
            </a:r>
          </a:p>
        </p:txBody>
      </p:sp>
      <p:sp>
        <p:nvSpPr>
          <p:cNvPr id="70" name="arch-title-domain-executors">
            <a:extLst>
              <a:ext uri="{FF2B5EF4-FFF2-40B4-BE49-F238E27FC236}">
                <a16:creationId xmlns:a16="http://schemas.microsoft.com/office/drawing/2014/main" id="{7F8B0145-66CE-400C-BD05-FD02561172F4}"/>
              </a:ext>
            </a:extLst>
          </p:cNvPr>
          <p:cNvSpPr>
            <a:spLocks noGrp="1"/>
          </p:cNvSpPr>
          <p:nvPr/>
        </p:nvSpPr>
        <p:spPr>
          <a:xfrm>
            <a:off x="5943600" y="26384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Domain executors</a:t>
            </a:r>
          </a:p>
        </p:txBody>
      </p:sp>
      <p:sp>
        <p:nvSpPr>
          <p:cNvPr id="71" name="arch-detail-domain-executors">
            <a:extLst>
              <a:ext uri="{FF2B5EF4-FFF2-40B4-BE49-F238E27FC236}">
                <a16:creationId xmlns:a16="http://schemas.microsoft.com/office/drawing/2014/main" id="{64A00584-48D2-40B0-9E33-5DF517C4D9CE}"/>
              </a:ext>
            </a:extLst>
          </p:cNvPr>
          <p:cNvSpPr>
            <a:spLocks noGrp="1"/>
          </p:cNvSpPr>
          <p:nvPr/>
        </p:nvSpPr>
        <p:spPr>
          <a:xfrm>
            <a:off x="5943600" y="2819400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commerce · resolution · support</a:t>
            </a:r>
          </a:p>
        </p:txBody>
      </p:sp>
      <p:sp>
        <p:nvSpPr>
          <p:cNvPr id="72" name="arch-title-guarded-engine">
            <a:extLst>
              <a:ext uri="{FF2B5EF4-FFF2-40B4-BE49-F238E27FC236}">
                <a16:creationId xmlns:a16="http://schemas.microsoft.com/office/drawing/2014/main" id="{F8451ABD-2340-4BA0-91B1-6C24F98B5CE7}"/>
              </a:ext>
            </a:extLst>
          </p:cNvPr>
          <p:cNvSpPr>
            <a:spLocks noGrp="1"/>
          </p:cNvSpPr>
          <p:nvPr/>
        </p:nvSpPr>
        <p:spPr>
          <a:xfrm>
            <a:off x="5943600" y="32099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Guarded action engine</a:t>
            </a:r>
          </a:p>
        </p:txBody>
      </p:sp>
      <p:sp>
        <p:nvSpPr>
          <p:cNvPr id="73" name="arch-detail-guarded-engine">
            <a:extLst>
              <a:ext uri="{FF2B5EF4-FFF2-40B4-BE49-F238E27FC236}">
                <a16:creationId xmlns:a16="http://schemas.microsoft.com/office/drawing/2014/main" id="{982E05ED-CC38-489B-BD0D-31C0B8C0980D}"/>
              </a:ext>
            </a:extLst>
          </p:cNvPr>
          <p:cNvSpPr>
            <a:spLocks noGrp="1"/>
          </p:cNvSpPr>
          <p:nvPr/>
        </p:nvSpPr>
        <p:spPr>
          <a:xfrm>
            <a:off x="5943600" y="3390900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ownership · policy · quote · revalidation</a:t>
            </a:r>
          </a:p>
        </p:txBody>
      </p:sp>
      <p:sp>
        <p:nvSpPr>
          <p:cNvPr id="74" name="arch-title-history-trace">
            <a:extLst>
              <a:ext uri="{FF2B5EF4-FFF2-40B4-BE49-F238E27FC236}">
                <a16:creationId xmlns:a16="http://schemas.microsoft.com/office/drawing/2014/main" id="{B996190A-5D2E-48FA-B594-BB4BF353D4EE}"/>
              </a:ext>
            </a:extLst>
          </p:cNvPr>
          <p:cNvSpPr>
            <a:spLocks noGrp="1"/>
          </p:cNvSpPr>
          <p:nvPr/>
        </p:nvSpPr>
        <p:spPr>
          <a:xfrm>
            <a:off x="5943600" y="37814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History + trace writer</a:t>
            </a:r>
          </a:p>
        </p:txBody>
      </p:sp>
      <p:sp>
        <p:nvSpPr>
          <p:cNvPr id="75" name="arch-detail-history-trace">
            <a:extLst>
              <a:ext uri="{FF2B5EF4-FFF2-40B4-BE49-F238E27FC236}">
                <a16:creationId xmlns:a16="http://schemas.microsoft.com/office/drawing/2014/main" id="{77C241A6-55C3-4AD8-93C8-39FA96D1E492}"/>
              </a:ext>
            </a:extLst>
          </p:cNvPr>
          <p:cNvSpPr>
            <a:spLocks noGrp="1"/>
          </p:cNvSpPr>
          <p:nvPr/>
        </p:nvSpPr>
        <p:spPr>
          <a:xfrm>
            <a:off x="5943600" y="3962400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input/output · status · latency</a:t>
            </a:r>
          </a:p>
        </p:txBody>
      </p:sp>
      <p:sp>
        <p:nvSpPr>
          <p:cNvPr id="76" name="arch-title-session-resolver">
            <a:extLst>
              <a:ext uri="{FF2B5EF4-FFF2-40B4-BE49-F238E27FC236}">
                <a16:creationId xmlns:a16="http://schemas.microsoft.com/office/drawing/2014/main" id="{C78386CC-FD3E-41B9-ACBB-ADEBFCBE025F}"/>
              </a:ext>
            </a:extLst>
          </p:cNvPr>
          <p:cNvSpPr>
            <a:spLocks noGrp="1"/>
          </p:cNvSpPr>
          <p:nvPr/>
        </p:nvSpPr>
        <p:spPr>
          <a:xfrm>
            <a:off x="5943600" y="43529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Session resolver</a:t>
            </a:r>
          </a:p>
        </p:txBody>
      </p:sp>
      <p:sp>
        <p:nvSpPr>
          <p:cNvPr id="77" name="arch-detail-session-resolver">
            <a:extLst>
              <a:ext uri="{FF2B5EF4-FFF2-40B4-BE49-F238E27FC236}">
                <a16:creationId xmlns:a16="http://schemas.microsoft.com/office/drawing/2014/main" id="{3E5AE1D8-4C63-4C52-BDB1-26F65297B20B}"/>
              </a:ext>
            </a:extLst>
          </p:cNvPr>
          <p:cNvSpPr>
            <a:spLocks noGrp="1"/>
          </p:cNvSpPr>
          <p:nvPr/>
        </p:nvSpPr>
        <p:spPr>
          <a:xfrm>
            <a:off x="5943600" y="4533900"/>
            <a:ext cx="2514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signed </a:t>
            </a:r>
            <a:r>
              <a:rPr sz="713" b="0" dirty="0" err="1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HttpOnly</a:t>
            </a:r>
            <a:r>
              <a:rPr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 cookie + </a:t>
            </a:r>
            <a:r>
              <a:rPr sz="713" b="0" dirty="0" err="1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sessionId</a:t>
            </a:r>
            <a:endParaRPr sz="713" b="0" dirty="0">
              <a:solidFill>
                <a:srgbClr val="5554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arch-title-tools-api">
            <a:extLst>
              <a:ext uri="{FF2B5EF4-FFF2-40B4-BE49-F238E27FC236}">
                <a16:creationId xmlns:a16="http://schemas.microsoft.com/office/drawing/2014/main" id="{F43116A7-F2B9-47D0-ABD0-745371DE2788}"/>
              </a:ext>
            </a:extLst>
          </p:cNvPr>
          <p:cNvSpPr>
            <a:spLocks noGrp="1"/>
          </p:cNvSpPr>
          <p:nvPr/>
        </p:nvSpPr>
        <p:spPr>
          <a:xfrm>
            <a:off x="5943600" y="49244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/api/tools</a:t>
            </a:r>
          </a:p>
        </p:txBody>
      </p:sp>
      <p:sp>
        <p:nvSpPr>
          <p:cNvPr id="79" name="arch-detail-tools-api">
            <a:extLst>
              <a:ext uri="{FF2B5EF4-FFF2-40B4-BE49-F238E27FC236}">
                <a16:creationId xmlns:a16="http://schemas.microsoft.com/office/drawing/2014/main" id="{5BFC3AEB-D98A-4EED-9AE8-B0AFA058031A}"/>
              </a:ext>
            </a:extLst>
          </p:cNvPr>
          <p:cNvSpPr>
            <a:spLocks noGrp="1"/>
          </p:cNvSpPr>
          <p:nvPr/>
        </p:nvSpPr>
        <p:spPr>
          <a:xfrm>
            <a:off x="5943600" y="5114925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E7E6EB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E7E6EB"/>
                </a:solidFill>
                <a:latin typeface="Calibri"/>
                <a:ea typeface="Calibri"/>
                <a:cs typeface="Calibri"/>
              </a:rPr>
              <a:t>Zod envelope · callId · safe errors</a:t>
            </a:r>
          </a:p>
        </p:txBody>
      </p:sp>
      <p:sp>
        <p:nvSpPr>
          <p:cNvPr id="80" name="arch-title-lancedb">
            <a:extLst>
              <a:ext uri="{FF2B5EF4-FFF2-40B4-BE49-F238E27FC236}">
                <a16:creationId xmlns:a16="http://schemas.microsoft.com/office/drawing/2014/main" id="{E27CC88A-B35E-4EBB-8D3C-741567DA982C}"/>
              </a:ext>
            </a:extLst>
          </p:cNvPr>
          <p:cNvSpPr>
            <a:spLocks noGrp="1"/>
          </p:cNvSpPr>
          <p:nvPr/>
        </p:nvSpPr>
        <p:spPr>
          <a:xfrm>
            <a:off x="9107424" y="2760345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lang="en-US" sz="938" b="1" dirty="0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Agent Policy	 Catalog</a:t>
            </a:r>
            <a:endParaRPr sz="938" b="1" dirty="0">
              <a:solidFill>
                <a:srgbClr val="17161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arch-detail-lancedb">
            <a:extLst>
              <a:ext uri="{FF2B5EF4-FFF2-40B4-BE49-F238E27FC236}">
                <a16:creationId xmlns:a16="http://schemas.microsoft.com/office/drawing/2014/main" id="{DB2EB94E-E773-4FAB-99B9-118E184D3178}"/>
              </a:ext>
            </a:extLst>
          </p:cNvPr>
          <p:cNvSpPr>
            <a:spLocks noGrp="1"/>
          </p:cNvSpPr>
          <p:nvPr/>
        </p:nvSpPr>
        <p:spPr>
          <a:xfrm>
            <a:off x="9144000" y="28289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prefiltered policy + catalog RAG</a:t>
            </a:r>
          </a:p>
        </p:txBody>
      </p:sp>
      <p:sp>
        <p:nvSpPr>
          <p:cNvPr id="82" name="arch-title-sqlite">
            <a:extLst>
              <a:ext uri="{FF2B5EF4-FFF2-40B4-BE49-F238E27FC236}">
                <a16:creationId xmlns:a16="http://schemas.microsoft.com/office/drawing/2014/main" id="{F4E99CB3-D6BF-4F21-90C2-12DCC1CB765A}"/>
              </a:ext>
            </a:extLst>
          </p:cNvPr>
          <p:cNvSpPr>
            <a:spLocks noGrp="1"/>
          </p:cNvSpPr>
          <p:nvPr/>
        </p:nvSpPr>
        <p:spPr>
          <a:xfrm>
            <a:off x="9163050" y="3373374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 dirty="0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SQLite</a:t>
            </a:r>
          </a:p>
        </p:txBody>
      </p:sp>
      <p:sp>
        <p:nvSpPr>
          <p:cNvPr id="83" name="arch-detail-sqlite">
            <a:extLst>
              <a:ext uri="{FF2B5EF4-FFF2-40B4-BE49-F238E27FC236}">
                <a16:creationId xmlns:a16="http://schemas.microsoft.com/office/drawing/2014/main" id="{E6A772C8-EDF8-4407-BC61-36212147F55D}"/>
              </a:ext>
            </a:extLst>
          </p:cNvPr>
          <p:cNvSpPr>
            <a:spLocks noGrp="1"/>
          </p:cNvSpPr>
          <p:nvPr/>
        </p:nvSpPr>
        <p:spPr>
          <a:xfrm>
            <a:off x="9163050" y="3563874"/>
            <a:ext cx="1943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82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682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customers · orders · carts · quotes</a:t>
            </a:r>
          </a:p>
          <a:p>
            <a:pPr algn="ctr">
              <a:buNone/>
              <a:defRPr sz="682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682" b="0" dirty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history · audit · refunds · cases</a:t>
            </a:r>
          </a:p>
        </p:txBody>
      </p:sp>
      <p:sp>
        <p:nvSpPr>
          <p:cNvPr id="84" name="arch-title-production-adapters">
            <a:extLst>
              <a:ext uri="{FF2B5EF4-FFF2-40B4-BE49-F238E27FC236}">
                <a16:creationId xmlns:a16="http://schemas.microsoft.com/office/drawing/2014/main" id="{4A015B38-C6DA-44C3-A64A-766A34918284}"/>
              </a:ext>
            </a:extLst>
          </p:cNvPr>
          <p:cNvSpPr>
            <a:spLocks noGrp="1"/>
          </p:cNvSpPr>
          <p:nvPr/>
        </p:nvSpPr>
        <p:spPr>
          <a:xfrm>
            <a:off x="9144000" y="4924425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38" b="1">
                <a:solidFill>
                  <a:srgbClr val="17161C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7161C"/>
                </a:solidFill>
                <a:latin typeface="Calibri"/>
                <a:ea typeface="Calibri"/>
                <a:cs typeface="Calibri"/>
              </a:rPr>
              <a:t>Production adapters</a:t>
            </a:r>
          </a:p>
        </p:txBody>
      </p:sp>
      <p:sp>
        <p:nvSpPr>
          <p:cNvPr id="85" name="arch-detail-production-adapters">
            <a:extLst>
              <a:ext uri="{FF2B5EF4-FFF2-40B4-BE49-F238E27FC236}">
                <a16:creationId xmlns:a16="http://schemas.microsoft.com/office/drawing/2014/main" id="{6348481A-C399-4176-AA01-CB896C7092B3}"/>
              </a:ext>
            </a:extLst>
          </p:cNvPr>
          <p:cNvSpPr>
            <a:spLocks noGrp="1"/>
          </p:cNvSpPr>
          <p:nvPr/>
        </p:nvSpPr>
        <p:spPr>
          <a:xfrm>
            <a:off x="9144000" y="51149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0">
                <a:solidFill>
                  <a:srgbClr val="555461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55461"/>
                </a:solidFill>
                <a:latin typeface="Calibri"/>
                <a:ea typeface="Calibri"/>
                <a:cs typeface="Calibri"/>
              </a:rPr>
              <a:t>identity · OMS · payments · fulfillment</a:t>
            </a:r>
          </a:p>
        </p:txBody>
      </p:sp>
      <p:sp>
        <p:nvSpPr>
          <p:cNvPr id="88" name="arch-label-signed-session">
            <a:extLst>
              <a:ext uri="{FF2B5EF4-FFF2-40B4-BE49-F238E27FC236}">
                <a16:creationId xmlns:a16="http://schemas.microsoft.com/office/drawing/2014/main" id="{09A89CB1-C3B6-4A8F-9077-169E4F39AEB1}"/>
              </a:ext>
            </a:extLst>
          </p:cNvPr>
          <p:cNvSpPr>
            <a:spLocks noGrp="1"/>
          </p:cNvSpPr>
          <p:nvPr/>
        </p:nvSpPr>
        <p:spPr>
          <a:xfrm>
            <a:off x="4191000" y="2571750"/>
            <a:ext cx="87630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signed session</a:t>
            </a:r>
          </a:p>
        </p:txBody>
      </p:sp>
      <p:sp>
        <p:nvSpPr>
          <p:cNvPr id="90" name="arch-label-rag">
            <a:extLst>
              <a:ext uri="{FF2B5EF4-FFF2-40B4-BE49-F238E27FC236}">
                <a16:creationId xmlns:a16="http://schemas.microsoft.com/office/drawing/2014/main" id="{20C8D17B-6814-4FDB-8BBA-FED5D959B56F}"/>
              </a:ext>
            </a:extLst>
          </p:cNvPr>
          <p:cNvSpPr>
            <a:spLocks noGrp="1"/>
          </p:cNvSpPr>
          <p:nvPr/>
        </p:nvSpPr>
        <p:spPr>
          <a:xfrm>
            <a:off x="8572500" y="2639060"/>
            <a:ext cx="43815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 dirty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RAG</a:t>
            </a:r>
          </a:p>
        </p:txBody>
      </p:sp>
      <p:sp>
        <p:nvSpPr>
          <p:cNvPr id="91" name="arch-label-transaction">
            <a:extLst>
              <a:ext uri="{FF2B5EF4-FFF2-40B4-BE49-F238E27FC236}">
                <a16:creationId xmlns:a16="http://schemas.microsoft.com/office/drawing/2014/main" id="{87104838-D0FA-40BE-8E3D-227E6155A2C3}"/>
              </a:ext>
            </a:extLst>
          </p:cNvPr>
          <p:cNvSpPr>
            <a:spLocks noGrp="1"/>
          </p:cNvSpPr>
          <p:nvPr/>
        </p:nvSpPr>
        <p:spPr>
          <a:xfrm>
            <a:off x="8515350" y="3191510"/>
            <a:ext cx="60960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 dirty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transaction</a:t>
            </a:r>
          </a:p>
        </p:txBody>
      </p:sp>
      <p:sp>
        <p:nvSpPr>
          <p:cNvPr id="92" name="arch-label-trace">
            <a:extLst>
              <a:ext uri="{FF2B5EF4-FFF2-40B4-BE49-F238E27FC236}">
                <a16:creationId xmlns:a16="http://schemas.microsoft.com/office/drawing/2014/main" id="{BA8C77C4-65D1-4B21-8A55-0E7A501C3326}"/>
              </a:ext>
            </a:extLst>
          </p:cNvPr>
          <p:cNvSpPr>
            <a:spLocks noGrp="1"/>
          </p:cNvSpPr>
          <p:nvPr/>
        </p:nvSpPr>
        <p:spPr>
          <a:xfrm>
            <a:off x="8648699" y="4000500"/>
            <a:ext cx="381000" cy="152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 dirty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93" name="arch-label-same-contracts">
            <a:extLst>
              <a:ext uri="{FF2B5EF4-FFF2-40B4-BE49-F238E27FC236}">
                <a16:creationId xmlns:a16="http://schemas.microsoft.com/office/drawing/2014/main" id="{D461E23A-05F5-4D12-8057-6924F3D59729}"/>
              </a:ext>
            </a:extLst>
          </p:cNvPr>
          <p:cNvSpPr>
            <a:spLocks noGrp="1"/>
          </p:cNvSpPr>
          <p:nvPr/>
        </p:nvSpPr>
        <p:spPr>
          <a:xfrm>
            <a:off x="8553450" y="4876799"/>
            <a:ext cx="495300" cy="254761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53" b="0">
                <a:solidFill>
                  <a:srgbClr val="777684"/>
                </a:solidFill>
                <a:latin typeface="Calibri"/>
                <a:ea typeface="Calibri"/>
                <a:cs typeface="Calibri"/>
              </a:defRPr>
            </a:pPr>
            <a:r>
              <a:rPr sz="653" b="0" dirty="0">
                <a:solidFill>
                  <a:srgbClr val="777684"/>
                </a:solidFill>
                <a:latin typeface="Calibri"/>
                <a:ea typeface="Calibri"/>
                <a:cs typeface="Calibri"/>
              </a:rPr>
              <a:t>same contracts</a:t>
            </a:r>
          </a:p>
        </p:txBody>
      </p:sp>
      <p:pic>
        <p:nvPicPr>
          <p:cNvPr id="6" name="Graphic 5" descr="Books outline">
            <a:extLst>
              <a:ext uri="{FF2B5EF4-FFF2-40B4-BE49-F238E27FC236}">
                <a16:creationId xmlns:a16="http://schemas.microsoft.com/office/drawing/2014/main" id="{5F273086-6136-BF05-2592-F87978D9B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2128" y="2576957"/>
            <a:ext cx="228600" cy="228600"/>
          </a:xfrm>
          <a:prstGeom prst="rect">
            <a:avLst/>
          </a:prstGeom>
        </p:spPr>
      </p:pic>
      <p:pic>
        <p:nvPicPr>
          <p:cNvPr id="8" name="Graphic 7" descr="Paper outline">
            <a:extLst>
              <a:ext uri="{FF2B5EF4-FFF2-40B4-BE49-F238E27FC236}">
                <a16:creationId xmlns:a16="http://schemas.microsoft.com/office/drawing/2014/main" id="{3067B428-DEEC-E869-2076-48B012327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1807" y="2585466"/>
            <a:ext cx="228726" cy="228726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2E1B993-8937-37C5-A0C7-E0C557988B81}"/>
              </a:ext>
            </a:extLst>
          </p:cNvPr>
          <p:cNvSpPr/>
          <p:nvPr/>
        </p:nvSpPr>
        <p:spPr>
          <a:xfrm>
            <a:off x="2818257" y="5853047"/>
            <a:ext cx="2726436" cy="252478"/>
          </a:xfrm>
          <a:prstGeom prst="roundRect">
            <a:avLst/>
          </a:prstGeom>
          <a:solidFill>
            <a:schemeClr val="accent4"/>
          </a:solidFill>
          <a:ln w="12383">
            <a:solidFill>
              <a:srgbClr val="5A54FF"/>
            </a:solidFill>
            <a:prstDash val="solid"/>
          </a:ln>
        </p:spPr>
        <p:txBody>
          <a:bodyPr/>
          <a:lstStyle/>
          <a:p>
            <a:pPr algn="ctr"/>
            <a:r>
              <a:rPr lang="en-US" sz="938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Other channels</a:t>
            </a:r>
          </a:p>
        </p:txBody>
      </p:sp>
      <p:cxnSp>
        <p:nvCxnSpPr>
          <p:cNvPr id="41" name="arch-connector-session-contract-to-gpt">
            <a:extLst>
              <a:ext uri="{FF2B5EF4-FFF2-40B4-BE49-F238E27FC236}">
                <a16:creationId xmlns:a16="http://schemas.microsoft.com/office/drawing/2014/main" id="{DE726BB2-A181-FAAF-0318-4033218CE02A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181475" y="5448300"/>
            <a:ext cx="0" cy="404747"/>
          </a:xfrm>
          <a:prstGeom prst="straightConnector1">
            <a:avLst/>
          </a:prstGeom>
          <a:ln w="13811">
            <a:solidFill>
              <a:srgbClr val="5A54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6023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6E63A9-537B-C2E4-8F63-E4101FF6B19A}"/>
              </a:ext>
            </a:extLst>
          </p:cNvPr>
          <p:cNvSpPr txBox="1"/>
          <p:nvPr/>
        </p:nvSpPr>
        <p:spPr>
          <a:xfrm>
            <a:off x="1265500" y="2253559"/>
            <a:ext cx="87638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Using GPT Realtime 2.1 with semantic voice-activity detection and interruption support.</a:t>
            </a:r>
            <a:r>
              <a:rPr lang="en-US" sz="1400" dirty="0"/>
              <a:t> Customers can speak naturally, pause without prematurely ending a turn, see live transcripts, and interrupt the agent by speaking again.</a:t>
            </a:r>
            <a:br>
              <a:rPr lang="en-US" sz="1400" dirty="0"/>
            </a:br>
            <a:r>
              <a:rPr lang="en-US" sz="1400" b="1" dirty="0"/>
              <a:t>Trade-off:</a:t>
            </a:r>
            <a:r>
              <a:rPr lang="en-US" sz="1400" dirty="0"/>
              <a:t> substantially more WebRTC, audio-state, event-handling, latency, cost, and testing complexity than a text-only interface.</a:t>
            </a:r>
            <a:br>
              <a:rPr lang="en-US" sz="1400" dirty="0"/>
            </a:br>
            <a:r>
              <a:rPr lang="en-US" sz="1400" b="1" dirty="0"/>
              <a:t>Worth it?</a:t>
            </a:r>
            <a:r>
              <a:rPr lang="en-US" sz="1400" dirty="0"/>
              <a:t> Mostly yes. Voice made the demo memorable and demonstrated a genuinely </a:t>
            </a:r>
            <a:r>
              <a:rPr lang="en-US" sz="1400" dirty="0" err="1"/>
              <a:t>realtime</a:t>
            </a:r>
            <a:r>
              <a:rPr lang="en-US" sz="1400" dirty="0"/>
              <a:t> experience, although the underlying trust and transaction architecture remained more important than the voice layer itself.</a:t>
            </a:r>
          </a:p>
          <a:p>
            <a:endParaRPr lang="en-US" sz="1400" dirty="0"/>
          </a:p>
          <a:p>
            <a:r>
              <a:rPr lang="en-US" sz="1400" b="1" dirty="0"/>
              <a:t>Separating knowledge into two purpose-specific RAG domains</a:t>
            </a:r>
          </a:p>
          <a:p>
            <a:r>
              <a:rPr lang="en-US" sz="1400" dirty="0"/>
              <a:t>Catalog RAG handles semantic book discovery, policy RAG grounds support decisions.  </a:t>
            </a:r>
            <a:br>
              <a:rPr lang="en-US" sz="1400" dirty="0"/>
            </a:br>
            <a:r>
              <a:rPr lang="en-US" sz="1400" b="1" dirty="0"/>
              <a:t>Trade-off:</a:t>
            </a:r>
            <a:r>
              <a:rPr lang="en-US" sz="1400" dirty="0"/>
              <a:t> more schemas, routing logic, synchronization, and testing than a single datastore. </a:t>
            </a:r>
            <a:br>
              <a:rPr lang="en-US" sz="1400" dirty="0"/>
            </a:br>
            <a:r>
              <a:rPr lang="en-US" sz="1400" b="1" dirty="0"/>
              <a:t>Worth it?</a:t>
            </a:r>
            <a:r>
              <a:rPr lang="en-US" sz="1400" dirty="0"/>
              <a:t> Yes. It created a clean boundary between what is semantically relevant and what needs to be transactionally true without a probability of overlap. 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Making the agents changes visible in the product.</a:t>
            </a:r>
            <a:r>
              <a:rPr lang="en-US" sz="1400" dirty="0"/>
              <a:t> Synchronized cart and checkout state, expandable tool traces, inline authentication, and the refund receipt let customers actually see the agent working.</a:t>
            </a:r>
            <a:br>
              <a:rPr lang="en-US" sz="1400" dirty="0"/>
            </a:br>
            <a:r>
              <a:rPr lang="en-US" sz="1400" b="1" dirty="0"/>
              <a:t>Trade-off:</a:t>
            </a:r>
            <a:r>
              <a:rPr lang="en-US" sz="1400" dirty="0"/>
              <a:t> heavy UI and presentation effort</a:t>
            </a:r>
          </a:p>
          <a:p>
            <a:r>
              <a:rPr lang="en-US" sz="1400" b="1" dirty="0"/>
              <a:t>Worth it?</a:t>
            </a:r>
            <a:r>
              <a:rPr lang="en-US" sz="1400" dirty="0"/>
              <a:t> The product-level visibility was absolutely worthwhile by enhancing the customer experience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CB59B9-CC8D-7307-9E34-CF5B8D2C7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85800" y="457200"/>
            <a:ext cx="1752600" cy="381518"/>
          </a:xfrm>
          <a:prstGeom prst="rect">
            <a:avLst/>
          </a:prstGeom>
        </p:spPr>
      </p:pic>
      <p:sp>
        <p:nvSpPr>
          <p:cNvPr id="7" name="kicker">
            <a:extLst>
              <a:ext uri="{FF2B5EF4-FFF2-40B4-BE49-F238E27FC236}">
                <a16:creationId xmlns:a16="http://schemas.microsoft.com/office/drawing/2014/main" id="{BEFBB9CB-3108-F0F0-1835-57456337950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5754FF"/>
                </a:solidFill>
              </a:defRPr>
            </a:pPr>
            <a:r>
              <a:rPr lang="en-US" sz="975" b="1" dirty="0">
                <a:solidFill>
                  <a:srgbClr val="5754FF"/>
                </a:solidFill>
              </a:rPr>
              <a:t>Key Decisions</a:t>
            </a:r>
            <a:endParaRPr sz="975" b="1" dirty="0">
              <a:solidFill>
                <a:srgbClr val="5754FF"/>
              </a:solidFill>
            </a:endParaRPr>
          </a:p>
        </p:txBody>
      </p:sp>
      <p:sp>
        <p:nvSpPr>
          <p:cNvPr id="9" name="agenda-title">
            <a:extLst>
              <a:ext uri="{FF2B5EF4-FFF2-40B4-BE49-F238E27FC236}">
                <a16:creationId xmlns:a16="http://schemas.microsoft.com/office/drawing/2014/main" id="{0CCF0FD3-D8BC-8BC3-38E9-F66B368D41DD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965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lang="en-US" sz="3150" b="1" dirty="0">
                <a:solidFill>
                  <a:srgbClr val="0A0A0B"/>
                </a:solidFill>
              </a:rPr>
              <a:t>Key Decisions impacting architecture</a:t>
            </a:r>
            <a:endParaRPr sz="3150" b="1" dirty="0">
              <a:solidFill>
                <a:srgbClr val="0A0A0B"/>
              </a:solidFill>
            </a:endParaRPr>
          </a:p>
        </p:txBody>
      </p:sp>
      <p:pic>
        <p:nvPicPr>
          <p:cNvPr id="11" name="Graphic 10" descr="3d Glasses with solid fill">
            <a:extLst>
              <a:ext uri="{FF2B5EF4-FFF2-40B4-BE49-F238E27FC236}">
                <a16:creationId xmlns:a16="http://schemas.microsoft.com/office/drawing/2014/main" id="{A3A2B831-276D-7ED3-4312-385E13C5F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576" y="5562592"/>
            <a:ext cx="334433" cy="334433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82CEA380-3BAC-9B82-1D53-FC9EDDE25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76" y="4110561"/>
            <a:ext cx="334433" cy="334433"/>
          </a:xfrm>
          <a:prstGeom prst="rect">
            <a:avLst/>
          </a:prstGeom>
        </p:spPr>
      </p:pic>
      <p:pic>
        <p:nvPicPr>
          <p:cNvPr id="15" name="Graphic 14" descr="Radio microphone outline">
            <a:extLst>
              <a:ext uri="{FF2B5EF4-FFF2-40B4-BE49-F238E27FC236}">
                <a16:creationId xmlns:a16="http://schemas.microsoft.com/office/drawing/2014/main" id="{EB3D2DDE-73DF-61DB-3DA3-72AAB2D1D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576" y="2747439"/>
            <a:ext cx="334433" cy="3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4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457200"/>
            <a:ext cx="1752600" cy="381518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9BA8F227-8F8A-41CC-8AD4-880516C6E53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5754FF"/>
                </a:solidFill>
              </a:defRPr>
            </a:pPr>
            <a:r>
              <a:rPr sz="975" b="1" dirty="0">
                <a:solidFill>
                  <a:srgbClr val="5754FF"/>
                </a:solidFill>
              </a:rPr>
              <a:t>WHAT'S NEXT</a:t>
            </a:r>
          </a:p>
        </p:txBody>
      </p:sp>
      <p:sp>
        <p:nvSpPr>
          <p:cNvPr id="3" name="agenda-title">
            <a:extLst>
              <a:ext uri="{FF2B5EF4-FFF2-40B4-BE49-F238E27FC236}">
                <a16:creationId xmlns:a16="http://schemas.microsoft.com/office/drawing/2014/main" id="{DDEFA9CF-DD48-4787-B130-9E2A1E305388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965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1">
                <a:solidFill>
                  <a:srgbClr val="0A0A0B"/>
                </a:solidFill>
              </a:defRPr>
            </a:pPr>
            <a:r>
              <a:rPr lang="en-US" sz="3150" b="1" dirty="0">
                <a:solidFill>
                  <a:srgbClr val="0A0A0B"/>
                </a:solidFill>
              </a:rPr>
              <a:t>Future State: </a:t>
            </a:r>
            <a:r>
              <a:rPr sz="3150" b="1" dirty="0">
                <a:solidFill>
                  <a:srgbClr val="0A0A0B"/>
                </a:solidFill>
              </a:rPr>
              <a:t>Measure, personalize, and operate</a:t>
            </a:r>
          </a:p>
        </p:txBody>
      </p:sp>
      <p:sp>
        <p:nvSpPr>
          <p:cNvPr id="20" name="footer-rule">
            <a:extLst>
              <a:ext uri="{FF2B5EF4-FFF2-40B4-BE49-F238E27FC236}">
                <a16:creationId xmlns:a16="http://schemas.microsoft.com/office/drawing/2014/main" id="{9D9EC69E-8FE1-4985-B4B7-B117E730240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4D4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ooter-brand">
            <a:extLst>
              <a:ext uri="{FF2B5EF4-FFF2-40B4-BE49-F238E27FC236}">
                <a16:creationId xmlns:a16="http://schemas.microsoft.com/office/drawing/2014/main" id="{4DA80F1C-3ED1-45F8-A446-ECB91FAC70F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DECAGON</a:t>
            </a:r>
          </a:p>
        </p:txBody>
      </p:sp>
      <p:sp>
        <p:nvSpPr>
          <p:cNvPr id="22" name="slide-number">
            <a:extLst>
              <a:ext uri="{FF2B5EF4-FFF2-40B4-BE49-F238E27FC236}">
                <a16:creationId xmlns:a16="http://schemas.microsoft.com/office/drawing/2014/main" id="{E8D9B49B-7D31-4C7C-87EF-E1DC16607C16}"/>
              </a:ext>
            </a:extLst>
          </p:cNvPr>
          <p:cNvSpPr>
            <a:spLocks noGrp="1"/>
          </p:cNvSpPr>
          <p:nvPr/>
        </p:nvSpPr>
        <p:spPr>
          <a:xfrm>
            <a:off x="11106150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898994"/>
                </a:solidFill>
              </a:defRPr>
            </a:pPr>
            <a:r>
              <a:rPr sz="825" b="1">
                <a:solidFill>
                  <a:srgbClr val="898994"/>
                </a:solidFill>
              </a:rPr>
              <a:t>09</a:t>
            </a:r>
          </a:p>
        </p:txBody>
      </p:sp>
      <p:sp>
        <p:nvSpPr>
          <p:cNvPr id="27" name="proof-label-discover">
            <a:extLst>
              <a:ext uri="{FF2B5EF4-FFF2-40B4-BE49-F238E27FC236}">
                <a16:creationId xmlns:a16="http://schemas.microsoft.com/office/drawing/2014/main" id="{AFD3CFF2-1393-49C2-A690-C1E48377094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EVALUATION HARNESS</a:t>
            </a:r>
          </a:p>
        </p:txBody>
      </p:sp>
      <p:sp>
        <p:nvSpPr>
          <p:cNvPr id="28" name="proof-body-discover">
            <a:extLst>
              <a:ext uri="{FF2B5EF4-FFF2-40B4-BE49-F238E27FC236}">
                <a16:creationId xmlns:a16="http://schemas.microsoft.com/office/drawing/2014/main" id="{52D8BEA6-E98E-444D-8F68-F8242CC9DC1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Replay thousands of customer journeys and score success, safety, latency, and trajectory quality.</a:t>
            </a:r>
          </a:p>
        </p:txBody>
      </p:sp>
      <p:sp>
        <p:nvSpPr>
          <p:cNvPr id="29" name="proof-label-protect">
            <a:extLst>
              <a:ext uri="{FF2B5EF4-FFF2-40B4-BE49-F238E27FC236}">
                <a16:creationId xmlns:a16="http://schemas.microsoft.com/office/drawing/2014/main" id="{C95FB5BE-C648-4A83-99C5-48BFD6D83F81}"/>
              </a:ext>
            </a:extLst>
          </p:cNvPr>
          <p:cNvSpPr>
            <a:spLocks noGrp="1"/>
          </p:cNvSpPr>
          <p:nvPr/>
        </p:nvSpPr>
        <p:spPr>
          <a:xfrm>
            <a:off x="5905500" y="52768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CUSTOMER GRAPH</a:t>
            </a:r>
          </a:p>
        </p:txBody>
      </p:sp>
      <p:sp>
        <p:nvSpPr>
          <p:cNvPr id="30" name="proof-body-protect">
            <a:extLst>
              <a:ext uri="{FF2B5EF4-FFF2-40B4-BE49-F238E27FC236}">
                <a16:creationId xmlns:a16="http://schemas.microsoft.com/office/drawing/2014/main" id="{A088189A-0862-4807-9C40-95862C4E371B}"/>
              </a:ext>
            </a:extLst>
          </p:cNvPr>
          <p:cNvSpPr>
            <a:spLocks noGrp="1"/>
          </p:cNvSpPr>
          <p:nvPr/>
        </p:nvSpPr>
        <p:spPr>
          <a:xfrm>
            <a:off x="5905500" y="55054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 dirty="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Join preference signals to the catalog for next-best offers and lifecycle campaigns.</a:t>
            </a:r>
          </a:p>
        </p:txBody>
      </p:sp>
      <p:sp>
        <p:nvSpPr>
          <p:cNvPr id="31" name="proof-label-act">
            <a:extLst>
              <a:ext uri="{FF2B5EF4-FFF2-40B4-BE49-F238E27FC236}">
                <a16:creationId xmlns:a16="http://schemas.microsoft.com/office/drawing/2014/main" id="{B0C302DD-E08E-4962-A91B-48D2AE590C1F}"/>
              </a:ext>
            </a:extLst>
          </p:cNvPr>
          <p:cNvSpPr>
            <a:spLocks noGrp="1"/>
          </p:cNvSpPr>
          <p:nvPr/>
        </p:nvSpPr>
        <p:spPr>
          <a:xfrm>
            <a:off x="8839200" y="52768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975" b="1">
                <a:solidFill>
                  <a:srgbClr val="5754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5754FF"/>
                </a:solidFill>
                <a:latin typeface="Calibri"/>
                <a:ea typeface="Calibri"/>
                <a:cs typeface="Calibri"/>
              </a:rPr>
              <a:t>AGENT STUDIO</a:t>
            </a:r>
          </a:p>
        </p:txBody>
      </p:sp>
      <p:sp>
        <p:nvSpPr>
          <p:cNvPr id="32" name="proof-body-act">
            <a:extLst>
              <a:ext uri="{FF2B5EF4-FFF2-40B4-BE49-F238E27FC236}">
                <a16:creationId xmlns:a16="http://schemas.microsoft.com/office/drawing/2014/main" id="{EA3CA5A7-6E29-4CB1-A455-8A66FA8F3BD0}"/>
              </a:ext>
            </a:extLst>
          </p:cNvPr>
          <p:cNvSpPr>
            <a:spLocks noGrp="1"/>
          </p:cNvSpPr>
          <p:nvPr/>
        </p:nvSpPr>
        <p:spPr>
          <a:xfrm>
            <a:off x="8839200" y="55054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>
                <a:solidFill>
                  <a:srgbClr val="0A0A0B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A0A0B"/>
                </a:solidFill>
                <a:latin typeface="Calibri"/>
                <a:ea typeface="Calibri"/>
                <a:cs typeface="Calibri"/>
              </a:rPr>
              <a:t>Manage prompts, tools, memory, permissions, versions, and historical run traces.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4"/>
          <a:srcRect t="452" b="452"/>
          <a:stretch>
            <a:fillRect/>
          </a:stretch>
        </p:blipFill>
        <p:spPr>
          <a:xfrm>
            <a:off x="685800" y="2305050"/>
            <a:ext cx="5156548" cy="2895600"/>
          </a:xfrm>
          <a:prstGeom prst="roundRect">
            <a:avLst>
              <a:gd name="adj" fmla="val 4110"/>
            </a:avLst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5"/>
          <a:srcRect l="162" r="162"/>
          <a:stretch>
            <a:fillRect/>
          </a:stretch>
        </p:blipFill>
        <p:spPr>
          <a:xfrm>
            <a:off x="5958822" y="2305049"/>
            <a:ext cx="2776604" cy="2895601"/>
          </a:xfrm>
          <a:prstGeom prst="roundRect">
            <a:avLst>
              <a:gd name="adj" fmla="val 4286"/>
            </a:avLst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6"/>
          <a:srcRect l="162" r="162"/>
          <a:stretch>
            <a:fillRect/>
          </a:stretch>
        </p:blipFill>
        <p:spPr>
          <a:xfrm>
            <a:off x="8839200" y="2305049"/>
            <a:ext cx="2776604" cy="2895601"/>
          </a:xfrm>
          <a:prstGeom prst="roundRect">
            <a:avLst>
              <a:gd name="adj" fmla="val 4286"/>
            </a:avLst>
          </a:prstGeom>
        </p:spPr>
      </p:pic>
    </p:spTree>
    <p:extLst>
      <p:ext uri="{BB962C8B-B14F-4D97-AF65-F5344CB8AC3E}">
        <p14:creationId xmlns:p14="http://schemas.microsoft.com/office/powerpoint/2010/main" val="11876160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806</Words>
  <Application>Microsoft Office PowerPoint</Application>
  <DocSecurity>0</DocSecurity>
  <PresentationFormat>Widescreen</PresentationFormat>
  <Paragraphs>101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Bernstein</cp:lastModifiedBy>
  <cp:revision>2</cp:revision>
  <dcterms:created xsi:type="dcterms:W3CDTF">2026-08-15T18:14:58Z</dcterms:created>
  <dcterms:modified xsi:type="dcterms:W3CDTF">2026-08-17T15:00:33Z</dcterms:modified>
</cp:coreProperties>
</file>