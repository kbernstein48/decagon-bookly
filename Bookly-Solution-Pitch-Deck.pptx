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ff22750eb4d24" /><Relationship Type="http://schemas.openxmlformats.org/officeDocument/2006/relationships/extended-properties" Target="/docProps/app.xml" Id="R7aba442ae874443c" /><Relationship Type="http://schemas.openxmlformats.org/officeDocument/2006/relationships/officeDocument" Target="/ppt/presentation.xml" Id="Rd7112b381ce443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267d8e78954223"/>
  </p:sldMasterIdLst>
  <p:notesMasterIdLst>
    <p:notesMasterId xmlns:r="http://schemas.openxmlformats.org/officeDocument/2006/relationships" r:id="Rd3756db0c0f6433d"/>
  </p:notesMasterIdLst>
  <p:sldIdLst>
    <p:sldId xmlns:r="http://schemas.openxmlformats.org/officeDocument/2006/relationships" id="256" r:id="R953eae384706468f"/>
    <p:sldId xmlns:r="http://schemas.openxmlformats.org/officeDocument/2006/relationships" id="257" r:id="Rd8e01840e7eb471d"/>
    <p:sldId xmlns:r="http://schemas.openxmlformats.org/officeDocument/2006/relationships" id="258" r:id="Rbbca6a0c38854f0e"/>
    <p:sldId xmlns:r="http://schemas.openxmlformats.org/officeDocument/2006/relationships" id="259" r:id="R3a103cb1160a419f"/>
    <p:sldId xmlns:r="http://schemas.openxmlformats.org/officeDocument/2006/relationships" id="260" r:id="Raddef5e32182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215807a38448c" /><Relationship Type="http://schemas.openxmlformats.org/officeDocument/2006/relationships/slideMaster" Target="/ppt/slideMasters/slideMaster1.xml" Id="R86267d8e78954223" /><Relationship Type="http://schemas.openxmlformats.org/officeDocument/2006/relationships/notesMaster" Target="/ppt/notesMasters/notesMaster1.xml" Id="Rd3756db0c0f6433d" /><Relationship Type="http://schemas.openxmlformats.org/officeDocument/2006/relationships/presProps" Target="/ppt/presProps.xml" Id="R0d7855f8b477441e" /><Relationship Type="http://schemas.openxmlformats.org/officeDocument/2006/relationships/tableStyles" Target="/ppt/tableStyles.xml" Id="R9f46856779144eb8" /><Relationship Type="http://schemas.openxmlformats.org/officeDocument/2006/relationships/slide" Target="/ppt/slides/slide1.xml" Id="R953eae384706468f" /><Relationship Type="http://schemas.openxmlformats.org/officeDocument/2006/relationships/slide" Target="/ppt/slides/slide2.xml" Id="Rd8e01840e7eb471d" /><Relationship Type="http://schemas.openxmlformats.org/officeDocument/2006/relationships/slide" Target="/ppt/slides/slide3.xml" Id="Rbbca6a0c38854f0e" /><Relationship Type="http://schemas.openxmlformats.org/officeDocument/2006/relationships/slide" Target="/ppt/slides/slide4.xml" Id="R3a103cb1160a419f" /><Relationship Type="http://schemas.openxmlformats.org/officeDocument/2006/relationships/slide" Target="/ppt/slides/slide5.xml" Id="Raddef5e32182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7298a0f2a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aa5b439fa4e84" /><Relationship Type="http://schemas.openxmlformats.org/officeDocument/2006/relationships/notesMaster" Target="/ppt/notesMasters/notesMaster1.xml" Id="R39942fbe5662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c94d950dd417d" /><Relationship Type="http://schemas.openxmlformats.org/officeDocument/2006/relationships/notesMaster" Target="/ppt/notesMasters/notesMaster1.xml" Id="R3f4a9ce2979341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cba03c6d5416b" /><Relationship Type="http://schemas.openxmlformats.org/officeDocument/2006/relationships/notesMaster" Target="/ppt/notesMasters/notesMaster1.xml" Id="R6e9bc35d3c3b4d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41ba26da5b40c2" /><Relationship Type="http://schemas.openxmlformats.org/officeDocument/2006/relationships/notesMaster" Target="/ppt/notesMasters/notesMaster1.xml" Id="Rb6a25e9dd4e8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6be842ef9d4ea8" /><Relationship Type="http://schemas.openxmlformats.org/officeDocument/2006/relationships/notesMaster" Target="/ppt/notesMasters/notesMaster1.xml" Id="Rce31eff1aa7f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Bookly is designed to feel natural until an action has consequences; then deterministic controls take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C:/Users/Kevin/Downloads/SE Take-Home (1).pdf — Part 2 pitch requirements.</a:t>
            </a:r>
          </a:p>
          <a:p xmlns:a="http://schemas.openxmlformats.org/drawingml/2006/main">
            <a:r>
              <a:t>- C:/Users/Kevin/Documents/ChatGPT/Decagon-SE Takehome/README.md — system thesis and implemented scope.</a:t>
            </a:r>
          </a:p>
          <a:p xmlns:a="http://schemas.openxmlformats.org/drawingml/2006/main">
            <a:r>
              <a:t>- https://decagon.ai/ — logo, brand colors, typography, and copy reference retained from the Decagon template (accessed 2026-08-14).</a:t>
            </a:r>
          </a:p>
          <a:p xmlns:a="http://schemas.openxmlformats.org/drawingml/2006/main">
            <a:r>
              <a:t>- OpenAI Image Generation — light abstract background generated for the retained template on 2026-08-14.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WebRTC carries text and voice to GPT-Realtime-2.1. The system prompt defines behavior and tool affordances. Typed calls cross to the server, where authentication, policy checks, and transactional mutations are enforced. The Realtime conversation supplies immediate context; SQLite stores browser-session history and tool audit, while LanceDB stores policy and catalog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C:/Users/Kevin/Documents/ChatGPT/Decagon-SE Takehome/README.md — architecture, memory split, and data stores.</a:t>
            </a:r>
          </a:p>
          <a:p xmlns:a="http://schemas.openxmlformats.org/drawingml/2006/main">
            <a:r>
              <a:t>- C:/Users/Kevin/Documents/ChatGPT/Decagon-SE Takehome/lib/agent.ts — prompt, Realtime model, and typed tools.</a:t>
            </a:r>
          </a:p>
          <a:p xmlns:a="http://schemas.openxmlformats.org/drawingml/2006/main">
            <a:r>
              <a:t>- C:/Users/Kevin/Documents/ChatGPT/Decagon-SE Takehome/app/api/realtime/route.ts — server-mediated Realtime session setup.</a:t>
            </a:r>
          </a:p>
          <a:p xmlns:a="http://schemas.openxmlformats.org/drawingml/2006/main">
            <a:r>
              <a:t>- C:/Users/Kevin/Documents/ChatGPT/Decagon-SE Takehome/app/api/tools/route.ts — server tool routing and authenticated execution.</a:t>
            </a:r>
          </a:p>
          <a:p xmlns:a="http://schemas.openxmlformats.org/drawingml/2006/main">
            <a:r>
              <a:t>- C:/Users/Kevin/Documents/ChatGPT/Decagon-SE Takehome/lib/history.ts — durable browser-session history and audit.</a:t>
            </a:r>
          </a:p>
          <a:p xmlns:a="http://schemas.openxmlformats.org/drawingml/2006/main">
            <a:r>
              <a:t>- https://decagon.ai/ — logo and brand system retained from the Decagon template (accessed 2026-08-14).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Choice: use the model for natural dialogue, clarification, and tool selection; use code for facts, authorization, and mutations. Tradeoff: the extra tool schemas, routing, and validation create more orchestration work. It is worth it because action correctness is more important than minimizing application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C:/Users/Kevin/Documents/ChatGPT/Decagon-SE Takehome/README.md — key decision: model for conversation, code for control.</a:t>
            </a:r>
          </a:p>
          <a:p xmlns:a="http://schemas.openxmlformats.org/drawingml/2006/main">
            <a:r>
              <a:t>- C:/Users/Kevin/Documents/ChatGPT/Decagon-SE Takehome/lib/agent.ts — model instructions and tool definitions.</a:t>
            </a:r>
          </a:p>
          <a:p xmlns:a="http://schemas.openxmlformats.org/drawingml/2006/main">
            <a:r>
              <a:t>- C:/Users/Kevin/Documents/ChatGPT/Decagon-SE Takehome/app/api/tools/route.ts — validation and server-side action dispatch.</a:t>
            </a:r>
          </a:p>
          <a:p xmlns:a="http://schemas.openxmlformats.org/drawingml/2006/main">
            <a:r>
              <a:t>- C:/Users/Kevin/Documents/ChatGPT/Decagon-SE Takehome/lib/tools.ts — policy checks and transactional side effects.</a:t>
            </a:r>
          </a:p>
          <a:p xmlns:a="http://schemas.openxmlformats.org/drawingml/2006/main">
            <a:r>
              <a:t>- https://decagon.ai/ — logo and brand system retained from the Decagon template (accessed 2026-08-14).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2: consequential actions use short-lived, one-time confirmation quotes. That costs an extra turn, but the user reviews the exact action and the server revalidates identity, ownership, state, and token inside a transaction. Decision 3: identity and durable state stay off-model. That adds session and persistence plumbing, but protects credentials, supports refresh/resume, and produces an auditable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C:/Users/Kevin/Documents/ChatGPT/Decagon-SE Takehome/README.md — confirmation, identity, memory, and audit design.</a:t>
            </a:r>
          </a:p>
          <a:p xmlns:a="http://schemas.openxmlformats.org/drawingml/2006/main">
            <a:r>
              <a:t>- C:/Users/Kevin/Documents/ChatGPT/Decagon-SE Takehome/lib/auth.ts — signed session behavior.</a:t>
            </a:r>
          </a:p>
          <a:p xmlns:a="http://schemas.openxmlformats.org/drawingml/2006/main">
            <a:r>
              <a:t>- C:/Users/Kevin/Documents/ChatGPT/Decagon-SE Takehome/lib/browser-auth.ts — browser-bound HttpOnly authentication.</a:t>
            </a:r>
          </a:p>
          <a:p xmlns:a="http://schemas.openxmlformats.org/drawingml/2006/main">
            <a:r>
              <a:t>- C:/Users/Kevin/Documents/ChatGPT/Decagon-SE Takehome/lib/history.ts — persisted conversation and tool audit.</a:t>
            </a:r>
          </a:p>
          <a:p xmlns:a="http://schemas.openxmlformats.org/drawingml/2006/main">
            <a:r>
              <a:t>- C:/Users/Kevin/Documents/ChatGPT/Decagon-SE Takehome/lib/tools.ts — one-time confirmation quotes and transactional revalidation.</a:t>
            </a:r>
          </a:p>
          <a:p xmlns:a="http://schemas.openxmlformats.org/drawingml/2006/main">
            <a:r>
              <a:t>- https://decagon.ai/ — logo and brand system retained from the Decagon template (accessed 2026-08-14).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production change is to move the Realtime control channel fully server-side. It creates one enforcement and observability point before real systems are connected. After that: integrate the enterprise identity provider and system APIs, then harden approval configuration, idempotency, tracing, PII retention, and evals.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C:/Users/Kevin/Documents/ChatGPT/Decagon-SE Takehome/README.md — production next steps and server-side control-channel recommendation.</a:t>
            </a:r>
          </a:p>
          <a:p xmlns:a="http://schemas.openxmlformats.org/drawingml/2006/main">
            <a:r>
              <a:t>- C:/Users/Kevin/Documents/ChatGPT/Decagon-SE Takehome/app/api/realtime/route.ts — current Realtime session boundary.</a:t>
            </a:r>
          </a:p>
          <a:p xmlns:a="http://schemas.openxmlformats.org/drawingml/2006/main">
            <a:r>
              <a:t>- https://decagon.ai/ — logo and brand system retained from the Decagon template (accessed 2026-08-14).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2bd5c760b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ea01e944f46aa" /><Relationship Type="http://schemas.openxmlformats.org/officeDocument/2006/relationships/slideLayout" Target="/ppt/slideLayouts/slideLayout1.xml" Id="Rac1ed078a89f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1ed078a89f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6b4e933fc4877" /><Relationship Type="http://schemas.openxmlformats.org/officeDocument/2006/relationships/image" Target="/ppt/media/image.png" Id="Ra995d06d16454497" /><Relationship Type="http://schemas.openxmlformats.org/officeDocument/2006/relationships/image" Target="/ppt/media/image.svg" Id="Rcb5e54e5bc6b4383" /><Relationship Type="http://schemas.openxmlformats.org/officeDocument/2006/relationships/notesSlide" Target="/ppt/notesSlides/notesSlide1.xml" Id="R896fc88efc45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ff24cbda544d3" /><Relationship Type="http://schemas.openxmlformats.org/officeDocument/2006/relationships/image" Target="/ppt/media/image2.png" Id="R30c2e6718b8c4ea4" /><Relationship Type="http://schemas.openxmlformats.org/officeDocument/2006/relationships/image" Target="/ppt/media/image2.svg" Id="R4cd8eee9a03a4448" /><Relationship Type="http://schemas.openxmlformats.org/officeDocument/2006/relationships/notesSlide" Target="/ppt/notesSlides/notesSlide2.xml" Id="Re98024a973e5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92c6b1604fc7" /><Relationship Type="http://schemas.openxmlformats.org/officeDocument/2006/relationships/image" Target="/ppt/media/image3.png" Id="Rdf630856f6e64f27" /><Relationship Type="http://schemas.openxmlformats.org/officeDocument/2006/relationships/image" Target="/ppt/media/image3.svg" Id="R9ed5271650c34d34" /><Relationship Type="http://schemas.openxmlformats.org/officeDocument/2006/relationships/notesSlide" Target="/ppt/notesSlides/notesSlide3.xml" Id="R7f9fd11c83924b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6c1401fe04a1e" /><Relationship Type="http://schemas.openxmlformats.org/officeDocument/2006/relationships/image" Target="/ppt/media/image4.png" Id="R7f1d48a3869643ca" /><Relationship Type="http://schemas.openxmlformats.org/officeDocument/2006/relationships/image" Target="/ppt/media/image4.svg" Id="R8da43052ce634dd1" /><Relationship Type="http://schemas.openxmlformats.org/officeDocument/2006/relationships/notesSlide" Target="/ppt/notesSlides/notesSlide4.xml" Id="R2513d56a57da4b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ec9e1406435c" /><Relationship Type="http://schemas.openxmlformats.org/officeDocument/2006/relationships/image" Target="/ppt/media/image5.png" Id="Raae15a821d994180" /><Relationship Type="http://schemas.openxmlformats.org/officeDocument/2006/relationships/image" Target="/ppt/media/image5.svg" Id="R4ace275a8a2645e6" /><Relationship Type="http://schemas.openxmlformats.org/officeDocument/2006/relationships/notesSlide" Target="/ppt/notesSlides/notesSlide5.xml" Id="Rffa1634a29964d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5d06d164544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5d06d16454497">
            <a:extLst>
              <a:ext uri="{96DAC541-7B7A-43D3-8B79-37D633B846F1}">
                <asvg:svgBlip xmlns:asvg="http://schemas.microsoft.com/office/drawing/2016/SVG/main" r:embed="Rcb5e54e5bc6b43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1790700" cy="389812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B78DC74-D0A7-44E3-981A-CBDFD23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96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>
                <a:solidFill>
                  <a:srgbClr val="0A0A0B"/>
                </a:solidFill>
              </a:rPr>
              <a:t>Bookly Realtime</a:t>
            </a:r>
          </a:p>
          <a:p xmlns:a="http://schemas.openxmlformats.org/drawingml/2006/main"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>
                <a:solidFill>
                  <a:srgbClr val="0A0A0B"/>
                </a:solidFill>
              </a:rPr>
              <a:t>Support Agent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5048F8-4CCA-474A-A297-1B66C6A6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4E4E56"/>
                </a:solidFill>
              </a:defRPr>
            </a:pPr>
            <a:r>
              <a:rPr sz="1800">
                <a:solidFill>
                  <a:srgbClr val="4E4E56"/>
                </a:solidFill>
              </a:rPr>
              <a:t>Natural conversation. Deterministic consequences.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B0AF824-00E3-4E5B-B5E9-FC36279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14540C9E-8551-45F8-9465-6B38248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E4E56"/>
                </a:solidFill>
              </a:defRPr>
            </a:pPr>
            <a:r>
              <a:rPr sz="975" b="1">
                <a:solidFill>
                  <a:srgbClr val="4E4E56"/>
                </a:solidFill>
              </a:rPr>
              <a:t>SOLUTIONS ENGINEERING TAKE-HOME | AUGUST 2026</a:t>
            </a:r>
          </a:p>
        </p:txBody>
      </p:sp>
    </p:spTree>
    <p:extLst>
      <p:ext uri="{BB962C8B-B14F-4D97-AF65-F5344CB8AC3E}">
        <p14:creationId xmlns:p14="http://schemas.microsoft.com/office/powerpoint/2010/main" val="156267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2e6718b8c4ea4">
            <a:extLst>
              <a:ext uri="{96DAC541-7B7A-43D3-8B79-37D633B846F1}">
                <asvg:svgBlip xmlns:asvg="http://schemas.microsoft.com/office/drawing/2016/SVG/main" r:embed="R4cd8eee9a03a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D50233B-9DA0-48E2-ABB4-53B010C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SYSTEM ARCHITECTURE</a:t>
            </a:r>
          </a:p>
        </p:txBody>
      </p:sp>
      <p:sp>
        <p:nvSpPr>
          <p:cNvPr id="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FAF42F0D-8866-4C23-9D03-871B8F7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>
                <a:solidFill>
                  <a:srgbClr val="0A0A0B"/>
                </a:solidFill>
              </a:rPr>
              <a:t>Every action crosses a code boundary</a:t>
            </a:r>
          </a:p>
        </p:txBody>
      </p:sp>
      <p:sp>
        <p:nvSpPr>
          <p:cNvPr id="4" name="timeline-subtitle">
            <a:extLst xmlns:a="http://schemas.openxmlformats.org/drawingml/2006/main">
              <a:ext uri="{FF2B5EF4-FFF2-40B4-BE49-F238E27FC236}">
                <a16:creationId xmlns:a16="http://schemas.microsoft.com/office/drawing/2014/main" id="{C2B64123-4713-416C-A06E-C62E13E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E4E56"/>
                </a:solidFill>
              </a:defRPr>
            </a:pPr>
            <a:r>
              <a:rPr sz="1350">
                <a:solidFill>
                  <a:srgbClr val="4E4E56"/>
                </a:solidFill>
              </a:rPr>
              <a:t>The model owns dialogue; servers own identity, policy, tools, and state.</a:t>
            </a:r>
          </a:p>
        </p:txBody>
      </p:sp>
      <p:sp>
        <p:nvSpPr>
          <p:cNvPr id="5" name="timeline-connector">
            <a:extLst xmlns:a="http://schemas.openxmlformats.org/drawingml/2006/main">
              <a:ext uri="{FF2B5EF4-FFF2-40B4-BE49-F238E27FC236}">
                <a16:creationId xmlns:a16="http://schemas.microsoft.com/office/drawing/2014/main" id="{7DB401AC-EF7A-4FF3-A451-903EE53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851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34601CB7-2054-49B1-929E-3CE127C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center-0">
            <a:extLst xmlns:a="http://schemas.openxmlformats.org/drawingml/2006/main">
              <a:ext uri="{FF2B5EF4-FFF2-40B4-BE49-F238E27FC236}">
                <a16:creationId xmlns:a16="http://schemas.microsoft.com/office/drawing/2014/main" id="{941F1DFA-331F-4260-B92E-7B671C5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umber-0">
            <a:extLst xmlns:a="http://schemas.openxmlformats.org/drawingml/2006/main">
              <a:ext uri="{FF2B5EF4-FFF2-40B4-BE49-F238E27FC236}">
                <a16:creationId xmlns:a16="http://schemas.microsoft.com/office/drawing/2014/main" id="{0AE312FA-409E-48F0-A774-5077321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01</a:t>
            </a:r>
          </a:p>
        </p:txBody>
      </p:sp>
      <p:sp>
        <p:nvSpPr>
          <p:cNvPr id="9" name="timeline-step-0">
            <a:extLst xmlns:a="http://schemas.openxmlformats.org/drawingml/2006/main">
              <a:ext uri="{FF2B5EF4-FFF2-40B4-BE49-F238E27FC236}">
                <a16:creationId xmlns:a16="http://schemas.microsoft.com/office/drawing/2014/main" id="{BD342035-0293-4CD3-9260-02FC113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Customer</a:t>
            </a:r>
          </a:p>
        </p:txBody>
      </p:sp>
      <p:sp>
        <p:nvSpPr>
          <p:cNvPr id="10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6BBDCCB6-4E11-4FC5-9CB8-85B0D5EC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Text or voice via the Bookly widget</a:t>
            </a:r>
          </a:p>
        </p:txBody>
      </p:sp>
      <p:sp>
        <p:nvSpPr>
          <p:cNvPr id="11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A3ED5BEF-8AEA-40B3-9717-5FAA28B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node-center-1">
            <a:extLst xmlns:a="http://schemas.openxmlformats.org/drawingml/2006/main">
              <a:ext uri="{FF2B5EF4-FFF2-40B4-BE49-F238E27FC236}">
                <a16:creationId xmlns:a16="http://schemas.microsoft.com/office/drawing/2014/main" id="{EF26FF90-F11B-4FCA-BFF2-702ED77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number-1">
            <a:extLst xmlns:a="http://schemas.openxmlformats.org/drawingml/2006/main">
              <a:ext uri="{FF2B5EF4-FFF2-40B4-BE49-F238E27FC236}">
                <a16:creationId xmlns:a16="http://schemas.microsoft.com/office/drawing/2014/main" id="{FA9495D4-821A-444C-B9EA-7872DB1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02</a:t>
            </a:r>
          </a:p>
        </p:txBody>
      </p:sp>
      <p:sp>
        <p:nvSpPr>
          <p:cNvPr id="14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FAB810B1-161A-440D-9DC3-AD4FDAA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Realtime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334D9160-3F8D-4DB9-8A9B-98B9ED9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Prompt + model + live context</a:t>
            </a:r>
          </a:p>
        </p:txBody>
      </p:sp>
      <p:sp>
        <p:nvSpPr>
          <p:cNvPr id="16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783FE0A0-9AD8-490E-9391-D64D801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node-center-2">
            <a:extLst xmlns:a="http://schemas.openxmlformats.org/drawingml/2006/main">
              <a:ext uri="{FF2B5EF4-FFF2-40B4-BE49-F238E27FC236}">
                <a16:creationId xmlns:a16="http://schemas.microsoft.com/office/drawing/2014/main" id="{1F7500BC-7840-4654-B5E9-47B851D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meline-number-2">
            <a:extLst xmlns:a="http://schemas.openxmlformats.org/drawingml/2006/main">
              <a:ext uri="{FF2B5EF4-FFF2-40B4-BE49-F238E27FC236}">
                <a16:creationId xmlns:a16="http://schemas.microsoft.com/office/drawing/2014/main" id="{E7B5848C-3A3E-4EE1-B71F-1A4ED4D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03</a:t>
            </a:r>
          </a:p>
        </p:txBody>
      </p:sp>
      <p:sp>
        <p:nvSpPr>
          <p:cNvPr id="19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F14D4876-844C-48DD-A50D-4BDB928F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Tool router</a:t>
            </a:r>
          </a:p>
        </p:txBody>
      </p:sp>
      <p:sp>
        <p:nvSpPr>
          <p:cNvPr id="20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2184F7F6-A699-40FF-90CE-4B14B4F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Typed tools, auth, policy, transactions</a:t>
            </a:r>
          </a:p>
        </p:txBody>
      </p:sp>
      <p:sp>
        <p:nvSpPr>
          <p:cNvPr id="21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EB687C5D-8D2A-4376-8A44-D1C0F45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05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eline-node-center-3">
            <a:extLst xmlns:a="http://schemas.openxmlformats.org/drawingml/2006/main">
              <a:ext uri="{FF2B5EF4-FFF2-40B4-BE49-F238E27FC236}">
                <a16:creationId xmlns:a16="http://schemas.microsoft.com/office/drawing/2014/main" id="{5A070DB4-0D84-4B7A-BDAD-74FC335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194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line-number-3">
            <a:extLst xmlns:a="http://schemas.openxmlformats.org/drawingml/2006/main">
              <a:ext uri="{FF2B5EF4-FFF2-40B4-BE49-F238E27FC236}">
                <a16:creationId xmlns:a16="http://schemas.microsoft.com/office/drawing/2014/main" id="{BBD7082A-9002-4B10-AA0F-AD90E41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54FF"/>
                </a:solidFill>
              </a:defRPr>
            </a:pPr>
            <a:r>
              <a:rPr sz="1050" b="1">
                <a:solidFill>
                  <a:srgbClr val="5754FF"/>
                </a:solidFill>
              </a:rPr>
              <a:t>04</a:t>
            </a:r>
          </a:p>
        </p:txBody>
      </p:sp>
      <p:sp>
        <p:nvSpPr>
          <p:cNvPr id="24" name="timeline-step-3">
            <a:extLst xmlns:a="http://schemas.openxmlformats.org/drawingml/2006/main">
              <a:ext uri="{FF2B5EF4-FFF2-40B4-BE49-F238E27FC236}">
                <a16:creationId xmlns:a16="http://schemas.microsoft.com/office/drawing/2014/main" id="{5C892B50-6142-4340-98CB-200B4CD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B"/>
                </a:solidFill>
              </a:defRPr>
            </a:pPr>
            <a:r>
              <a:rPr sz="2100" b="1">
                <a:solidFill>
                  <a:srgbClr val="0A0A0B"/>
                </a:solidFill>
              </a:rPr>
              <a:t>State</a:t>
            </a:r>
          </a:p>
        </p:txBody>
      </p:sp>
      <p:sp>
        <p:nvSpPr>
          <p:cNvPr id="25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9AD9B8E5-E053-42F5-A7CB-7F87DB4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E4E56"/>
                </a:solidFill>
              </a:defRPr>
            </a:pPr>
            <a:r>
              <a:rPr sz="1275">
                <a:solidFill>
                  <a:srgbClr val="4E4E56"/>
                </a:solidFill>
              </a:rPr>
              <a:t>SQLite + LanceDB + history/audit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CB25B61-8E8D-4F0B-BE79-4EEBD174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C7B224-7A4E-4B07-BC74-6D31114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3E9A7-57BD-4FBF-88CC-A902325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0299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30856f6e64f27">
            <a:extLst>
              <a:ext uri="{96DAC541-7B7A-43D3-8B79-37D633B846F1}">
                <asvg:svgBlip xmlns:asvg="http://schemas.microsoft.com/office/drawing/2016/SVG/main" r:embed="R9ed5271650c34d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32CD6BA-14E8-44C2-8B3A-CA28FDA0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DECISION 1 | ORCHESTRATION</a:t>
            </a:r>
          </a:p>
        </p:txBody>
      </p:sp>
      <p:sp>
        <p:nvSpPr>
          <p:cNvPr id="3" name="pov-title">
            <a:extLst xmlns:a="http://schemas.openxmlformats.org/drawingml/2006/main">
              <a:ext uri="{FF2B5EF4-FFF2-40B4-BE49-F238E27FC236}">
                <a16:creationId xmlns:a16="http://schemas.microsoft.com/office/drawing/2014/main" id="{80768C48-2027-41C0-9A27-B8852AA7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A0A0B"/>
                </a:solidFill>
              </a:defRPr>
            </a:pPr>
            <a:r>
              <a:rPr sz="3600" b="1">
                <a:solidFill>
                  <a:srgbClr val="0A0A0B"/>
                </a:solidFill>
              </a:rPr>
              <a:t>The model speaks.</a:t>
            </a:r>
          </a:p>
          <a:p xmlns:a="http://schemas.openxmlformats.org/drawingml/2006/main">
            <a:pPr>
              <a:buNone/>
              <a:defRPr sz="3600" b="1">
                <a:solidFill>
                  <a:srgbClr val="0A0A0B"/>
                </a:solidFill>
              </a:defRPr>
            </a:pPr>
            <a:r>
              <a:rPr sz="3600" b="1">
                <a:solidFill>
                  <a:srgbClr val="0A0A0B"/>
                </a:solidFill>
              </a:rPr>
              <a:t>Code decides.</a:t>
            </a:r>
          </a:p>
        </p:txBody>
      </p:sp>
      <p:sp>
        <p:nvSpPr>
          <p:cNvPr id="4" name="pov-body">
            <a:extLst xmlns:a="http://schemas.openxmlformats.org/drawingml/2006/main">
              <a:ext uri="{FF2B5EF4-FFF2-40B4-BE49-F238E27FC236}">
                <a16:creationId xmlns:a16="http://schemas.microsoft.com/office/drawing/2014/main" id="{21BB51C6-61D7-4936-98EA-DD17205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4E4E56"/>
                </a:solidFill>
              </a:defRPr>
            </a:pPr>
            <a:r>
              <a:rPr sz="1800">
                <a:solidFill>
                  <a:srgbClr val="4E4E56"/>
                </a:solidFill>
              </a:rPr>
              <a:t>The model handles dialogue and tool selection. Typed schemas, server checks, and transactions own truth and side effects.</a:t>
            </a:r>
          </a:p>
        </p:txBody>
      </p:sp>
      <p:sp>
        <p:nvSpPr>
          <p:cNvPr id="5" name="pov-field">
            <a:extLst xmlns:a="http://schemas.openxmlformats.org/drawingml/2006/main">
              <a:ext uri="{FF2B5EF4-FFF2-40B4-BE49-F238E27FC236}">
                <a16:creationId xmlns:a16="http://schemas.microsoft.com/office/drawing/2014/main" id="{081B860F-F068-41B8-8A9A-A3687C64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04900"/>
            <a:ext cx="4743450" cy="4762500"/>
          </a:xfrm>
          <a:prstGeom xmlns:a="http://schemas.openxmlformats.org/drawingml/2006/main" prst="roundRect">
            <a:avLst>
              <a:gd name="adj" fmla="val 5221"/>
            </a:avLst>
          </a:prstGeom>
          <a:solidFill xmlns:a="http://schemas.openxmlformats.org/drawingml/2006/main">
            <a:srgbClr val="57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ov-trusted">
            <a:extLst xmlns:a="http://schemas.openxmlformats.org/drawingml/2006/main">
              <a:ext uri="{FF2B5EF4-FFF2-40B4-BE49-F238E27FC236}">
                <a16:creationId xmlns:a16="http://schemas.microsoft.com/office/drawing/2014/main" id="{AEAA7FF9-2624-4AE3-9421-A021ED5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Choice: Model talks</a:t>
            </a:r>
          </a:p>
        </p:txBody>
      </p:sp>
      <p:sp>
        <p:nvSpPr>
          <p:cNvPr id="7" name="pov-rule-1">
            <a:extLst xmlns:a="http://schemas.openxmlformats.org/drawingml/2006/main">
              <a:ext uri="{FF2B5EF4-FFF2-40B4-BE49-F238E27FC236}">
                <a16:creationId xmlns:a16="http://schemas.microsoft.com/office/drawing/2014/main" id="{7019AF27-F856-4081-9694-AA99E6EB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ov-personal">
            <a:extLst xmlns:a="http://schemas.openxmlformats.org/drawingml/2006/main">
              <a:ext uri="{FF2B5EF4-FFF2-40B4-BE49-F238E27FC236}">
                <a16:creationId xmlns:a16="http://schemas.microsoft.com/office/drawing/2014/main" id="{2629A2F9-A62F-4BB2-B26E-AE9F244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Tradeoff: More code</a:t>
            </a:r>
          </a:p>
        </p:txBody>
      </p:sp>
      <p:sp>
        <p:nvSpPr>
          <p:cNvPr id="9" name="pov-rule-2">
            <a:extLst xmlns:a="http://schemas.openxmlformats.org/drawingml/2006/main">
              <a:ext uri="{FF2B5EF4-FFF2-40B4-BE49-F238E27FC236}">
                <a16:creationId xmlns:a16="http://schemas.microsoft.com/office/drawing/2014/main" id="{7AF74D3B-F2C3-4E1A-A18C-6108840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81425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v-improving">
            <a:extLst xmlns:a="http://schemas.openxmlformats.org/drawingml/2006/main">
              <a:ext uri="{FF2B5EF4-FFF2-40B4-BE49-F238E27FC236}">
                <a16:creationId xmlns:a16="http://schemas.microsoft.com/office/drawing/2014/main" id="{8A66294B-18A3-4F07-AF07-262D96E2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9575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Value: Safer actions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19459D6-4EED-4395-8954-9E7E4E1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AEEDC3F-8BE7-4E61-BEB3-00B20BB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394C0-CCA1-41BD-9DF2-D6B2E75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6464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48a3869643ca">
            <a:extLst>
              <a:ext uri="{96DAC541-7B7A-43D3-8B79-37D633B846F1}">
                <asvg:svgBlip xmlns:asvg="http://schemas.microsoft.com/office/drawing/2016/SVG/main" r:embed="R8da43052ce634d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3E969ED-BD55-41DC-B769-3B6C6CE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B99FF"/>
                </a:solidFill>
              </a:defRPr>
            </a:pPr>
            <a:r>
              <a:rPr sz="975" b="1">
                <a:solidFill>
                  <a:srgbClr val="9B99FF"/>
                </a:solidFill>
              </a:rPr>
              <a:t>DECISIONS 2-3 | SAFETY + STATE</a:t>
            </a:r>
          </a:p>
        </p:txBody>
      </p:sp>
      <p:sp>
        <p:nvSpPr>
          <p:cNvPr id="3" name="lifecycle-title">
            <a:extLst xmlns:a="http://schemas.openxmlformats.org/drawingml/2006/main">
              <a:ext uri="{FF2B5EF4-FFF2-40B4-BE49-F238E27FC236}">
                <a16:creationId xmlns:a16="http://schemas.microsoft.com/office/drawing/2014/main" id="{FF0B974C-9531-42EE-AE17-5D7584D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little friction buys control</a:t>
            </a:r>
          </a:p>
        </p:txBody>
      </p:sp>
      <p:sp>
        <p:nvSpPr>
          <p:cNvPr id="4" name="phase-number-0">
            <a:extLst xmlns:a="http://schemas.openxmlformats.org/drawingml/2006/main">
              <a:ext uri="{FF2B5EF4-FFF2-40B4-BE49-F238E27FC236}">
                <a16:creationId xmlns:a16="http://schemas.microsoft.com/office/drawing/2014/main" id="{A9C336F4-AB48-4EC4-AC2B-81D3162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B99FF"/>
                </a:solidFill>
              </a:defRPr>
            </a:pPr>
            <a:r>
              <a:rPr sz="1200" b="1">
                <a:solidFill>
                  <a:srgbClr val="9B99FF"/>
                </a:solidFill>
              </a:rPr>
              <a:t>01</a:t>
            </a:r>
          </a:p>
        </p:txBody>
      </p:sp>
      <p:sp>
        <p:nvSpPr>
          <p:cNvPr id="5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8C709F70-5E27-4DC2-828C-D612150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Confirm before commit</a:t>
            </a:r>
          </a:p>
        </p:txBody>
      </p:sp>
      <p:sp>
        <p:nvSpPr>
          <p:cNvPr id="6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924A61D8-6C55-47CE-9ABB-63B1017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4D4D8"/>
                </a:solidFill>
              </a:defRPr>
            </a:pPr>
            <a:r>
              <a:rPr sz="1350">
                <a:solidFill>
                  <a:srgbClr val="D4D4D8"/>
                </a:solidFill>
              </a:rPr>
              <a:t>One-time quotes add a review turn before a transactional mutation.</a:t>
            </a:r>
          </a:p>
        </p:txBody>
      </p:sp>
      <p:sp>
        <p:nvSpPr>
          <p:cNvPr id="7" name="phase-divider-1">
            <a:extLst xmlns:a="http://schemas.openxmlformats.org/drawingml/2006/main">
              <a:ext uri="{FF2B5EF4-FFF2-40B4-BE49-F238E27FC236}">
                <a16:creationId xmlns:a16="http://schemas.microsoft.com/office/drawing/2014/main" id="{8E1315BB-AD04-4FFC-A4DB-472BF05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57500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number-1">
            <a:extLst xmlns:a="http://schemas.openxmlformats.org/drawingml/2006/main">
              <a:ext uri="{FF2B5EF4-FFF2-40B4-BE49-F238E27FC236}">
                <a16:creationId xmlns:a16="http://schemas.microsoft.com/office/drawing/2014/main" id="{8AF548B7-0A43-4B5B-9B98-9CBB6B7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B99FF"/>
                </a:solidFill>
              </a:defRPr>
            </a:pPr>
            <a:r>
              <a:rPr sz="1200" b="1">
                <a:solidFill>
                  <a:srgbClr val="9B99FF"/>
                </a:solidFill>
              </a:rPr>
              <a:t>02</a:t>
            </a:r>
          </a:p>
        </p:txBody>
      </p:sp>
      <p:sp>
        <p:nvSpPr>
          <p:cNvPr id="9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82648380-DCBF-4F80-93CB-04FC720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Keep identity off-model</a:t>
            </a:r>
          </a:p>
        </p:txBody>
      </p:sp>
      <p:sp>
        <p:nvSpPr>
          <p:cNvPr id="10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39FDC81B-3278-4451-8722-335B8307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4D4D8"/>
                </a:solidFill>
              </a:defRPr>
            </a:pPr>
            <a:r>
              <a:rPr sz="1350">
                <a:solidFill>
                  <a:srgbClr val="D4D4D8"/>
                </a:solidFill>
              </a:rPr>
              <a:t>Private sign-in + signed HttpOnly browser-bound session.</a:t>
            </a:r>
          </a:p>
        </p:txBody>
      </p:sp>
      <p:sp>
        <p:nvSpPr>
          <p:cNvPr id="11" name="phase-divider-2">
            <a:extLst xmlns:a="http://schemas.openxmlformats.org/drawingml/2006/main">
              <a:ext uri="{FF2B5EF4-FFF2-40B4-BE49-F238E27FC236}">
                <a16:creationId xmlns:a16="http://schemas.microsoft.com/office/drawing/2014/main" id="{539FFDFF-1EE4-4D3F-ADAC-87ECDEC9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number-2">
            <a:extLst xmlns:a="http://schemas.openxmlformats.org/drawingml/2006/main">
              <a:ext uri="{FF2B5EF4-FFF2-40B4-BE49-F238E27FC236}">
                <a16:creationId xmlns:a16="http://schemas.microsoft.com/office/drawing/2014/main" id="{BB234190-0C47-4B06-89F3-9377105D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B99FF"/>
                </a:solidFill>
              </a:defRPr>
            </a:pPr>
            <a:r>
              <a:rPr sz="1200" b="1">
                <a:solidFill>
                  <a:srgbClr val="9B99FF"/>
                </a:solidFill>
              </a:rPr>
              <a:t>03</a:t>
            </a:r>
          </a:p>
        </p:txBody>
      </p:sp>
      <p:sp>
        <p:nvSpPr>
          <p:cNvPr id="13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330E720E-7ACC-4FE9-B830-5A725DB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6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Persist what matters</a:t>
            </a:r>
          </a:p>
        </p:txBody>
      </p:sp>
      <p:sp>
        <p:nvSpPr>
          <p:cNvPr id="14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5DC8031-97E3-46E5-8E3D-EEF7291C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4D4D8"/>
                </a:solidFill>
              </a:defRPr>
            </a:pPr>
            <a:r>
              <a:rPr sz="1350">
                <a:solidFill>
                  <a:srgbClr val="D4D4D8"/>
                </a:solidFill>
              </a:rPr>
              <a:t>Realtime context for dialogue; SQLite history + audit for resume.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FDB1230-1394-43D6-800F-CD253F86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8403C13-007C-4D30-BDBE-CA86A134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FBFC5"/>
                </a:solidFill>
              </a:defRPr>
            </a:pPr>
            <a:r>
              <a:rPr sz="825" b="1">
                <a:solidFill>
                  <a:srgbClr val="BFBFC5"/>
                </a:solidFill>
              </a:rPr>
              <a:t>DECAGON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0CAE14-2665-4950-AAEA-EC92A38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FBFC5"/>
                </a:solidFill>
              </a:defRPr>
            </a:pPr>
            <a:r>
              <a:rPr sz="825" b="1">
                <a:solidFill>
                  <a:srgbClr val="BFBFC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3646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15a821d994180">
            <a:extLst>
              <a:ext uri="{96DAC541-7B7A-43D3-8B79-37D633B846F1}">
                <asvg:svgBlip xmlns:asvg="http://schemas.microsoft.com/office/drawing/2016/SVG/main" r:embed="R4ace275a8a2645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1752600" cy="381518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5A0D5E7-0908-422C-BB89-F7AFCA5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FIRST PRODUCTION CHANGE</a:t>
            </a:r>
          </a:p>
        </p:txBody>
      </p:sp>
      <p:sp>
        <p:nvSpPr>
          <p:cNvPr id="3" name="big-number">
            <a:extLst xmlns:a="http://schemas.openxmlformats.org/drawingml/2006/main">
              <a:ext uri="{FF2B5EF4-FFF2-40B4-BE49-F238E27FC236}">
                <a16:creationId xmlns:a16="http://schemas.microsoft.com/office/drawing/2014/main" id="{802D5BB3-A4BB-4654-96C0-69C6D3FA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550" b="1">
                <a:solidFill>
                  <a:srgbClr val="5754FF"/>
                </a:solidFill>
              </a:defRPr>
            </a:pPr>
            <a:r>
              <a:rPr sz="11550" b="1">
                <a:solidFill>
                  <a:srgbClr val="5754FF"/>
                </a:solidFill>
              </a:rPr>
              <a:t>01</a:t>
            </a:r>
          </a:p>
        </p:txBody>
      </p:sp>
      <p:sp>
        <p:nvSpPr>
          <p:cNvPr id="4" name="big-number-label">
            <a:extLst xmlns:a="http://schemas.openxmlformats.org/drawingml/2006/main">
              <a:ext uri="{FF2B5EF4-FFF2-40B4-BE49-F238E27FC236}">
                <a16:creationId xmlns:a16="http://schemas.microsoft.com/office/drawing/2014/main" id="{7F3C18BB-E538-48C6-8636-71AC08B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A0A0B"/>
                </a:solidFill>
              </a:defRPr>
            </a:pPr>
            <a:r>
              <a:rPr sz="2250" b="1">
                <a:solidFill>
                  <a:srgbClr val="0A0A0B"/>
                </a:solidFill>
              </a:rPr>
              <a:t>Server-side Realtime control plane</a:t>
            </a:r>
          </a:p>
        </p:txBody>
      </p:sp>
      <p:sp>
        <p:nvSpPr>
          <p:cNvPr id="5" name="big-number-explanation">
            <a:extLst xmlns:a="http://schemas.openxmlformats.org/drawingml/2006/main">
              <a:ext uri="{FF2B5EF4-FFF2-40B4-BE49-F238E27FC236}">
                <a16:creationId xmlns:a16="http://schemas.microsoft.com/office/drawing/2014/main" id="{C1196CDD-A206-48C5-9E5A-01E8835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4E4E56"/>
                </a:solidFill>
              </a:defRPr>
            </a:pPr>
            <a:r>
              <a:rPr sz="2100">
                <a:solidFill>
                  <a:srgbClr val="4E4E56"/>
                </a:solidFill>
              </a:rPr>
              <a:t>Centralize authorization, observability, rate limits, and PII policy before connecting real identity, order, and payment APIs.</a:t>
            </a:r>
          </a:p>
        </p:txBody>
      </p:sp>
      <p:sp>
        <p:nvSpPr>
          <p:cNvPr id="6" name="big-number-rule">
            <a:extLst xmlns:a="http://schemas.openxmlformats.org/drawingml/2006/main">
              <a:ext uri="{FF2B5EF4-FFF2-40B4-BE49-F238E27FC236}">
                <a16:creationId xmlns:a16="http://schemas.microsoft.com/office/drawing/2014/main" id="{48D5D578-31E1-4EE9-B81A-753DFE8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g-number-source-label">
            <a:extLst xmlns:a="http://schemas.openxmlformats.org/drawingml/2006/main">
              <a:ext uri="{FF2B5EF4-FFF2-40B4-BE49-F238E27FC236}">
                <a16:creationId xmlns:a16="http://schemas.microsoft.com/office/drawing/2014/main" id="{3A1DCCB1-DDA3-456A-A363-B1209EDD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898994"/>
                </a:solidFill>
              </a:defRPr>
            </a:pPr>
            <a:r>
              <a:rPr sz="975" b="1">
                <a:solidFill>
                  <a:srgbClr val="898994"/>
                </a:solidFill>
              </a:rPr>
              <a:t>NEXT: SYSTEM APIS + EVALS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3E332DA-C446-4FCD-8A84-0F8685E5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EE92882-8931-465F-976A-E59786F4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9D2C5B-513E-4B73-BCA8-1BB1C26F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2121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2026-08-14T18:00:15.7760000Z</dcterms:created>
  <dcterms:modified xsi:type="dcterms:W3CDTF">2026-08-14T18:00:15.7760000Z</dcterms:modified>
</coreProperties>
</file>